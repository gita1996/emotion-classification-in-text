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3" r:id="rId1"/>
    <p:sldMasterId id="2147483654" r:id="rId2"/>
  </p:sldMasterIdLst>
  <p:notesMasterIdLst>
    <p:notesMasterId r:id="rId36"/>
  </p:notesMasterIdLst>
  <p:sldIdLst>
    <p:sldId id="256" r:id="rId3"/>
    <p:sldId id="321" r:id="rId4"/>
    <p:sldId id="331" r:id="rId5"/>
    <p:sldId id="333" r:id="rId6"/>
    <p:sldId id="325" r:id="rId7"/>
    <p:sldId id="344" r:id="rId8"/>
    <p:sldId id="345" r:id="rId9"/>
    <p:sldId id="346" r:id="rId10"/>
    <p:sldId id="347" r:id="rId11"/>
    <p:sldId id="348" r:id="rId12"/>
    <p:sldId id="349" r:id="rId13"/>
    <p:sldId id="350" r:id="rId14"/>
    <p:sldId id="351" r:id="rId15"/>
    <p:sldId id="352" r:id="rId16"/>
    <p:sldId id="353" r:id="rId17"/>
    <p:sldId id="354" r:id="rId18"/>
    <p:sldId id="355" r:id="rId19"/>
    <p:sldId id="356" r:id="rId20"/>
    <p:sldId id="360" r:id="rId21"/>
    <p:sldId id="357" r:id="rId22"/>
    <p:sldId id="358" r:id="rId23"/>
    <p:sldId id="359" r:id="rId24"/>
    <p:sldId id="361" r:id="rId25"/>
    <p:sldId id="362" r:id="rId26"/>
    <p:sldId id="363" r:id="rId27"/>
    <p:sldId id="364" r:id="rId28"/>
    <p:sldId id="365" r:id="rId29"/>
    <p:sldId id="366" r:id="rId30"/>
    <p:sldId id="367" r:id="rId31"/>
    <p:sldId id="368" r:id="rId32"/>
    <p:sldId id="369" r:id="rId33"/>
    <p:sldId id="370" r:id="rId34"/>
    <p:sldId id="371" r:id="rId3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82"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2dc1d83022f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2dc1d83022f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2072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93858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44294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5873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4363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89218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82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24460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75291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p:cSld name="CUSTOM">
    <p:spTree>
      <p:nvGrpSpPr>
        <p:cNvPr id="1" name="Shape 12"/>
        <p:cNvGrpSpPr/>
        <p:nvPr/>
      </p:nvGrpSpPr>
      <p:grpSpPr>
        <a:xfrm>
          <a:off x="0" y="0"/>
          <a:ext cx="0" cy="0"/>
          <a:chOff x="0" y="0"/>
          <a:chExt cx="0" cy="0"/>
        </a:xfrm>
      </p:grpSpPr>
      <p:sp>
        <p:nvSpPr>
          <p:cNvPr id="13" name="Google Shape;13;p2"/>
          <p:cNvSpPr txBox="1">
            <a:spLocks noGrp="1"/>
          </p:cNvSpPr>
          <p:nvPr>
            <p:ph type="sldNum" idx="12"/>
          </p:nvPr>
        </p:nvSpPr>
        <p:spPr>
          <a:xfrm>
            <a:off x="8397284" y="48166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16" name="Google Shape;16;p3"/>
          <p:cNvSpPr txBox="1">
            <a:spLocks noGrp="1"/>
          </p:cNvSpPr>
          <p:nvPr>
            <p:ph type="body" idx="1"/>
          </p:nvPr>
        </p:nvSpPr>
        <p:spPr>
          <a:xfrm>
            <a:off x="311700" y="738975"/>
            <a:ext cx="8520600" cy="3938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7" name="Google Shape;17;p3"/>
          <p:cNvSpPr txBox="1">
            <a:spLocks noGrp="1"/>
          </p:cNvSpPr>
          <p:nvPr>
            <p:ph type="sldNum" idx="12"/>
          </p:nvPr>
        </p:nvSpPr>
        <p:spPr>
          <a:xfrm>
            <a:off x="8179550" y="4843650"/>
            <a:ext cx="964500" cy="339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4"/>
          <p:cNvSpPr txBox="1">
            <a:spLocks noGrp="1"/>
          </p:cNvSpPr>
          <p:nvPr>
            <p:ph type="sldNum" idx="12"/>
          </p:nvPr>
        </p:nvSpPr>
        <p:spPr>
          <a:xfrm>
            <a:off x="8179550" y="4843650"/>
            <a:ext cx="964500" cy="339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
        <p:nvSpPr>
          <p:cNvPr id="20" name="Google Shape;20;p4"/>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21" name="Google Shape;21;p4"/>
          <p:cNvSpPr txBox="1">
            <a:spLocks noGrp="1"/>
          </p:cNvSpPr>
          <p:nvPr>
            <p:ph type="body" idx="1"/>
          </p:nvPr>
        </p:nvSpPr>
        <p:spPr>
          <a:xfrm>
            <a:off x="311700" y="738975"/>
            <a:ext cx="8520600" cy="3938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4"/>
        <p:cNvGrpSpPr/>
        <p:nvPr/>
      </p:nvGrpSpPr>
      <p:grpSpPr>
        <a:xfrm>
          <a:off x="0" y="0"/>
          <a:ext cx="0" cy="0"/>
          <a:chOff x="0" y="0"/>
          <a:chExt cx="0" cy="0"/>
        </a:xfrm>
      </p:grpSpPr>
      <p:sp>
        <p:nvSpPr>
          <p:cNvPr id="35" name="Google Shape;35;p6"/>
          <p:cNvSpPr txBox="1">
            <a:spLocks noGrp="1"/>
          </p:cNvSpPr>
          <p:nvPr>
            <p:ph type="sldNum" idx="12"/>
          </p:nvPr>
        </p:nvSpPr>
        <p:spPr>
          <a:xfrm>
            <a:off x="8179550" y="4843650"/>
            <a:ext cx="964500" cy="339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ja"/>
              <a:t>‹#›</a:t>
            </a:fld>
            <a:endParaRPr/>
          </a:p>
        </p:txBody>
      </p:sp>
      <p:sp>
        <p:nvSpPr>
          <p:cNvPr id="36" name="Google Shape;36;p6"/>
          <p:cNvSpPr txBox="1">
            <a:spLocks noGrp="1"/>
          </p:cNvSpPr>
          <p:nvPr>
            <p:ph type="title"/>
          </p:nvPr>
        </p:nvSpPr>
        <p:spPr>
          <a:xfrm>
            <a:off x="2190300" y="850600"/>
            <a:ext cx="6315900" cy="129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100"/>
              <a:buNone/>
              <a:defRPr sz="3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6"/>
          <p:cNvSpPr txBox="1">
            <a:spLocks noGrp="1"/>
          </p:cNvSpPr>
          <p:nvPr>
            <p:ph type="body" idx="1"/>
          </p:nvPr>
        </p:nvSpPr>
        <p:spPr>
          <a:xfrm>
            <a:off x="1047300" y="2675200"/>
            <a:ext cx="7049400" cy="1485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4.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311700" y="124682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7" name="Google Shape;7;p1"/>
          <p:cNvSpPr/>
          <p:nvPr/>
        </p:nvSpPr>
        <p:spPr>
          <a:xfrm>
            <a:off x="-75" y="0"/>
            <a:ext cx="9144000" cy="538500"/>
          </a:xfrm>
          <a:prstGeom prst="rect">
            <a:avLst/>
          </a:prstGeom>
          <a:solidFill>
            <a:srgbClr val="FFE5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 name="Google Shape;8;p1"/>
          <p:cNvSpPr/>
          <p:nvPr/>
        </p:nvSpPr>
        <p:spPr>
          <a:xfrm>
            <a:off x="50" y="4883400"/>
            <a:ext cx="9144000" cy="260100"/>
          </a:xfrm>
          <a:prstGeom prst="rect">
            <a:avLst/>
          </a:prstGeom>
          <a:solidFill>
            <a:srgbClr val="43434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Google Shape;9;p1"/>
          <p:cNvSpPr/>
          <p:nvPr/>
        </p:nvSpPr>
        <p:spPr>
          <a:xfrm>
            <a:off x="-75" y="4892700"/>
            <a:ext cx="1197600" cy="241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sz="1200">
                <a:solidFill>
                  <a:schemeClr val="lt1"/>
                </a:solidFill>
              </a:rPr>
              <a:t>有次研@2024</a:t>
            </a:r>
            <a:endParaRPr sz="1200">
              <a:solidFill>
                <a:schemeClr val="lt1"/>
              </a:solidFill>
            </a:endParaRPr>
          </a:p>
        </p:txBody>
      </p:sp>
      <p:sp>
        <p:nvSpPr>
          <p:cNvPr id="10" name="Google Shape;10;p1"/>
          <p:cNvSpPr txBox="1">
            <a:spLocks noGrp="1"/>
          </p:cNvSpPr>
          <p:nvPr>
            <p:ph type="sldNum" idx="12"/>
          </p:nvPr>
        </p:nvSpPr>
        <p:spPr>
          <a:xfrm>
            <a:off x="8397284" y="48166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lt1"/>
                </a:solidFill>
              </a:defRPr>
            </a:lvl1pPr>
            <a:lvl2pPr lvl="1" algn="r">
              <a:buNone/>
              <a:defRPr sz="1300">
                <a:solidFill>
                  <a:schemeClr val="lt1"/>
                </a:solidFill>
              </a:defRPr>
            </a:lvl2pPr>
            <a:lvl3pPr lvl="2" algn="r">
              <a:buNone/>
              <a:defRPr sz="1300">
                <a:solidFill>
                  <a:schemeClr val="lt1"/>
                </a:solidFill>
              </a:defRPr>
            </a:lvl3pPr>
            <a:lvl4pPr lvl="3" algn="r">
              <a:buNone/>
              <a:defRPr sz="1300">
                <a:solidFill>
                  <a:schemeClr val="lt1"/>
                </a:solidFill>
              </a:defRPr>
            </a:lvl4pPr>
            <a:lvl5pPr lvl="4" algn="r">
              <a:buNone/>
              <a:defRPr sz="1300">
                <a:solidFill>
                  <a:schemeClr val="lt1"/>
                </a:solidFill>
              </a:defRPr>
            </a:lvl5pPr>
            <a:lvl6pPr lvl="5" algn="r">
              <a:buNone/>
              <a:defRPr sz="1300">
                <a:solidFill>
                  <a:schemeClr val="lt1"/>
                </a:solidFill>
              </a:defRPr>
            </a:lvl6pPr>
            <a:lvl7pPr lvl="6" algn="r">
              <a:buNone/>
              <a:defRPr sz="1300">
                <a:solidFill>
                  <a:schemeClr val="lt1"/>
                </a:solidFill>
              </a:defRPr>
            </a:lvl7pPr>
            <a:lvl8pPr lvl="7" algn="r">
              <a:buNone/>
              <a:defRPr sz="1300">
                <a:solidFill>
                  <a:schemeClr val="lt1"/>
                </a:solidFill>
              </a:defRPr>
            </a:lvl8pPr>
            <a:lvl9pPr lvl="8" algn="r">
              <a:buNone/>
              <a:defRPr sz="1300">
                <a:solidFill>
                  <a:schemeClr val="lt1"/>
                </a:solidFill>
              </a:defRPr>
            </a:lvl9pPr>
          </a:lstStyle>
          <a:p>
            <a:pPr marL="0" lvl="0" indent="0" algn="r" rtl="0">
              <a:spcBef>
                <a:spcPts val="0"/>
              </a:spcBef>
              <a:spcAft>
                <a:spcPts val="0"/>
              </a:spcAft>
              <a:buNone/>
            </a:pPr>
            <a:fld id="{00000000-1234-1234-1234-123412341234}" type="slidenum">
              <a:rPr lang="ja"/>
              <a:t>‹#›</a:t>
            </a:fld>
            <a:endParaRPr/>
          </a:p>
        </p:txBody>
      </p:sp>
      <p:pic>
        <p:nvPicPr>
          <p:cNvPr id="11" name="Google Shape;11;p1"/>
          <p:cNvPicPr preferRelativeResize="0"/>
          <p:nvPr/>
        </p:nvPicPr>
        <p:blipFill rotWithShape="1">
          <a:blip r:embed="rId5">
            <a:alphaModFix/>
          </a:blip>
          <a:srcRect t="3484" r="2865"/>
          <a:stretch/>
        </p:blipFill>
        <p:spPr>
          <a:xfrm>
            <a:off x="50" y="0"/>
            <a:ext cx="541957" cy="5384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2"/>
        <p:cNvGrpSpPr/>
        <p:nvPr/>
      </p:nvGrpSpPr>
      <p:grpSpPr>
        <a:xfrm>
          <a:off x="0" y="0"/>
          <a:ext cx="0" cy="0"/>
          <a:chOff x="0" y="0"/>
          <a:chExt cx="0" cy="0"/>
        </a:xfrm>
      </p:grpSpPr>
      <p:sp>
        <p:nvSpPr>
          <p:cNvPr id="23" name="Google Shape;23;p5"/>
          <p:cNvSpPr/>
          <p:nvPr/>
        </p:nvSpPr>
        <p:spPr>
          <a:xfrm>
            <a:off x="0" y="578125"/>
            <a:ext cx="9144000" cy="1739700"/>
          </a:xfrm>
          <a:prstGeom prst="rect">
            <a:avLst/>
          </a:prstGeom>
          <a:solidFill>
            <a:srgbClr val="FFE5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 name="Google Shape;24;p5"/>
          <p:cNvSpPr/>
          <p:nvPr/>
        </p:nvSpPr>
        <p:spPr>
          <a:xfrm>
            <a:off x="50" y="4883400"/>
            <a:ext cx="9144000" cy="260100"/>
          </a:xfrm>
          <a:prstGeom prst="rect">
            <a:avLst/>
          </a:prstGeom>
          <a:solidFill>
            <a:srgbClr val="43434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 name="Google Shape;25;p5"/>
          <p:cNvSpPr txBox="1">
            <a:spLocks noGrp="1"/>
          </p:cNvSpPr>
          <p:nvPr>
            <p:ph type="sldNum" idx="12"/>
          </p:nvPr>
        </p:nvSpPr>
        <p:spPr>
          <a:xfrm>
            <a:off x="8179550" y="4843650"/>
            <a:ext cx="964500" cy="339600"/>
          </a:xfrm>
          <a:prstGeom prst="rect">
            <a:avLst/>
          </a:prstGeom>
          <a:noFill/>
          <a:ln>
            <a:noFill/>
          </a:ln>
        </p:spPr>
        <p:txBody>
          <a:bodyPr spcFirstLastPara="1" wrap="square" lIns="91425" tIns="91425" rIns="91425" bIns="91425" anchor="ctr" anchorCtr="0">
            <a:noAutofit/>
          </a:bodyPr>
          <a:lstStyle>
            <a:lvl1pPr lvl="0" algn="ctr" rtl="0">
              <a:lnSpc>
                <a:spcPct val="90000"/>
              </a:lnSpc>
              <a:buNone/>
              <a:defRPr>
                <a:solidFill>
                  <a:schemeClr val="lt1"/>
                </a:solidFill>
              </a:defRPr>
            </a:lvl1pPr>
            <a:lvl2pPr lvl="1" algn="ctr" rtl="0">
              <a:lnSpc>
                <a:spcPct val="90000"/>
              </a:lnSpc>
              <a:buNone/>
              <a:defRPr>
                <a:solidFill>
                  <a:schemeClr val="lt1"/>
                </a:solidFill>
              </a:defRPr>
            </a:lvl2pPr>
            <a:lvl3pPr lvl="2" algn="ctr" rtl="0">
              <a:lnSpc>
                <a:spcPct val="90000"/>
              </a:lnSpc>
              <a:buNone/>
              <a:defRPr>
                <a:solidFill>
                  <a:schemeClr val="lt1"/>
                </a:solidFill>
              </a:defRPr>
            </a:lvl3pPr>
            <a:lvl4pPr lvl="3" algn="ctr" rtl="0">
              <a:lnSpc>
                <a:spcPct val="90000"/>
              </a:lnSpc>
              <a:buNone/>
              <a:defRPr>
                <a:solidFill>
                  <a:schemeClr val="lt1"/>
                </a:solidFill>
              </a:defRPr>
            </a:lvl4pPr>
            <a:lvl5pPr lvl="4" algn="ctr" rtl="0">
              <a:lnSpc>
                <a:spcPct val="90000"/>
              </a:lnSpc>
              <a:buNone/>
              <a:defRPr>
                <a:solidFill>
                  <a:schemeClr val="lt1"/>
                </a:solidFill>
              </a:defRPr>
            </a:lvl5pPr>
            <a:lvl6pPr lvl="5" algn="ctr" rtl="0">
              <a:lnSpc>
                <a:spcPct val="90000"/>
              </a:lnSpc>
              <a:buNone/>
              <a:defRPr>
                <a:solidFill>
                  <a:schemeClr val="lt1"/>
                </a:solidFill>
              </a:defRPr>
            </a:lvl6pPr>
            <a:lvl7pPr lvl="6" algn="ctr" rtl="0">
              <a:lnSpc>
                <a:spcPct val="90000"/>
              </a:lnSpc>
              <a:buNone/>
              <a:defRPr>
                <a:solidFill>
                  <a:schemeClr val="lt1"/>
                </a:solidFill>
              </a:defRPr>
            </a:lvl7pPr>
            <a:lvl8pPr lvl="7" algn="ctr" rtl="0">
              <a:lnSpc>
                <a:spcPct val="90000"/>
              </a:lnSpc>
              <a:buNone/>
              <a:defRPr>
                <a:solidFill>
                  <a:schemeClr val="lt1"/>
                </a:solidFill>
              </a:defRPr>
            </a:lvl8pPr>
            <a:lvl9pPr lvl="8" algn="ctr" rtl="0">
              <a:lnSpc>
                <a:spcPct val="90000"/>
              </a:lnSpc>
              <a:buNone/>
              <a:defRPr>
                <a:solidFill>
                  <a:schemeClr val="lt1"/>
                </a:solidFill>
              </a:defRPr>
            </a:lvl9pPr>
          </a:lstStyle>
          <a:p>
            <a:pPr marL="0" lvl="0" indent="0" algn="ctr" rtl="0">
              <a:spcBef>
                <a:spcPts val="0"/>
              </a:spcBef>
              <a:spcAft>
                <a:spcPts val="0"/>
              </a:spcAft>
              <a:buNone/>
            </a:pPr>
            <a:r>
              <a:rPr lang="ja"/>
              <a:t>page. </a:t>
            </a:r>
            <a:fld id="{00000000-1234-1234-1234-123412341234}" type="slidenum">
              <a:rPr lang="ja"/>
              <a:t>‹#›</a:t>
            </a:fld>
            <a:endParaRPr/>
          </a:p>
        </p:txBody>
      </p:sp>
      <p:sp>
        <p:nvSpPr>
          <p:cNvPr id="26" name="Google Shape;26;p5"/>
          <p:cNvSpPr/>
          <p:nvPr/>
        </p:nvSpPr>
        <p:spPr>
          <a:xfrm>
            <a:off x="-75" y="4892700"/>
            <a:ext cx="1197600" cy="241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sz="1200">
                <a:solidFill>
                  <a:schemeClr val="lt1"/>
                </a:solidFill>
              </a:rPr>
              <a:t>有次研@2024</a:t>
            </a:r>
            <a:endParaRPr sz="1200">
              <a:solidFill>
                <a:schemeClr val="lt1"/>
              </a:solidFill>
            </a:endParaRPr>
          </a:p>
        </p:txBody>
      </p:sp>
      <p:pic>
        <p:nvPicPr>
          <p:cNvPr id="27" name="Google Shape;27;p5"/>
          <p:cNvPicPr preferRelativeResize="0"/>
          <p:nvPr/>
        </p:nvPicPr>
        <p:blipFill rotWithShape="1">
          <a:blip r:embed="rId3">
            <a:alphaModFix/>
          </a:blip>
          <a:srcRect/>
          <a:stretch/>
        </p:blipFill>
        <p:spPr>
          <a:xfrm>
            <a:off x="40" y="4517909"/>
            <a:ext cx="2130970" cy="278496"/>
          </a:xfrm>
          <a:prstGeom prst="rect">
            <a:avLst/>
          </a:prstGeom>
          <a:noFill/>
          <a:ln>
            <a:noFill/>
          </a:ln>
        </p:spPr>
      </p:pic>
      <p:sp>
        <p:nvSpPr>
          <p:cNvPr id="28" name="Google Shape;28;p5"/>
          <p:cNvSpPr/>
          <p:nvPr/>
        </p:nvSpPr>
        <p:spPr>
          <a:xfrm>
            <a:off x="0" y="4796388"/>
            <a:ext cx="3102246" cy="47250"/>
          </a:xfrm>
          <a:custGeom>
            <a:avLst/>
            <a:gdLst/>
            <a:ahLst/>
            <a:cxnLst/>
            <a:rect l="l" t="t" r="r" b="b"/>
            <a:pathLst>
              <a:path w="21600" h="21600" extrusionOk="0">
                <a:moveTo>
                  <a:pt x="0" y="0"/>
                </a:moveTo>
                <a:lnTo>
                  <a:pt x="21600" y="0"/>
                </a:lnTo>
                <a:lnTo>
                  <a:pt x="21600" y="21600"/>
                </a:lnTo>
                <a:lnTo>
                  <a:pt x="0" y="21600"/>
                </a:lnTo>
                <a:close/>
              </a:path>
            </a:pathLst>
          </a:custGeom>
          <a:gradFill>
            <a:gsLst>
              <a:gs pos="0">
                <a:srgbClr val="000000"/>
              </a:gs>
              <a:gs pos="100000">
                <a:srgbClr val="FFFFFF"/>
              </a:gs>
            </a:gsLst>
            <a:lin ang="0" scaled="0"/>
          </a:gradFill>
          <a:ln>
            <a:noFill/>
          </a:ln>
        </p:spPr>
      </p:sp>
      <p:sp>
        <p:nvSpPr>
          <p:cNvPr id="29" name="Google Shape;29;p5"/>
          <p:cNvSpPr txBox="1"/>
          <p:nvPr/>
        </p:nvSpPr>
        <p:spPr>
          <a:xfrm>
            <a:off x="1828800" y="789600"/>
            <a:ext cx="7049400" cy="140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 name="Google Shape;30;p5"/>
          <p:cNvSpPr txBox="1"/>
          <p:nvPr/>
        </p:nvSpPr>
        <p:spPr>
          <a:xfrm>
            <a:off x="170050" y="3732025"/>
            <a:ext cx="2932200" cy="82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 name="Google Shape;31;p5"/>
          <p:cNvSpPr txBox="1">
            <a:spLocks noGrp="1"/>
          </p:cNvSpPr>
          <p:nvPr>
            <p:ph type="title"/>
          </p:nvPr>
        </p:nvSpPr>
        <p:spPr>
          <a:xfrm>
            <a:off x="2190300" y="850600"/>
            <a:ext cx="6315900" cy="1297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100"/>
              <a:buNone/>
              <a:defRPr sz="3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1047350" y="2675200"/>
            <a:ext cx="7049400" cy="14853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33" name="Google Shape;33;p5"/>
          <p:cNvPicPr preferRelativeResize="0"/>
          <p:nvPr/>
        </p:nvPicPr>
        <p:blipFill rotWithShape="1">
          <a:blip r:embed="rId4">
            <a:alphaModFix/>
          </a:blip>
          <a:srcRect t="3484" r="2865"/>
          <a:stretch/>
        </p:blipFill>
        <p:spPr>
          <a:xfrm>
            <a:off x="50" y="578125"/>
            <a:ext cx="1750879" cy="17397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1461654" y="1003000"/>
            <a:ext cx="7682346" cy="929710"/>
          </a:xfrm>
          <a:prstGeom prst="rect">
            <a:avLst/>
          </a:prstGeom>
        </p:spPr>
        <p:txBody>
          <a:bodyPr spcFirstLastPara="1" wrap="square" lIns="91425" tIns="91425" rIns="91425" bIns="91425" anchor="ctr" anchorCtr="0">
            <a:noAutofit/>
          </a:bodyPr>
          <a:lstStyle/>
          <a:p>
            <a:pPr lvl="0">
              <a:lnSpc>
                <a:spcPct val="115000"/>
              </a:lnSpc>
            </a:pPr>
            <a:r>
              <a:rPr lang="en-US" sz="2000" b="1" spc="-5" dirty="0" smtClean="0"/>
              <a:t>Zero shot emotion classification in text (analyzing the results of using synonyms of emotions and other ideas)</a:t>
            </a:r>
            <a:r>
              <a:rPr lang="en-US" sz="2400" b="1" spc="-5" dirty="0" smtClean="0"/>
              <a:t/>
            </a:r>
            <a:br>
              <a:rPr lang="en-US" sz="2400" b="1" spc="-5" dirty="0" smtClean="0"/>
            </a:br>
            <a:endParaRPr sz="2400" b="1" dirty="0">
              <a:solidFill>
                <a:schemeClr val="dk1"/>
              </a:solidFill>
            </a:endParaRPr>
          </a:p>
        </p:txBody>
      </p:sp>
      <p:sp>
        <p:nvSpPr>
          <p:cNvPr id="46" name="Google Shape;46;p8"/>
          <p:cNvSpPr txBox="1">
            <a:spLocks noGrp="1"/>
          </p:cNvSpPr>
          <p:nvPr>
            <p:ph type="sldNum" idx="12"/>
          </p:nvPr>
        </p:nvSpPr>
        <p:spPr>
          <a:xfrm>
            <a:off x="8634984" y="4827126"/>
            <a:ext cx="5487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US" altLang="ja"/>
              <a:t>1</a:t>
            </a:fld>
            <a:endParaRPr dirty="0"/>
          </a:p>
        </p:txBody>
      </p:sp>
      <p:sp>
        <p:nvSpPr>
          <p:cNvPr id="2" name="Rectangle 1"/>
          <p:cNvSpPr/>
          <p:nvPr/>
        </p:nvSpPr>
        <p:spPr>
          <a:xfrm>
            <a:off x="221673" y="3636363"/>
            <a:ext cx="4572000" cy="738664"/>
          </a:xfrm>
          <a:prstGeom prst="rect">
            <a:avLst/>
          </a:prstGeom>
        </p:spPr>
        <p:txBody>
          <a:bodyPr>
            <a:spAutoFit/>
          </a:bodyPr>
          <a:lstStyle/>
          <a:p>
            <a:pPr>
              <a:lnSpc>
                <a:spcPct val="150000"/>
              </a:lnSpc>
            </a:pPr>
            <a:r>
              <a:rPr lang="en-US" dirty="0"/>
              <a:t>Gita </a:t>
            </a:r>
          </a:p>
          <a:p>
            <a:pPr>
              <a:lnSpc>
                <a:spcPct val="150000"/>
              </a:lnSpc>
            </a:pPr>
            <a:r>
              <a:rPr lang="en-US" dirty="0"/>
              <a:t>Student ID: 237-D8905</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sz="1600" b="1" dirty="0" smtClean="0"/>
              <a:t>Using synonyms of emotions (review)</a:t>
            </a:r>
            <a:endParaRPr lang="en-US" sz="16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a:t>
            </a:fld>
            <a:endParaRPr lang="ja" altLang="en-US"/>
          </a:p>
        </p:txBody>
      </p:sp>
      <p:sp>
        <p:nvSpPr>
          <p:cNvPr id="3" name="TextBox 2"/>
          <p:cNvSpPr txBox="1"/>
          <p:nvPr/>
        </p:nvSpPr>
        <p:spPr>
          <a:xfrm>
            <a:off x="486229" y="740229"/>
            <a:ext cx="7794171" cy="523220"/>
          </a:xfrm>
          <a:prstGeom prst="rect">
            <a:avLst/>
          </a:prstGeom>
          <a:noFill/>
        </p:spPr>
        <p:txBody>
          <a:bodyPr wrap="square" rtlCol="0">
            <a:spAutoFit/>
          </a:bodyPr>
          <a:lstStyle/>
          <a:p>
            <a:r>
              <a:rPr lang="en-US" dirty="0" smtClean="0"/>
              <a:t>I checked the </a:t>
            </a:r>
            <a:r>
              <a:rPr lang="en-US" dirty="0"/>
              <a:t>entailment probabilities </a:t>
            </a:r>
            <a:r>
              <a:rPr lang="en-US" dirty="0" smtClean="0"/>
              <a:t>between synonyms of emotions and text using </a:t>
            </a:r>
            <a:r>
              <a:rPr lang="en-US" dirty="0" err="1" smtClean="0"/>
              <a:t>Deberta</a:t>
            </a:r>
            <a:r>
              <a:rPr lang="en-US" dirty="0" smtClean="0"/>
              <a:t> model.</a:t>
            </a:r>
            <a:endParaRPr lang="en-US" dirty="0"/>
          </a:p>
        </p:txBody>
      </p:sp>
      <p:sp>
        <p:nvSpPr>
          <p:cNvPr id="11" name="TextBox 10"/>
          <p:cNvSpPr txBox="1"/>
          <p:nvPr/>
        </p:nvSpPr>
        <p:spPr>
          <a:xfrm>
            <a:off x="486229" y="1431684"/>
            <a:ext cx="7712368" cy="954107"/>
          </a:xfrm>
          <a:prstGeom prst="rect">
            <a:avLst/>
          </a:prstGeom>
          <a:noFill/>
        </p:spPr>
        <p:txBody>
          <a:bodyPr wrap="none" rtlCol="0">
            <a:spAutoFit/>
          </a:bodyPr>
          <a:lstStyle/>
          <a:p>
            <a:endParaRPr lang="en-US" dirty="0" smtClean="0"/>
          </a:p>
          <a:p>
            <a:r>
              <a:rPr lang="en-US" dirty="0" smtClean="0"/>
              <a:t>One idea to use synonyms can be measuring the average of </a:t>
            </a:r>
            <a:r>
              <a:rPr lang="en-US" dirty="0"/>
              <a:t>entailment probabilities </a:t>
            </a:r>
            <a:r>
              <a:rPr lang="en-US" dirty="0" smtClean="0"/>
              <a:t>between </a:t>
            </a:r>
          </a:p>
          <a:p>
            <a:r>
              <a:rPr lang="en-US" dirty="0" smtClean="0"/>
              <a:t>synonyms of the emotion (Or the prompts of synonyms) and the text and selecting the emotion </a:t>
            </a:r>
          </a:p>
          <a:p>
            <a:r>
              <a:rPr lang="en-US" dirty="0" smtClean="0"/>
              <a:t>that has highest average of entailment probabilities as the predicted emotion</a:t>
            </a:r>
            <a:endParaRPr lang="en-US" dirty="0"/>
          </a:p>
        </p:txBody>
      </p:sp>
      <p:sp>
        <p:nvSpPr>
          <p:cNvPr id="7" name="Rectangle 6"/>
          <p:cNvSpPr/>
          <p:nvPr/>
        </p:nvSpPr>
        <p:spPr>
          <a:xfrm>
            <a:off x="486228" y="2740776"/>
            <a:ext cx="7932057" cy="954107"/>
          </a:xfrm>
          <a:prstGeom prst="rect">
            <a:avLst/>
          </a:prstGeom>
        </p:spPr>
        <p:txBody>
          <a:bodyPr wrap="square">
            <a:spAutoFit/>
          </a:bodyPr>
          <a:lstStyle/>
          <a:p>
            <a:r>
              <a:rPr lang="en-US" dirty="0"/>
              <a:t>Another idea can be considering a set of synonyms for each emotion and checking their entailment probabilities with the text and selecting the highest one as the entailment probability of the emotion with the text, then selecting the emotion that has highest entailment probability with the text as the predicted emotion. </a:t>
            </a:r>
          </a:p>
        </p:txBody>
      </p:sp>
    </p:spTree>
    <p:extLst>
      <p:ext uri="{BB962C8B-B14F-4D97-AF65-F5344CB8AC3E}">
        <p14:creationId xmlns:p14="http://schemas.microsoft.com/office/powerpoint/2010/main" val="36160028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sz="1600" b="1" dirty="0"/>
              <a:t>Using synonyms of </a:t>
            </a:r>
            <a:r>
              <a:rPr lang="en-US" sz="1600" b="1" dirty="0" smtClean="0"/>
              <a:t>emotions (review) </a:t>
            </a:r>
            <a:endParaRPr lang="en-US"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3</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1641409917"/>
              </p:ext>
            </p:extLst>
          </p:nvPr>
        </p:nvGraphicFramePr>
        <p:xfrm>
          <a:off x="311700" y="754743"/>
          <a:ext cx="8456644" cy="4023360"/>
        </p:xfrm>
        <a:graphic>
          <a:graphicData uri="http://schemas.openxmlformats.org/drawingml/2006/table">
            <a:tbl>
              <a:tblPr firstRow="1" bandRow="1">
                <a:tableStyleId>{5C22544A-7EE6-4342-B048-85BDC9FD1C3A}</a:tableStyleId>
              </a:tblPr>
              <a:tblGrid>
                <a:gridCol w="4228322">
                  <a:extLst>
                    <a:ext uri="{9D8B030D-6E8A-4147-A177-3AD203B41FA5}">
                      <a16:colId xmlns:a16="http://schemas.microsoft.com/office/drawing/2014/main" val="1825852549"/>
                    </a:ext>
                  </a:extLst>
                </a:gridCol>
                <a:gridCol w="4228322">
                  <a:extLst>
                    <a:ext uri="{9D8B030D-6E8A-4147-A177-3AD203B41FA5}">
                      <a16:colId xmlns:a16="http://schemas.microsoft.com/office/drawing/2014/main" val="2023759085"/>
                    </a:ext>
                  </a:extLst>
                </a:gridCol>
              </a:tblGrid>
              <a:tr h="257535">
                <a:tc>
                  <a:txBody>
                    <a:bodyPr/>
                    <a:lstStyle/>
                    <a:p>
                      <a:r>
                        <a:rPr lang="en-US" dirty="0" smtClean="0"/>
                        <a:t>emotion</a:t>
                      </a:r>
                      <a:endParaRPr lang="en-US" dirty="0"/>
                    </a:p>
                  </a:txBody>
                  <a:tcPr/>
                </a:tc>
                <a:tc>
                  <a:txBody>
                    <a:bodyPr/>
                    <a:lstStyle/>
                    <a:p>
                      <a:r>
                        <a:rPr lang="en-US" dirty="0" smtClean="0"/>
                        <a:t>synonyms</a:t>
                      </a:r>
                      <a:endParaRPr lang="en-US" dirty="0"/>
                    </a:p>
                  </a:txBody>
                  <a:tcPr/>
                </a:tc>
                <a:extLst>
                  <a:ext uri="{0D108BD9-81ED-4DB2-BD59-A6C34878D82A}">
                    <a16:rowId xmlns:a16="http://schemas.microsoft.com/office/drawing/2014/main" val="1607590363"/>
                  </a:ext>
                </a:extLst>
              </a:tr>
              <a:tr h="437810">
                <a:tc>
                  <a:txBody>
                    <a:bodyPr/>
                    <a:lstStyle/>
                    <a:p>
                      <a:r>
                        <a:rPr lang="en-US" dirty="0" smtClean="0"/>
                        <a:t>sadness</a:t>
                      </a:r>
                      <a:endParaRPr lang="en-US" dirty="0"/>
                    </a:p>
                  </a:txBody>
                  <a:tcPr/>
                </a:tc>
                <a:tc>
                  <a:txBody>
                    <a:bodyPr/>
                    <a:lstStyle/>
                    <a:p>
                      <a:r>
                        <a:rPr lang="en-US" dirty="0" smtClean="0"/>
                        <a:t>sadness, unhappiness, grief, sorrow, loneliness, depression</a:t>
                      </a:r>
                      <a:endParaRPr lang="en-US" dirty="0"/>
                    </a:p>
                  </a:txBody>
                  <a:tcPr/>
                </a:tc>
                <a:extLst>
                  <a:ext uri="{0D108BD9-81ED-4DB2-BD59-A6C34878D82A}">
                    <a16:rowId xmlns:a16="http://schemas.microsoft.com/office/drawing/2014/main" val="808457880"/>
                  </a:ext>
                </a:extLst>
              </a:tr>
              <a:tr h="437810">
                <a:tc>
                  <a:txBody>
                    <a:bodyPr/>
                    <a:lstStyle/>
                    <a:p>
                      <a:r>
                        <a:rPr lang="en-US" dirty="0" smtClean="0"/>
                        <a:t>joy</a:t>
                      </a:r>
                      <a:endParaRPr lang="en-US" dirty="0"/>
                    </a:p>
                  </a:txBody>
                  <a:tcPr/>
                </a:tc>
                <a:tc>
                  <a:txBody>
                    <a:bodyPr/>
                    <a:lstStyle/>
                    <a:p>
                      <a:r>
                        <a:rPr lang="en-US" dirty="0" smtClean="0"/>
                        <a:t>joy, an achievement, pleasure, the awesome, happiness, the blessing</a:t>
                      </a:r>
                      <a:endParaRPr lang="en-US" dirty="0"/>
                    </a:p>
                  </a:txBody>
                  <a:tcPr/>
                </a:tc>
                <a:extLst>
                  <a:ext uri="{0D108BD9-81ED-4DB2-BD59-A6C34878D82A}">
                    <a16:rowId xmlns:a16="http://schemas.microsoft.com/office/drawing/2014/main" val="2740971849"/>
                  </a:ext>
                </a:extLst>
              </a:tr>
              <a:tr h="257535">
                <a:tc>
                  <a:txBody>
                    <a:bodyPr/>
                    <a:lstStyle/>
                    <a:p>
                      <a:r>
                        <a:rPr lang="en-US" dirty="0" smtClean="0"/>
                        <a:t>anger</a:t>
                      </a:r>
                      <a:endParaRPr lang="en-US" dirty="0"/>
                    </a:p>
                  </a:txBody>
                  <a:tcPr/>
                </a:tc>
                <a:tc>
                  <a:txBody>
                    <a:bodyPr/>
                    <a:lstStyle/>
                    <a:p>
                      <a:r>
                        <a:rPr lang="en-US" dirty="0" smtClean="0"/>
                        <a:t>anger, annoyance, rage, outrage, fury, irritation</a:t>
                      </a:r>
                      <a:endParaRPr lang="en-US" dirty="0"/>
                    </a:p>
                  </a:txBody>
                  <a:tcPr/>
                </a:tc>
                <a:extLst>
                  <a:ext uri="{0D108BD9-81ED-4DB2-BD59-A6C34878D82A}">
                    <a16:rowId xmlns:a16="http://schemas.microsoft.com/office/drawing/2014/main" val="1038599901"/>
                  </a:ext>
                </a:extLst>
              </a:tr>
              <a:tr h="437810">
                <a:tc>
                  <a:txBody>
                    <a:bodyPr/>
                    <a:lstStyle/>
                    <a:p>
                      <a:r>
                        <a:rPr lang="en-US" dirty="0" smtClean="0"/>
                        <a:t>disgust</a:t>
                      </a:r>
                      <a:endParaRPr lang="en-US" dirty="0"/>
                    </a:p>
                  </a:txBody>
                  <a:tcPr/>
                </a:tc>
                <a:tc>
                  <a:txBody>
                    <a:bodyPr/>
                    <a:lstStyle/>
                    <a:p>
                      <a:r>
                        <a:rPr lang="en-US" dirty="0" smtClean="0"/>
                        <a:t>disgust, loathing, bitterness, ugliness, repugnance, revulsion</a:t>
                      </a:r>
                      <a:endParaRPr lang="en-US" dirty="0"/>
                    </a:p>
                  </a:txBody>
                  <a:tcPr/>
                </a:tc>
                <a:extLst>
                  <a:ext uri="{0D108BD9-81ED-4DB2-BD59-A6C34878D82A}">
                    <a16:rowId xmlns:a16="http://schemas.microsoft.com/office/drawing/2014/main" val="2052755806"/>
                  </a:ext>
                </a:extLst>
              </a:tr>
              <a:tr h="257535">
                <a:tc>
                  <a:txBody>
                    <a:bodyPr/>
                    <a:lstStyle/>
                    <a:p>
                      <a:r>
                        <a:rPr lang="en-US" dirty="0" smtClean="0"/>
                        <a:t>fear</a:t>
                      </a:r>
                      <a:endParaRPr lang="en-US" dirty="0"/>
                    </a:p>
                  </a:txBody>
                  <a:tcPr/>
                </a:tc>
                <a:tc>
                  <a:txBody>
                    <a:bodyPr/>
                    <a:lstStyle/>
                    <a:p>
                      <a:r>
                        <a:rPr lang="en-US" dirty="0" smtClean="0"/>
                        <a:t>fear, horror, anxiety, terror, dread, scare</a:t>
                      </a:r>
                      <a:endParaRPr lang="en-US" dirty="0"/>
                    </a:p>
                  </a:txBody>
                  <a:tcPr/>
                </a:tc>
                <a:extLst>
                  <a:ext uri="{0D108BD9-81ED-4DB2-BD59-A6C34878D82A}">
                    <a16:rowId xmlns:a16="http://schemas.microsoft.com/office/drawing/2014/main" val="3532770206"/>
                  </a:ext>
                </a:extLst>
              </a:tr>
              <a:tr h="437810">
                <a:tc>
                  <a:txBody>
                    <a:bodyPr/>
                    <a:lstStyle/>
                    <a:p>
                      <a:r>
                        <a:rPr lang="en-US" dirty="0" smtClean="0"/>
                        <a:t>surprise</a:t>
                      </a:r>
                      <a:endParaRPr lang="en-US" dirty="0"/>
                    </a:p>
                  </a:txBody>
                  <a:tcPr/>
                </a:tc>
                <a:tc>
                  <a:txBody>
                    <a:bodyPr/>
                    <a:lstStyle/>
                    <a:p>
                      <a:r>
                        <a:rPr lang="en-US" dirty="0" smtClean="0"/>
                        <a:t>surprise, astonishment, amazement, impression, perplexity, shock</a:t>
                      </a:r>
                      <a:endParaRPr lang="en-US" dirty="0"/>
                    </a:p>
                  </a:txBody>
                  <a:tcPr/>
                </a:tc>
                <a:extLst>
                  <a:ext uri="{0D108BD9-81ED-4DB2-BD59-A6C34878D82A}">
                    <a16:rowId xmlns:a16="http://schemas.microsoft.com/office/drawing/2014/main" val="134064499"/>
                  </a:ext>
                </a:extLst>
              </a:tr>
              <a:tr h="437810">
                <a:tc>
                  <a:txBody>
                    <a:bodyPr/>
                    <a:lstStyle/>
                    <a:p>
                      <a:r>
                        <a:rPr lang="en-US" dirty="0" smtClean="0"/>
                        <a:t>shame</a:t>
                      </a:r>
                      <a:endParaRPr lang="en-US" dirty="0"/>
                    </a:p>
                  </a:txBody>
                  <a:tcPr/>
                </a:tc>
                <a:tc>
                  <a:txBody>
                    <a:bodyPr/>
                    <a:lstStyle/>
                    <a:p>
                      <a:r>
                        <a:rPr lang="en-US" dirty="0" smtClean="0"/>
                        <a:t>shame, humiliation, embarrassment, disgrace, dishonor, discredit</a:t>
                      </a:r>
                      <a:endParaRPr lang="en-US" dirty="0"/>
                    </a:p>
                  </a:txBody>
                  <a:tcPr/>
                </a:tc>
                <a:extLst>
                  <a:ext uri="{0D108BD9-81ED-4DB2-BD59-A6C34878D82A}">
                    <a16:rowId xmlns:a16="http://schemas.microsoft.com/office/drawing/2014/main" val="3187374583"/>
                  </a:ext>
                </a:extLst>
              </a:tr>
              <a:tr h="437810">
                <a:tc>
                  <a:txBody>
                    <a:bodyPr/>
                    <a:lstStyle/>
                    <a:p>
                      <a:r>
                        <a:rPr lang="en-US" dirty="0" smtClean="0"/>
                        <a:t>guilt</a:t>
                      </a:r>
                      <a:endParaRPr lang="en-US" dirty="0"/>
                    </a:p>
                  </a:txBody>
                  <a:tcPr/>
                </a:tc>
                <a:tc>
                  <a:txBody>
                    <a:bodyPr/>
                    <a:lstStyle/>
                    <a:p>
                      <a:r>
                        <a:rPr lang="en-US" dirty="0" smtClean="0"/>
                        <a:t>guilt, culpability, responsibility, blameworthy, misconduct, regret</a:t>
                      </a:r>
                      <a:endParaRPr lang="en-US" dirty="0"/>
                    </a:p>
                  </a:txBody>
                  <a:tcPr/>
                </a:tc>
                <a:extLst>
                  <a:ext uri="{0D108BD9-81ED-4DB2-BD59-A6C34878D82A}">
                    <a16:rowId xmlns:a16="http://schemas.microsoft.com/office/drawing/2014/main" val="65733916"/>
                  </a:ext>
                </a:extLst>
              </a:tr>
            </a:tbl>
          </a:graphicData>
        </a:graphic>
      </p:graphicFrame>
    </p:spTree>
    <p:extLst>
      <p:ext uri="{BB962C8B-B14F-4D97-AF65-F5344CB8AC3E}">
        <p14:creationId xmlns:p14="http://schemas.microsoft.com/office/powerpoint/2010/main" val="27570297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sz="1600" b="1" dirty="0" smtClean="0"/>
              <a:t>Prompts of synonyms (review)</a:t>
            </a:r>
            <a:endParaRPr lang="en-US" sz="16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4</a:t>
            </a:fld>
            <a:endParaRPr lang="ja" altLang="en-US"/>
          </a:p>
        </p:txBody>
      </p:sp>
      <p:graphicFrame>
        <p:nvGraphicFramePr>
          <p:cNvPr id="6" name="Table 5"/>
          <p:cNvGraphicFramePr>
            <a:graphicFrameLocks noGrp="1"/>
          </p:cNvGraphicFramePr>
          <p:nvPr>
            <p:extLst>
              <p:ext uri="{D42A27DB-BD31-4B8C-83A1-F6EECF244321}">
                <p14:modId xmlns:p14="http://schemas.microsoft.com/office/powerpoint/2010/main" val="3120450344"/>
              </p:ext>
            </p:extLst>
          </p:nvPr>
        </p:nvGraphicFramePr>
        <p:xfrm>
          <a:off x="791029" y="1117600"/>
          <a:ext cx="6096000" cy="2722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882460100"/>
                    </a:ext>
                  </a:extLst>
                </a:gridCol>
                <a:gridCol w="2032000">
                  <a:extLst>
                    <a:ext uri="{9D8B030D-6E8A-4147-A177-3AD203B41FA5}">
                      <a16:colId xmlns:a16="http://schemas.microsoft.com/office/drawing/2014/main" val="2899458474"/>
                    </a:ext>
                  </a:extLst>
                </a:gridCol>
                <a:gridCol w="2032000">
                  <a:extLst>
                    <a:ext uri="{9D8B030D-6E8A-4147-A177-3AD203B41FA5}">
                      <a16:colId xmlns:a16="http://schemas.microsoft.com/office/drawing/2014/main" val="3204984617"/>
                    </a:ext>
                  </a:extLst>
                </a:gridCol>
              </a:tblGrid>
              <a:tr h="370840">
                <a:tc>
                  <a:txBody>
                    <a:bodyPr/>
                    <a:lstStyle/>
                    <a:p>
                      <a:pPr algn="ctr"/>
                      <a:r>
                        <a:rPr lang="en-US" dirty="0" smtClean="0"/>
                        <a:t>ID</a:t>
                      </a:r>
                      <a:endParaRPr lang="en-US" dirty="0"/>
                    </a:p>
                  </a:txBody>
                  <a:tcPr/>
                </a:tc>
                <a:tc>
                  <a:txBody>
                    <a:bodyPr/>
                    <a:lstStyle/>
                    <a:p>
                      <a:pPr algn="ctr"/>
                      <a:r>
                        <a:rPr lang="en-US" dirty="0" smtClean="0"/>
                        <a:t>Prompt</a:t>
                      </a:r>
                      <a:endParaRPr lang="en-US" dirty="0"/>
                    </a:p>
                  </a:txBody>
                  <a:tcPr/>
                </a:tc>
                <a:tc>
                  <a:txBody>
                    <a:bodyPr/>
                    <a:lstStyle/>
                    <a:p>
                      <a:r>
                        <a:rPr lang="en-US" dirty="0" smtClean="0"/>
                        <a:t>example</a:t>
                      </a:r>
                      <a:endParaRPr lang="en-US" dirty="0"/>
                    </a:p>
                  </a:txBody>
                  <a:tcPr/>
                </a:tc>
                <a:extLst>
                  <a:ext uri="{0D108BD9-81ED-4DB2-BD59-A6C34878D82A}">
                    <a16:rowId xmlns:a16="http://schemas.microsoft.com/office/drawing/2014/main" val="672118755"/>
                  </a:ext>
                </a:extLst>
              </a:tr>
              <a:tr h="370840">
                <a:tc>
                  <a:txBody>
                    <a:bodyPr/>
                    <a:lstStyle/>
                    <a:p>
                      <a:pPr algn="l"/>
                      <a:r>
                        <a:rPr lang="en-US" dirty="0" smtClean="0"/>
                        <a:t>Emo-s</a:t>
                      </a:r>
                      <a:endParaRPr lang="en-US" dirty="0"/>
                    </a:p>
                  </a:txBody>
                  <a:tcPr/>
                </a:tc>
                <a:tc>
                  <a:txBody>
                    <a:bodyPr/>
                    <a:lstStyle/>
                    <a:p>
                      <a:pPr algn="l"/>
                      <a:r>
                        <a:rPr lang="en-US" dirty="0" smtClean="0"/>
                        <a:t>Emotion synonym</a:t>
                      </a:r>
                      <a:endParaRPr lang="en-US" dirty="0"/>
                    </a:p>
                  </a:txBody>
                  <a:tcPr/>
                </a:tc>
                <a:tc>
                  <a:txBody>
                    <a:bodyPr/>
                    <a:lstStyle/>
                    <a:p>
                      <a:r>
                        <a:rPr lang="en-US" dirty="0" smtClean="0"/>
                        <a:t>happy</a:t>
                      </a:r>
                      <a:endParaRPr lang="en-US" dirty="0"/>
                    </a:p>
                  </a:txBody>
                  <a:tcPr/>
                </a:tc>
                <a:extLst>
                  <a:ext uri="{0D108BD9-81ED-4DB2-BD59-A6C34878D82A}">
                    <a16:rowId xmlns:a16="http://schemas.microsoft.com/office/drawing/2014/main" val="2212575958"/>
                  </a:ext>
                </a:extLst>
              </a:tr>
              <a:tr h="370840">
                <a:tc>
                  <a:txBody>
                    <a:bodyPr/>
                    <a:lstStyle/>
                    <a:p>
                      <a:r>
                        <a:rPr lang="en-US" dirty="0" smtClean="0"/>
                        <a:t>Expr-s</a:t>
                      </a:r>
                      <a:endParaRPr lang="en-US" dirty="0"/>
                    </a:p>
                  </a:txBody>
                  <a:tcPr/>
                </a:tc>
                <a:tc>
                  <a:txBody>
                    <a:bodyPr/>
                    <a:lstStyle/>
                    <a:p>
                      <a:r>
                        <a:rPr lang="en-US" dirty="0" smtClean="0"/>
                        <a:t>“This text </a:t>
                      </a:r>
                      <a:r>
                        <a:rPr lang="en-US" dirty="0" err="1" smtClean="0"/>
                        <a:t>expresses”+emotion</a:t>
                      </a:r>
                      <a:r>
                        <a:rPr lang="en-US" dirty="0" smtClean="0"/>
                        <a:t> synonym</a:t>
                      </a:r>
                      <a:endParaRPr lang="en-US" dirty="0"/>
                    </a:p>
                  </a:txBody>
                  <a:tcPr/>
                </a:tc>
                <a:tc>
                  <a:txBody>
                    <a:bodyPr/>
                    <a:lstStyle/>
                    <a:p>
                      <a:r>
                        <a:rPr lang="en-US" dirty="0" smtClean="0"/>
                        <a:t>This text expresses happiness </a:t>
                      </a:r>
                    </a:p>
                  </a:txBody>
                  <a:tcPr/>
                </a:tc>
                <a:extLst>
                  <a:ext uri="{0D108BD9-81ED-4DB2-BD59-A6C34878D82A}">
                    <a16:rowId xmlns:a16="http://schemas.microsoft.com/office/drawing/2014/main" val="4153487773"/>
                  </a:ext>
                </a:extLst>
              </a:tr>
              <a:tr h="370840">
                <a:tc>
                  <a:txBody>
                    <a:bodyPr/>
                    <a:lstStyle/>
                    <a:p>
                      <a:r>
                        <a:rPr lang="en-US" dirty="0" smtClean="0"/>
                        <a:t>Feels-s</a:t>
                      </a:r>
                      <a:endParaRPr lang="en-US" dirty="0"/>
                    </a:p>
                  </a:txBody>
                  <a:tcPr/>
                </a:tc>
                <a:tc>
                  <a:txBody>
                    <a:bodyPr/>
                    <a:lstStyle/>
                    <a:p>
                      <a:r>
                        <a:rPr lang="en-US" dirty="0" smtClean="0"/>
                        <a:t>“This person </a:t>
                      </a:r>
                      <a:r>
                        <a:rPr lang="en-US" dirty="0" err="1" smtClean="0"/>
                        <a:t>feels”+emotion</a:t>
                      </a:r>
                      <a:r>
                        <a:rPr lang="en-US" dirty="0" smtClean="0"/>
                        <a:t> synonym</a:t>
                      </a:r>
                      <a:endParaRPr lang="en-US" dirty="0"/>
                    </a:p>
                  </a:txBody>
                  <a:tcPr/>
                </a:tc>
                <a:tc>
                  <a:txBody>
                    <a:bodyPr/>
                    <a:lstStyle/>
                    <a:p>
                      <a:r>
                        <a:rPr lang="en-US" dirty="0" smtClean="0"/>
                        <a:t>This person feels happy</a:t>
                      </a:r>
                    </a:p>
                  </a:txBody>
                  <a:tcPr/>
                </a:tc>
                <a:extLst>
                  <a:ext uri="{0D108BD9-81ED-4DB2-BD59-A6C34878D82A}">
                    <a16:rowId xmlns:a16="http://schemas.microsoft.com/office/drawing/2014/main" val="3555123393"/>
                  </a:ext>
                </a:extLst>
              </a:tr>
              <a:tr h="370840">
                <a:tc>
                  <a:txBody>
                    <a:bodyPr/>
                    <a:lstStyle/>
                    <a:p>
                      <a:r>
                        <a:rPr lang="en-US" dirty="0" smtClean="0"/>
                        <a:t>Emotion-s</a:t>
                      </a:r>
                      <a:endParaRPr lang="en-US" dirty="0"/>
                    </a:p>
                  </a:txBody>
                  <a:tcPr/>
                </a:tc>
                <a:tc>
                  <a:txBody>
                    <a:bodyPr/>
                    <a:lstStyle/>
                    <a:p>
                      <a:r>
                        <a:rPr lang="en-US" dirty="0" smtClean="0"/>
                        <a:t>“The emotion is”+ emotion</a:t>
                      </a:r>
                      <a:r>
                        <a:rPr lang="en-US" baseline="0" dirty="0" smtClean="0"/>
                        <a:t> </a:t>
                      </a:r>
                      <a:r>
                        <a:rPr lang="en-US" dirty="0" smtClean="0"/>
                        <a:t>synonym</a:t>
                      </a:r>
                      <a:endParaRPr lang="en-US" dirty="0"/>
                    </a:p>
                  </a:txBody>
                  <a:tcPr/>
                </a:tc>
                <a:tc>
                  <a:txBody>
                    <a:bodyPr/>
                    <a:lstStyle/>
                    <a:p>
                      <a:r>
                        <a:rPr lang="en-US" dirty="0" smtClean="0"/>
                        <a:t>The emotion is happiness</a:t>
                      </a:r>
                      <a:endParaRPr lang="en-US" dirty="0"/>
                    </a:p>
                  </a:txBody>
                  <a:tcPr/>
                </a:tc>
                <a:extLst>
                  <a:ext uri="{0D108BD9-81ED-4DB2-BD59-A6C34878D82A}">
                    <a16:rowId xmlns:a16="http://schemas.microsoft.com/office/drawing/2014/main" val="2682148075"/>
                  </a:ext>
                </a:extLst>
              </a:tr>
            </a:tbl>
          </a:graphicData>
        </a:graphic>
      </p:graphicFrame>
    </p:spTree>
    <p:extLst>
      <p:ext uri="{BB962C8B-B14F-4D97-AF65-F5344CB8AC3E}">
        <p14:creationId xmlns:p14="http://schemas.microsoft.com/office/powerpoint/2010/main" val="33345753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5</a:t>
            </a:fld>
            <a:endParaRPr lang="ja" altLang="en-US"/>
          </a:p>
        </p:txBody>
      </p:sp>
      <p:sp>
        <p:nvSpPr>
          <p:cNvPr id="5" name="TextBox 4"/>
          <p:cNvSpPr txBox="1"/>
          <p:nvPr/>
        </p:nvSpPr>
        <p:spPr>
          <a:xfrm>
            <a:off x="667656" y="0"/>
            <a:ext cx="8418337" cy="584775"/>
          </a:xfrm>
          <a:prstGeom prst="rect">
            <a:avLst/>
          </a:prstGeom>
          <a:noFill/>
        </p:spPr>
        <p:txBody>
          <a:bodyPr wrap="square" rtlCol="0">
            <a:spAutoFit/>
          </a:bodyPr>
          <a:lstStyle/>
          <a:p>
            <a:r>
              <a:rPr lang="en-US" sz="1600" b="1" dirty="0" smtClean="0"/>
              <a:t>Comparing the results of using synonyms with the results of using prompts of emotion names ( </a:t>
            </a:r>
            <a:r>
              <a:rPr lang="en-US" sz="1600" b="1" dirty="0" err="1" smtClean="0"/>
              <a:t>Isear</a:t>
            </a:r>
            <a:r>
              <a:rPr lang="en-US" sz="1600" b="1" dirty="0" smtClean="0"/>
              <a:t> dataset) (review)</a:t>
            </a:r>
            <a:endParaRPr lang="en-US" sz="1600" b="1" dirty="0"/>
          </a:p>
        </p:txBody>
      </p:sp>
      <p:sp>
        <p:nvSpPr>
          <p:cNvPr id="7" name="TextBox 6"/>
          <p:cNvSpPr txBox="1"/>
          <p:nvPr/>
        </p:nvSpPr>
        <p:spPr>
          <a:xfrm>
            <a:off x="667656" y="1081315"/>
            <a:ext cx="7750629" cy="2677656"/>
          </a:xfrm>
          <a:prstGeom prst="rect">
            <a:avLst/>
          </a:prstGeom>
          <a:noFill/>
        </p:spPr>
        <p:txBody>
          <a:bodyPr wrap="square" rtlCol="0">
            <a:spAutoFit/>
          </a:bodyPr>
          <a:lstStyle/>
          <a:p>
            <a:r>
              <a:rPr lang="en-US" dirty="0" smtClean="0"/>
              <a:t>For </a:t>
            </a:r>
            <a:r>
              <a:rPr lang="en-US" dirty="0" err="1" smtClean="0"/>
              <a:t>Isear</a:t>
            </a:r>
            <a:r>
              <a:rPr lang="en-US" dirty="0" smtClean="0"/>
              <a:t> dataset:</a:t>
            </a:r>
          </a:p>
          <a:p>
            <a:r>
              <a:rPr lang="en-US" dirty="0" smtClean="0"/>
              <a:t>Using average of entailment probabilities of synonyms of the emotion could lead to a little improvements for all 4 prompts. (emo-s: 0.57 to emo-name: 0.54, expr-s: 0.62 to expr-emo:0.61, emotion-s:0.63 to emotion prompt: 0.61,  feels-s: 0.56 to feels-emo: 0.53). </a:t>
            </a:r>
          </a:p>
          <a:p>
            <a:endParaRPr lang="en-US" dirty="0"/>
          </a:p>
          <a:p>
            <a:r>
              <a:rPr lang="en-US" dirty="0" smtClean="0"/>
              <a:t>Using max </a:t>
            </a:r>
            <a:r>
              <a:rPr lang="en-US" dirty="0"/>
              <a:t>of entailment probabilities of </a:t>
            </a:r>
            <a:r>
              <a:rPr lang="en-US" dirty="0" smtClean="0"/>
              <a:t>synonyms could lead to improvement for </a:t>
            </a:r>
            <a:r>
              <a:rPr lang="en-US" dirty="0" err="1" smtClean="0"/>
              <a:t>feels_s</a:t>
            </a:r>
            <a:r>
              <a:rPr lang="en-US" dirty="0" smtClean="0"/>
              <a:t> </a:t>
            </a:r>
            <a:r>
              <a:rPr lang="en-US" dirty="0" smtClean="0"/>
              <a:t>prompt (Feels_s:0.58 to Feels_emo:0.54) , but not for </a:t>
            </a:r>
            <a:r>
              <a:rPr lang="en-US" dirty="0" err="1" smtClean="0"/>
              <a:t>expr_s</a:t>
            </a:r>
            <a:r>
              <a:rPr lang="en-US" dirty="0" smtClean="0"/>
              <a:t> and </a:t>
            </a:r>
            <a:r>
              <a:rPr lang="en-US" dirty="0" err="1" smtClean="0"/>
              <a:t>emotion_s</a:t>
            </a:r>
            <a:r>
              <a:rPr lang="en-US" dirty="0" smtClean="0"/>
              <a:t> and </a:t>
            </a:r>
            <a:r>
              <a:rPr lang="en-US" dirty="0" err="1" smtClean="0"/>
              <a:t>emo_s</a:t>
            </a:r>
            <a:r>
              <a:rPr lang="en-US" dirty="0" smtClean="0"/>
              <a:t> prompt.</a:t>
            </a:r>
          </a:p>
          <a:p>
            <a:endParaRPr lang="en-US" dirty="0"/>
          </a:p>
          <a:p>
            <a:r>
              <a:rPr lang="en-US" dirty="0" smtClean="0"/>
              <a:t>For </a:t>
            </a:r>
            <a:r>
              <a:rPr lang="en-US" dirty="0"/>
              <a:t>Tec </a:t>
            </a:r>
            <a:r>
              <a:rPr lang="en-US" dirty="0" smtClean="0"/>
              <a:t>dataset</a:t>
            </a:r>
            <a:r>
              <a:rPr lang="en-US" dirty="0"/>
              <a:t>:</a:t>
            </a:r>
            <a:endParaRPr lang="en-US" dirty="0" smtClean="0"/>
          </a:p>
          <a:p>
            <a:r>
              <a:rPr lang="en-US" dirty="0" smtClean="0"/>
              <a:t>Using </a:t>
            </a:r>
            <a:r>
              <a:rPr lang="en-US" dirty="0"/>
              <a:t>synonyms could not lead to improvements compared to using prompts of emotion </a:t>
            </a:r>
            <a:r>
              <a:rPr lang="en-US" dirty="0" smtClean="0"/>
              <a:t>names</a:t>
            </a:r>
          </a:p>
          <a:p>
            <a:endParaRPr lang="en-US" dirty="0"/>
          </a:p>
          <a:p>
            <a:endParaRPr lang="en-US" dirty="0"/>
          </a:p>
        </p:txBody>
      </p:sp>
    </p:spTree>
    <p:extLst>
      <p:ext uri="{BB962C8B-B14F-4D97-AF65-F5344CB8AC3E}">
        <p14:creationId xmlns:p14="http://schemas.microsoft.com/office/powerpoint/2010/main" val="12009962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sz="1700" b="1" dirty="0" smtClean="0"/>
              <a:t>Using the idea of threshold</a:t>
            </a:r>
            <a:endParaRPr lang="en-US" sz="17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6</a:t>
            </a:fld>
            <a:endParaRPr lang="ja" altLang="en-US"/>
          </a:p>
        </p:txBody>
      </p:sp>
      <p:sp>
        <p:nvSpPr>
          <p:cNvPr id="5" name="TextBox 4"/>
          <p:cNvSpPr txBox="1"/>
          <p:nvPr/>
        </p:nvSpPr>
        <p:spPr>
          <a:xfrm>
            <a:off x="551543" y="736033"/>
            <a:ext cx="8110257" cy="738664"/>
          </a:xfrm>
          <a:prstGeom prst="rect">
            <a:avLst/>
          </a:prstGeom>
          <a:noFill/>
        </p:spPr>
        <p:txBody>
          <a:bodyPr wrap="square" rtlCol="0">
            <a:spAutoFit/>
          </a:bodyPr>
          <a:lstStyle/>
          <a:p>
            <a:r>
              <a:rPr lang="en-US" dirty="0" smtClean="0"/>
              <a:t>Defining a threshold for the entailment probabilities of synonyms of emotions: average of entailment probabilities of the true label when the predicted label is </a:t>
            </a:r>
            <a:r>
              <a:rPr lang="en-US" dirty="0" smtClean="0"/>
              <a:t>true (when using average of entailment probabilities of synonyms for prediction)</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60296466"/>
              </p:ext>
            </p:extLst>
          </p:nvPr>
        </p:nvGraphicFramePr>
        <p:xfrm>
          <a:off x="653138" y="1848562"/>
          <a:ext cx="7961968" cy="1018287"/>
        </p:xfrm>
        <a:graphic>
          <a:graphicData uri="http://schemas.openxmlformats.org/drawingml/2006/table">
            <a:tbl>
              <a:tblPr firstRow="1" bandRow="1">
                <a:tableStyleId>{5C22544A-7EE6-4342-B048-85BDC9FD1C3A}</a:tableStyleId>
              </a:tblPr>
              <a:tblGrid>
                <a:gridCol w="995246">
                  <a:extLst>
                    <a:ext uri="{9D8B030D-6E8A-4147-A177-3AD203B41FA5}">
                      <a16:colId xmlns:a16="http://schemas.microsoft.com/office/drawing/2014/main" val="307346793"/>
                    </a:ext>
                  </a:extLst>
                </a:gridCol>
                <a:gridCol w="995246">
                  <a:extLst>
                    <a:ext uri="{9D8B030D-6E8A-4147-A177-3AD203B41FA5}">
                      <a16:colId xmlns:a16="http://schemas.microsoft.com/office/drawing/2014/main" val="26574917"/>
                    </a:ext>
                  </a:extLst>
                </a:gridCol>
                <a:gridCol w="995246">
                  <a:extLst>
                    <a:ext uri="{9D8B030D-6E8A-4147-A177-3AD203B41FA5}">
                      <a16:colId xmlns:a16="http://schemas.microsoft.com/office/drawing/2014/main" val="3414869458"/>
                    </a:ext>
                  </a:extLst>
                </a:gridCol>
                <a:gridCol w="995246">
                  <a:extLst>
                    <a:ext uri="{9D8B030D-6E8A-4147-A177-3AD203B41FA5}">
                      <a16:colId xmlns:a16="http://schemas.microsoft.com/office/drawing/2014/main" val="1304788953"/>
                    </a:ext>
                  </a:extLst>
                </a:gridCol>
                <a:gridCol w="995246">
                  <a:extLst>
                    <a:ext uri="{9D8B030D-6E8A-4147-A177-3AD203B41FA5}">
                      <a16:colId xmlns:a16="http://schemas.microsoft.com/office/drawing/2014/main" val="1713140238"/>
                    </a:ext>
                  </a:extLst>
                </a:gridCol>
                <a:gridCol w="995246">
                  <a:extLst>
                    <a:ext uri="{9D8B030D-6E8A-4147-A177-3AD203B41FA5}">
                      <a16:colId xmlns:a16="http://schemas.microsoft.com/office/drawing/2014/main" val="68093905"/>
                    </a:ext>
                  </a:extLst>
                </a:gridCol>
                <a:gridCol w="995246">
                  <a:extLst>
                    <a:ext uri="{9D8B030D-6E8A-4147-A177-3AD203B41FA5}">
                      <a16:colId xmlns:a16="http://schemas.microsoft.com/office/drawing/2014/main" val="3490350951"/>
                    </a:ext>
                  </a:extLst>
                </a:gridCol>
                <a:gridCol w="995246">
                  <a:extLst>
                    <a:ext uri="{9D8B030D-6E8A-4147-A177-3AD203B41FA5}">
                      <a16:colId xmlns:a16="http://schemas.microsoft.com/office/drawing/2014/main" val="820209625"/>
                    </a:ext>
                  </a:extLst>
                </a:gridCol>
              </a:tblGrid>
              <a:tr h="591006">
                <a:tc>
                  <a:txBody>
                    <a:bodyPr/>
                    <a:lstStyle/>
                    <a:p>
                      <a:r>
                        <a:rPr lang="en-US" dirty="0" smtClean="0"/>
                        <a:t>Emotion </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extLst>
                  <a:ext uri="{0D108BD9-81ED-4DB2-BD59-A6C34878D82A}">
                    <a16:rowId xmlns:a16="http://schemas.microsoft.com/office/drawing/2014/main" val="4065742496"/>
                  </a:ext>
                </a:extLst>
              </a:tr>
              <a:tr h="427281">
                <a:tc>
                  <a:txBody>
                    <a:bodyPr/>
                    <a:lstStyle/>
                    <a:p>
                      <a:r>
                        <a:rPr lang="en-US" dirty="0" smtClean="0"/>
                        <a:t>average</a:t>
                      </a:r>
                      <a:endParaRPr lang="en-US" dirty="0"/>
                    </a:p>
                  </a:txBody>
                  <a:tcPr/>
                </a:tc>
                <a:tc>
                  <a:txBody>
                    <a:bodyPr/>
                    <a:lstStyle/>
                    <a:p>
                      <a:r>
                        <a:rPr lang="en-US" dirty="0" smtClean="0"/>
                        <a:t>0.87</a:t>
                      </a:r>
                      <a:endParaRPr lang="en-US" dirty="0"/>
                    </a:p>
                  </a:txBody>
                  <a:tcPr/>
                </a:tc>
                <a:tc>
                  <a:txBody>
                    <a:bodyPr/>
                    <a:lstStyle/>
                    <a:p>
                      <a:r>
                        <a:rPr lang="en-US" dirty="0" smtClean="0"/>
                        <a:t>0.9</a:t>
                      </a:r>
                      <a:endParaRPr lang="en-US" dirty="0"/>
                    </a:p>
                  </a:txBody>
                  <a:tcPr/>
                </a:tc>
                <a:tc>
                  <a:txBody>
                    <a:bodyPr/>
                    <a:lstStyle/>
                    <a:p>
                      <a:r>
                        <a:rPr lang="en-US" dirty="0" smtClean="0"/>
                        <a:t>0.9</a:t>
                      </a:r>
                      <a:endParaRPr lang="en-US" dirty="0"/>
                    </a:p>
                  </a:txBody>
                  <a:tcPr/>
                </a:tc>
                <a:tc>
                  <a:txBody>
                    <a:bodyPr/>
                    <a:lstStyle/>
                    <a:p>
                      <a:r>
                        <a:rPr lang="en-US" dirty="0" smtClean="0"/>
                        <a:t>0.86</a:t>
                      </a:r>
                      <a:endParaRPr lang="en-US" dirty="0"/>
                    </a:p>
                  </a:txBody>
                  <a:tcPr/>
                </a:tc>
                <a:tc>
                  <a:txBody>
                    <a:bodyPr/>
                    <a:lstStyle/>
                    <a:p>
                      <a:r>
                        <a:rPr lang="en-US" dirty="0" smtClean="0"/>
                        <a:t>0.83</a:t>
                      </a:r>
                      <a:endParaRPr lang="en-US" dirty="0"/>
                    </a:p>
                  </a:txBody>
                  <a:tcPr/>
                </a:tc>
                <a:tc>
                  <a:txBody>
                    <a:bodyPr/>
                    <a:lstStyle/>
                    <a:p>
                      <a:r>
                        <a:rPr lang="en-US" dirty="0" smtClean="0"/>
                        <a:t>0.88</a:t>
                      </a:r>
                      <a:endParaRPr lang="en-US" dirty="0"/>
                    </a:p>
                  </a:txBody>
                  <a:tcPr/>
                </a:tc>
                <a:tc>
                  <a:txBody>
                    <a:bodyPr/>
                    <a:lstStyle/>
                    <a:p>
                      <a:r>
                        <a:rPr lang="en-US" dirty="0" smtClean="0"/>
                        <a:t>0.91</a:t>
                      </a:r>
                      <a:endParaRPr lang="en-US" dirty="0"/>
                    </a:p>
                  </a:txBody>
                  <a:tcPr/>
                </a:tc>
                <a:extLst>
                  <a:ext uri="{0D108BD9-81ED-4DB2-BD59-A6C34878D82A}">
                    <a16:rowId xmlns:a16="http://schemas.microsoft.com/office/drawing/2014/main" val="2479107727"/>
                  </a:ext>
                </a:extLst>
              </a:tr>
            </a:tbl>
          </a:graphicData>
        </a:graphic>
      </p:graphicFrame>
      <p:sp>
        <p:nvSpPr>
          <p:cNvPr id="8" name="TextBox 7"/>
          <p:cNvSpPr txBox="1"/>
          <p:nvPr/>
        </p:nvSpPr>
        <p:spPr>
          <a:xfrm>
            <a:off x="591016" y="4239955"/>
            <a:ext cx="7878070" cy="523220"/>
          </a:xfrm>
          <a:prstGeom prst="rect">
            <a:avLst/>
          </a:prstGeom>
          <a:noFill/>
        </p:spPr>
        <p:txBody>
          <a:bodyPr wrap="square" rtlCol="0">
            <a:spAutoFit/>
          </a:bodyPr>
          <a:lstStyle/>
          <a:p>
            <a:r>
              <a:rPr lang="en-US" dirty="0" smtClean="0"/>
              <a:t>So, getting average of entailment probabilities of synonyms that their entailment probabilities with the text are higher than the threshold </a:t>
            </a:r>
            <a:endParaRPr lang="en-US" dirty="0"/>
          </a:p>
        </p:txBody>
      </p:sp>
      <p:sp>
        <p:nvSpPr>
          <p:cNvPr id="9" name="TextBox 8"/>
          <p:cNvSpPr txBox="1"/>
          <p:nvPr/>
        </p:nvSpPr>
        <p:spPr>
          <a:xfrm>
            <a:off x="653140" y="1480457"/>
            <a:ext cx="3516087" cy="307777"/>
          </a:xfrm>
          <a:prstGeom prst="rect">
            <a:avLst/>
          </a:prstGeom>
          <a:noFill/>
        </p:spPr>
        <p:txBody>
          <a:bodyPr wrap="square" rtlCol="0">
            <a:spAutoFit/>
          </a:bodyPr>
          <a:lstStyle/>
          <a:p>
            <a:r>
              <a:rPr lang="en-US" dirty="0" smtClean="0"/>
              <a:t>The threshold for </a:t>
            </a:r>
            <a:r>
              <a:rPr lang="en-US" dirty="0" err="1" smtClean="0"/>
              <a:t>Isear</a:t>
            </a:r>
            <a:r>
              <a:rPr lang="en-US" dirty="0" smtClean="0"/>
              <a:t> dataset</a:t>
            </a:r>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706282570"/>
              </p:ext>
            </p:extLst>
          </p:nvPr>
        </p:nvGraphicFramePr>
        <p:xfrm>
          <a:off x="653140" y="3246493"/>
          <a:ext cx="7961968" cy="839278"/>
        </p:xfrm>
        <a:graphic>
          <a:graphicData uri="http://schemas.openxmlformats.org/drawingml/2006/table">
            <a:tbl>
              <a:tblPr firstRow="1" bandRow="1">
                <a:tableStyleId>{5C22544A-7EE6-4342-B048-85BDC9FD1C3A}</a:tableStyleId>
              </a:tblPr>
              <a:tblGrid>
                <a:gridCol w="1137424">
                  <a:extLst>
                    <a:ext uri="{9D8B030D-6E8A-4147-A177-3AD203B41FA5}">
                      <a16:colId xmlns:a16="http://schemas.microsoft.com/office/drawing/2014/main" val="427369863"/>
                    </a:ext>
                  </a:extLst>
                </a:gridCol>
                <a:gridCol w="1137424">
                  <a:extLst>
                    <a:ext uri="{9D8B030D-6E8A-4147-A177-3AD203B41FA5}">
                      <a16:colId xmlns:a16="http://schemas.microsoft.com/office/drawing/2014/main" val="2121946075"/>
                    </a:ext>
                  </a:extLst>
                </a:gridCol>
                <a:gridCol w="1137424">
                  <a:extLst>
                    <a:ext uri="{9D8B030D-6E8A-4147-A177-3AD203B41FA5}">
                      <a16:colId xmlns:a16="http://schemas.microsoft.com/office/drawing/2014/main" val="2351408877"/>
                    </a:ext>
                  </a:extLst>
                </a:gridCol>
                <a:gridCol w="1137424">
                  <a:extLst>
                    <a:ext uri="{9D8B030D-6E8A-4147-A177-3AD203B41FA5}">
                      <a16:colId xmlns:a16="http://schemas.microsoft.com/office/drawing/2014/main" val="808632961"/>
                    </a:ext>
                  </a:extLst>
                </a:gridCol>
                <a:gridCol w="1137424">
                  <a:extLst>
                    <a:ext uri="{9D8B030D-6E8A-4147-A177-3AD203B41FA5}">
                      <a16:colId xmlns:a16="http://schemas.microsoft.com/office/drawing/2014/main" val="1365748420"/>
                    </a:ext>
                  </a:extLst>
                </a:gridCol>
                <a:gridCol w="1137424">
                  <a:extLst>
                    <a:ext uri="{9D8B030D-6E8A-4147-A177-3AD203B41FA5}">
                      <a16:colId xmlns:a16="http://schemas.microsoft.com/office/drawing/2014/main" val="3901356575"/>
                    </a:ext>
                  </a:extLst>
                </a:gridCol>
                <a:gridCol w="1137424">
                  <a:extLst>
                    <a:ext uri="{9D8B030D-6E8A-4147-A177-3AD203B41FA5}">
                      <a16:colId xmlns:a16="http://schemas.microsoft.com/office/drawing/2014/main" val="966027205"/>
                    </a:ext>
                  </a:extLst>
                </a:gridCol>
              </a:tblGrid>
              <a:tr h="260831">
                <a:tc>
                  <a:txBody>
                    <a:bodyPr/>
                    <a:lstStyle/>
                    <a:p>
                      <a:r>
                        <a:rPr lang="en-US" dirty="0" smtClean="0"/>
                        <a:t>emotion</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2566105008"/>
                  </a:ext>
                </a:extLst>
              </a:tr>
              <a:tr h="534478">
                <a:tc>
                  <a:txBody>
                    <a:bodyPr/>
                    <a:lstStyle/>
                    <a:p>
                      <a:r>
                        <a:rPr lang="en-US" dirty="0" smtClean="0"/>
                        <a:t>average</a:t>
                      </a:r>
                      <a:endParaRPr lang="en-US" dirty="0"/>
                    </a:p>
                  </a:txBody>
                  <a:tcPr/>
                </a:tc>
                <a:tc>
                  <a:txBody>
                    <a:bodyPr/>
                    <a:lstStyle/>
                    <a:p>
                      <a:r>
                        <a:rPr lang="en-US" dirty="0" smtClean="0"/>
                        <a:t>0.84</a:t>
                      </a:r>
                      <a:endParaRPr lang="en-US" dirty="0"/>
                    </a:p>
                  </a:txBody>
                  <a:tcPr/>
                </a:tc>
                <a:tc>
                  <a:txBody>
                    <a:bodyPr/>
                    <a:lstStyle/>
                    <a:p>
                      <a:r>
                        <a:rPr lang="en-US" dirty="0" smtClean="0"/>
                        <a:t>0.86</a:t>
                      </a:r>
                      <a:endParaRPr lang="en-US" dirty="0"/>
                    </a:p>
                  </a:txBody>
                  <a:tcPr/>
                </a:tc>
                <a:tc>
                  <a:txBody>
                    <a:bodyPr/>
                    <a:lstStyle/>
                    <a:p>
                      <a:r>
                        <a:rPr lang="en-US" dirty="0" smtClean="0"/>
                        <a:t>0.61</a:t>
                      </a:r>
                      <a:endParaRPr lang="en-US" dirty="0"/>
                    </a:p>
                  </a:txBody>
                  <a:tcPr/>
                </a:tc>
                <a:tc>
                  <a:txBody>
                    <a:bodyPr/>
                    <a:lstStyle/>
                    <a:p>
                      <a:r>
                        <a:rPr lang="en-US" dirty="0" smtClean="0"/>
                        <a:t>0.75</a:t>
                      </a:r>
                      <a:endParaRPr lang="en-US" dirty="0"/>
                    </a:p>
                  </a:txBody>
                  <a:tcPr/>
                </a:tc>
                <a:tc>
                  <a:txBody>
                    <a:bodyPr/>
                    <a:lstStyle/>
                    <a:p>
                      <a:r>
                        <a:rPr lang="en-US" dirty="0" smtClean="0"/>
                        <a:t>0.79</a:t>
                      </a:r>
                      <a:endParaRPr lang="en-US" dirty="0"/>
                    </a:p>
                  </a:txBody>
                  <a:tcPr/>
                </a:tc>
                <a:tc>
                  <a:txBody>
                    <a:bodyPr/>
                    <a:lstStyle/>
                    <a:p>
                      <a:r>
                        <a:rPr lang="en-US" dirty="0" smtClean="0"/>
                        <a:t>0.77</a:t>
                      </a:r>
                      <a:endParaRPr lang="en-US" dirty="0"/>
                    </a:p>
                  </a:txBody>
                  <a:tcPr/>
                </a:tc>
                <a:extLst>
                  <a:ext uri="{0D108BD9-81ED-4DB2-BD59-A6C34878D82A}">
                    <a16:rowId xmlns:a16="http://schemas.microsoft.com/office/drawing/2014/main" val="1323346493"/>
                  </a:ext>
                </a:extLst>
              </a:tr>
            </a:tbl>
          </a:graphicData>
        </a:graphic>
      </p:graphicFrame>
      <p:sp>
        <p:nvSpPr>
          <p:cNvPr id="11" name="TextBox 10"/>
          <p:cNvSpPr txBox="1"/>
          <p:nvPr/>
        </p:nvSpPr>
        <p:spPr>
          <a:xfrm>
            <a:off x="653140" y="2939143"/>
            <a:ext cx="2794003" cy="307777"/>
          </a:xfrm>
          <a:prstGeom prst="rect">
            <a:avLst/>
          </a:prstGeom>
          <a:noFill/>
        </p:spPr>
        <p:txBody>
          <a:bodyPr wrap="square" rtlCol="0">
            <a:spAutoFit/>
          </a:bodyPr>
          <a:lstStyle/>
          <a:p>
            <a:r>
              <a:rPr lang="en-US" dirty="0" smtClean="0"/>
              <a:t>Threshold for Tec dataset</a:t>
            </a:r>
            <a:endParaRPr lang="en-US" dirty="0"/>
          </a:p>
        </p:txBody>
      </p:sp>
    </p:spTree>
    <p:extLst>
      <p:ext uri="{BB962C8B-B14F-4D97-AF65-F5344CB8AC3E}">
        <p14:creationId xmlns:p14="http://schemas.microsoft.com/office/powerpoint/2010/main" val="284393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Using the idea of threshold</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7</a:t>
            </a:fld>
            <a:endParaRPr lang="ja" altLang="en-US"/>
          </a:p>
        </p:txBody>
      </p:sp>
      <p:sp>
        <p:nvSpPr>
          <p:cNvPr id="5" name="TextBox 4"/>
          <p:cNvSpPr txBox="1"/>
          <p:nvPr/>
        </p:nvSpPr>
        <p:spPr>
          <a:xfrm>
            <a:off x="602343" y="936171"/>
            <a:ext cx="7373257" cy="1169551"/>
          </a:xfrm>
          <a:prstGeom prst="rect">
            <a:avLst/>
          </a:prstGeom>
          <a:noFill/>
        </p:spPr>
        <p:txBody>
          <a:bodyPr wrap="square" rtlCol="0">
            <a:spAutoFit/>
          </a:bodyPr>
          <a:lstStyle/>
          <a:p>
            <a:r>
              <a:rPr lang="en-US" dirty="0" smtClean="0"/>
              <a:t>It couldn’t lead to improvement</a:t>
            </a:r>
          </a:p>
          <a:p>
            <a:endParaRPr lang="en-US" dirty="0"/>
          </a:p>
          <a:p>
            <a:r>
              <a:rPr lang="en-US" dirty="0" smtClean="0"/>
              <a:t>For </a:t>
            </a:r>
            <a:r>
              <a:rPr lang="en-US" dirty="0" err="1" smtClean="0"/>
              <a:t>Isear</a:t>
            </a:r>
            <a:r>
              <a:rPr lang="en-US" dirty="0" smtClean="0"/>
              <a:t> dataset: Macro average F1: 0.51</a:t>
            </a:r>
          </a:p>
          <a:p>
            <a:endParaRPr lang="en-US" dirty="0"/>
          </a:p>
          <a:p>
            <a:r>
              <a:rPr lang="en-US" dirty="0" smtClean="0"/>
              <a:t>For Tec dataset: </a:t>
            </a:r>
            <a:r>
              <a:rPr lang="en-US" dirty="0"/>
              <a:t>Macro average F1</a:t>
            </a:r>
            <a:r>
              <a:rPr lang="en-US" dirty="0" smtClean="0"/>
              <a:t>: 0.3 </a:t>
            </a:r>
            <a:endParaRPr lang="en-US" dirty="0"/>
          </a:p>
        </p:txBody>
      </p:sp>
    </p:spTree>
    <p:extLst>
      <p:ext uri="{BB962C8B-B14F-4D97-AF65-F5344CB8AC3E}">
        <p14:creationId xmlns:p14="http://schemas.microsoft.com/office/powerpoint/2010/main" val="593216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p>
        </p:txBody>
      </p:sp>
      <p:sp>
        <p:nvSpPr>
          <p:cNvPr id="4" name="Slide Number Placeholder 3"/>
          <p:cNvSpPr>
            <a:spLocks noGrp="1"/>
          </p:cNvSpPr>
          <p:nvPr>
            <p:ph type="sldNum" idx="12"/>
          </p:nvPr>
        </p:nvSpPr>
        <p:spPr>
          <a:xfrm>
            <a:off x="8179550" y="4782457"/>
            <a:ext cx="964450" cy="400793"/>
          </a:xfrm>
        </p:spPr>
        <p:txBody>
          <a:bodyPr/>
          <a:lstStyle/>
          <a:p>
            <a:pPr marL="0" lvl="0" indent="0" algn="r" rtl="0">
              <a:spcBef>
                <a:spcPts val="0"/>
              </a:spcBef>
              <a:spcAft>
                <a:spcPts val="0"/>
              </a:spcAft>
              <a:buNone/>
            </a:pPr>
            <a:fld id="{00000000-1234-1234-1234-123412341234}" type="slidenum">
              <a:rPr lang="en-US" altLang="ja" smtClean="0"/>
              <a:t>8</a:t>
            </a:fld>
            <a:endParaRPr lang="ja" altLang="en-US"/>
          </a:p>
        </p:txBody>
      </p:sp>
      <p:sp>
        <p:nvSpPr>
          <p:cNvPr id="5" name="TextBox 4"/>
          <p:cNvSpPr txBox="1"/>
          <p:nvPr/>
        </p:nvSpPr>
        <p:spPr>
          <a:xfrm>
            <a:off x="362855" y="762760"/>
            <a:ext cx="8534399" cy="1384995"/>
          </a:xfrm>
          <a:prstGeom prst="rect">
            <a:avLst/>
          </a:prstGeom>
          <a:noFill/>
        </p:spPr>
        <p:txBody>
          <a:bodyPr wrap="square" rtlCol="0">
            <a:spAutoFit/>
          </a:bodyPr>
          <a:lstStyle/>
          <a:p>
            <a:r>
              <a:rPr lang="en-US" dirty="0" smtClean="0"/>
              <a:t>The average of entailment probabilities for each synonym of the true emotion in the dataset when the predicted label is true (when using average of entailment probabilities of synonyms, </a:t>
            </a:r>
            <a:r>
              <a:rPr lang="en-US" dirty="0" err="1" smtClean="0"/>
              <a:t>Isear</a:t>
            </a:r>
            <a:r>
              <a:rPr lang="en-US" dirty="0" smtClean="0"/>
              <a:t> dataset)</a:t>
            </a:r>
          </a:p>
          <a:p>
            <a:r>
              <a:rPr lang="en-US" dirty="0" smtClean="0"/>
              <a:t>   </a:t>
            </a:r>
          </a:p>
          <a:p>
            <a:r>
              <a:rPr lang="en-US" dirty="0" smtClean="0"/>
              <a:t>anger:</a:t>
            </a:r>
          </a:p>
          <a:p>
            <a:endParaRPr lang="en-US" dirty="0"/>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470630840"/>
              </p:ext>
            </p:extLst>
          </p:nvPr>
        </p:nvGraphicFramePr>
        <p:xfrm>
          <a:off x="518884" y="1708119"/>
          <a:ext cx="8222340" cy="1102360"/>
        </p:xfrm>
        <a:graphic>
          <a:graphicData uri="http://schemas.openxmlformats.org/drawingml/2006/table">
            <a:tbl>
              <a:tblPr firstRow="1" bandRow="1">
                <a:tableStyleId>{5C22544A-7EE6-4342-B048-85BDC9FD1C3A}</a:tableStyleId>
              </a:tblPr>
              <a:tblGrid>
                <a:gridCol w="1174620">
                  <a:extLst>
                    <a:ext uri="{9D8B030D-6E8A-4147-A177-3AD203B41FA5}">
                      <a16:colId xmlns:a16="http://schemas.microsoft.com/office/drawing/2014/main" val="3603832139"/>
                    </a:ext>
                  </a:extLst>
                </a:gridCol>
                <a:gridCol w="1174620">
                  <a:extLst>
                    <a:ext uri="{9D8B030D-6E8A-4147-A177-3AD203B41FA5}">
                      <a16:colId xmlns:a16="http://schemas.microsoft.com/office/drawing/2014/main" val="914479867"/>
                    </a:ext>
                  </a:extLst>
                </a:gridCol>
                <a:gridCol w="1174620">
                  <a:extLst>
                    <a:ext uri="{9D8B030D-6E8A-4147-A177-3AD203B41FA5}">
                      <a16:colId xmlns:a16="http://schemas.microsoft.com/office/drawing/2014/main" val="3830851643"/>
                    </a:ext>
                  </a:extLst>
                </a:gridCol>
                <a:gridCol w="1174620">
                  <a:extLst>
                    <a:ext uri="{9D8B030D-6E8A-4147-A177-3AD203B41FA5}">
                      <a16:colId xmlns:a16="http://schemas.microsoft.com/office/drawing/2014/main" val="2709983437"/>
                    </a:ext>
                  </a:extLst>
                </a:gridCol>
                <a:gridCol w="1174620">
                  <a:extLst>
                    <a:ext uri="{9D8B030D-6E8A-4147-A177-3AD203B41FA5}">
                      <a16:colId xmlns:a16="http://schemas.microsoft.com/office/drawing/2014/main" val="1185082481"/>
                    </a:ext>
                  </a:extLst>
                </a:gridCol>
                <a:gridCol w="1174620">
                  <a:extLst>
                    <a:ext uri="{9D8B030D-6E8A-4147-A177-3AD203B41FA5}">
                      <a16:colId xmlns:a16="http://schemas.microsoft.com/office/drawing/2014/main" val="887422139"/>
                    </a:ext>
                  </a:extLst>
                </a:gridCol>
                <a:gridCol w="1174620">
                  <a:extLst>
                    <a:ext uri="{9D8B030D-6E8A-4147-A177-3AD203B41FA5}">
                      <a16:colId xmlns:a16="http://schemas.microsoft.com/office/drawing/2014/main" val="2650393169"/>
                    </a:ext>
                  </a:extLst>
                </a:gridCol>
              </a:tblGrid>
              <a:tr h="370840">
                <a:tc>
                  <a:txBody>
                    <a:bodyPr/>
                    <a:lstStyle/>
                    <a:p>
                      <a:r>
                        <a:rPr lang="en-US" dirty="0" smtClean="0"/>
                        <a:t>synonym</a:t>
                      </a:r>
                      <a:endParaRPr lang="en-US" dirty="0"/>
                    </a:p>
                  </a:txBody>
                  <a:tcPr/>
                </a:tc>
                <a:tc>
                  <a:txBody>
                    <a:bodyPr/>
                    <a:lstStyle/>
                    <a:p>
                      <a:r>
                        <a:rPr lang="en-US" dirty="0" smtClean="0"/>
                        <a:t>anger</a:t>
                      </a:r>
                      <a:endParaRPr lang="en-US" dirty="0"/>
                    </a:p>
                  </a:txBody>
                  <a:tcPr/>
                </a:tc>
                <a:tc>
                  <a:txBody>
                    <a:bodyPr/>
                    <a:lstStyle/>
                    <a:p>
                      <a:r>
                        <a:rPr lang="en-US" dirty="0" smtClean="0"/>
                        <a:t>annoyance</a:t>
                      </a:r>
                      <a:endParaRPr lang="en-US" dirty="0"/>
                    </a:p>
                  </a:txBody>
                  <a:tcPr/>
                </a:tc>
                <a:tc>
                  <a:txBody>
                    <a:bodyPr/>
                    <a:lstStyle/>
                    <a:p>
                      <a:r>
                        <a:rPr lang="en-US" dirty="0" smtClean="0"/>
                        <a:t>rage</a:t>
                      </a:r>
                      <a:endParaRPr lang="en-US" dirty="0"/>
                    </a:p>
                  </a:txBody>
                  <a:tcPr/>
                </a:tc>
                <a:tc>
                  <a:txBody>
                    <a:bodyPr/>
                    <a:lstStyle/>
                    <a:p>
                      <a:r>
                        <a:rPr lang="en-US" dirty="0" smtClean="0"/>
                        <a:t>outrage</a:t>
                      </a:r>
                      <a:endParaRPr lang="en-US" dirty="0"/>
                    </a:p>
                  </a:txBody>
                  <a:tcPr/>
                </a:tc>
                <a:tc>
                  <a:txBody>
                    <a:bodyPr/>
                    <a:lstStyle/>
                    <a:p>
                      <a:r>
                        <a:rPr lang="en-US" dirty="0" smtClean="0"/>
                        <a:t>fury</a:t>
                      </a:r>
                      <a:endParaRPr lang="en-US" dirty="0"/>
                    </a:p>
                  </a:txBody>
                  <a:tcPr/>
                </a:tc>
                <a:tc>
                  <a:txBody>
                    <a:bodyPr/>
                    <a:lstStyle/>
                    <a:p>
                      <a:r>
                        <a:rPr lang="en-US" dirty="0" smtClean="0"/>
                        <a:t>irritation</a:t>
                      </a:r>
                      <a:endParaRPr lang="en-US" dirty="0"/>
                    </a:p>
                  </a:txBody>
                  <a:tcPr/>
                </a:tc>
                <a:extLst>
                  <a:ext uri="{0D108BD9-81ED-4DB2-BD59-A6C34878D82A}">
                    <a16:rowId xmlns:a16="http://schemas.microsoft.com/office/drawing/2014/main" val="3073573081"/>
                  </a:ext>
                </a:extLst>
              </a:tr>
              <a:tr h="370840">
                <a:tc>
                  <a:txBody>
                    <a:bodyPr/>
                    <a:lstStyle/>
                    <a:p>
                      <a:r>
                        <a:rPr lang="en-US" dirty="0" smtClean="0"/>
                        <a:t>Average of entailment probabilities </a:t>
                      </a:r>
                      <a:endParaRPr lang="en-US" dirty="0"/>
                    </a:p>
                  </a:txBody>
                  <a:tcPr/>
                </a:tc>
                <a:tc>
                  <a:txBody>
                    <a:bodyPr/>
                    <a:lstStyle/>
                    <a:p>
                      <a:r>
                        <a:rPr lang="en-US" dirty="0" smtClean="0"/>
                        <a:t>0.89</a:t>
                      </a:r>
                      <a:endParaRPr lang="en-US" dirty="0"/>
                    </a:p>
                  </a:txBody>
                  <a:tcPr/>
                </a:tc>
                <a:tc>
                  <a:txBody>
                    <a:bodyPr/>
                    <a:lstStyle/>
                    <a:p>
                      <a:r>
                        <a:rPr lang="en-US" dirty="0" smtClean="0"/>
                        <a:t>0.78</a:t>
                      </a:r>
                      <a:endParaRPr lang="en-US" dirty="0"/>
                    </a:p>
                  </a:txBody>
                  <a:tcPr/>
                </a:tc>
                <a:tc>
                  <a:txBody>
                    <a:bodyPr/>
                    <a:lstStyle/>
                    <a:p>
                      <a:r>
                        <a:rPr lang="en-US" dirty="0" smtClean="0"/>
                        <a:t>0.78</a:t>
                      </a:r>
                      <a:endParaRPr lang="en-US" dirty="0"/>
                    </a:p>
                  </a:txBody>
                  <a:tcPr/>
                </a:tc>
                <a:tc>
                  <a:txBody>
                    <a:bodyPr/>
                    <a:lstStyle/>
                    <a:p>
                      <a:r>
                        <a:rPr lang="en-US" dirty="0" smtClean="0"/>
                        <a:t>0.84</a:t>
                      </a:r>
                      <a:endParaRPr lang="en-US" dirty="0"/>
                    </a:p>
                  </a:txBody>
                  <a:tcPr/>
                </a:tc>
                <a:tc>
                  <a:txBody>
                    <a:bodyPr/>
                    <a:lstStyle/>
                    <a:p>
                      <a:r>
                        <a:rPr lang="en-US" dirty="0" smtClean="0"/>
                        <a:t>0.79</a:t>
                      </a:r>
                      <a:endParaRPr lang="en-US" dirty="0"/>
                    </a:p>
                  </a:txBody>
                  <a:tcPr/>
                </a:tc>
                <a:tc>
                  <a:txBody>
                    <a:bodyPr/>
                    <a:lstStyle/>
                    <a:p>
                      <a:r>
                        <a:rPr lang="en-US" dirty="0" smtClean="0"/>
                        <a:t>0.93</a:t>
                      </a:r>
                      <a:endParaRPr lang="en-US" dirty="0"/>
                    </a:p>
                  </a:txBody>
                  <a:tcPr/>
                </a:tc>
                <a:extLst>
                  <a:ext uri="{0D108BD9-81ED-4DB2-BD59-A6C34878D82A}">
                    <a16:rowId xmlns:a16="http://schemas.microsoft.com/office/drawing/2014/main" val="397868271"/>
                  </a:ext>
                </a:extLst>
              </a:tr>
            </a:tbl>
          </a:graphicData>
        </a:graphic>
      </p:graphicFrame>
      <p:sp>
        <p:nvSpPr>
          <p:cNvPr id="7" name="TextBox 6"/>
          <p:cNvSpPr txBox="1"/>
          <p:nvPr/>
        </p:nvSpPr>
        <p:spPr>
          <a:xfrm>
            <a:off x="602344" y="3004041"/>
            <a:ext cx="7293429" cy="307777"/>
          </a:xfrm>
          <a:prstGeom prst="rect">
            <a:avLst/>
          </a:prstGeom>
          <a:noFill/>
        </p:spPr>
        <p:txBody>
          <a:bodyPr wrap="square" rtlCol="0">
            <a:spAutoFit/>
          </a:bodyPr>
          <a:lstStyle/>
          <a:p>
            <a:r>
              <a:rPr lang="en-US" dirty="0"/>
              <a:t>d</a:t>
            </a:r>
            <a:r>
              <a:rPr lang="en-US" dirty="0" smtClean="0"/>
              <a:t>isgust: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4025733247"/>
              </p:ext>
            </p:extLst>
          </p:nvPr>
        </p:nvGraphicFramePr>
        <p:xfrm>
          <a:off x="602344" y="3414302"/>
          <a:ext cx="8352967" cy="1102360"/>
        </p:xfrm>
        <a:graphic>
          <a:graphicData uri="http://schemas.openxmlformats.org/drawingml/2006/table">
            <a:tbl>
              <a:tblPr firstRow="1" bandRow="1">
                <a:tableStyleId>{5C22544A-7EE6-4342-B048-85BDC9FD1C3A}</a:tableStyleId>
              </a:tblPr>
              <a:tblGrid>
                <a:gridCol w="1193281">
                  <a:extLst>
                    <a:ext uri="{9D8B030D-6E8A-4147-A177-3AD203B41FA5}">
                      <a16:colId xmlns:a16="http://schemas.microsoft.com/office/drawing/2014/main" val="2515422670"/>
                    </a:ext>
                  </a:extLst>
                </a:gridCol>
                <a:gridCol w="1193281">
                  <a:extLst>
                    <a:ext uri="{9D8B030D-6E8A-4147-A177-3AD203B41FA5}">
                      <a16:colId xmlns:a16="http://schemas.microsoft.com/office/drawing/2014/main" val="711805182"/>
                    </a:ext>
                  </a:extLst>
                </a:gridCol>
                <a:gridCol w="1193281">
                  <a:extLst>
                    <a:ext uri="{9D8B030D-6E8A-4147-A177-3AD203B41FA5}">
                      <a16:colId xmlns:a16="http://schemas.microsoft.com/office/drawing/2014/main" val="3213908025"/>
                    </a:ext>
                  </a:extLst>
                </a:gridCol>
                <a:gridCol w="1193281">
                  <a:extLst>
                    <a:ext uri="{9D8B030D-6E8A-4147-A177-3AD203B41FA5}">
                      <a16:colId xmlns:a16="http://schemas.microsoft.com/office/drawing/2014/main" val="1470325924"/>
                    </a:ext>
                  </a:extLst>
                </a:gridCol>
                <a:gridCol w="1193281">
                  <a:extLst>
                    <a:ext uri="{9D8B030D-6E8A-4147-A177-3AD203B41FA5}">
                      <a16:colId xmlns:a16="http://schemas.microsoft.com/office/drawing/2014/main" val="3784753392"/>
                    </a:ext>
                  </a:extLst>
                </a:gridCol>
                <a:gridCol w="1193281">
                  <a:extLst>
                    <a:ext uri="{9D8B030D-6E8A-4147-A177-3AD203B41FA5}">
                      <a16:colId xmlns:a16="http://schemas.microsoft.com/office/drawing/2014/main" val="3157324177"/>
                    </a:ext>
                  </a:extLst>
                </a:gridCol>
                <a:gridCol w="1193281">
                  <a:extLst>
                    <a:ext uri="{9D8B030D-6E8A-4147-A177-3AD203B41FA5}">
                      <a16:colId xmlns:a16="http://schemas.microsoft.com/office/drawing/2014/main" val="1033398870"/>
                    </a:ext>
                  </a:extLst>
                </a:gridCol>
              </a:tblGrid>
              <a:tr h="370840">
                <a:tc>
                  <a:txBody>
                    <a:bodyPr/>
                    <a:lstStyle/>
                    <a:p>
                      <a:r>
                        <a:rPr lang="en-US" dirty="0" smtClean="0"/>
                        <a:t>synonym</a:t>
                      </a:r>
                      <a:endParaRPr lang="en-US" dirty="0"/>
                    </a:p>
                  </a:txBody>
                  <a:tcPr/>
                </a:tc>
                <a:tc>
                  <a:txBody>
                    <a:bodyPr/>
                    <a:lstStyle/>
                    <a:p>
                      <a:r>
                        <a:rPr lang="en-US" dirty="0" smtClean="0"/>
                        <a:t>disgust</a:t>
                      </a:r>
                      <a:endParaRPr lang="en-US" dirty="0"/>
                    </a:p>
                  </a:txBody>
                  <a:tcPr/>
                </a:tc>
                <a:tc>
                  <a:txBody>
                    <a:bodyPr/>
                    <a:lstStyle/>
                    <a:p>
                      <a:r>
                        <a:rPr lang="en-US" dirty="0" smtClean="0"/>
                        <a:t>loathing</a:t>
                      </a:r>
                      <a:endParaRPr lang="en-US" dirty="0"/>
                    </a:p>
                  </a:txBody>
                  <a:tcPr/>
                </a:tc>
                <a:tc>
                  <a:txBody>
                    <a:bodyPr/>
                    <a:lstStyle/>
                    <a:p>
                      <a:r>
                        <a:rPr lang="en-US" dirty="0" smtClean="0"/>
                        <a:t>bitter</a:t>
                      </a:r>
                      <a:endParaRPr lang="en-US" dirty="0"/>
                    </a:p>
                  </a:txBody>
                  <a:tcPr/>
                </a:tc>
                <a:tc>
                  <a:txBody>
                    <a:bodyPr/>
                    <a:lstStyle/>
                    <a:p>
                      <a:r>
                        <a:rPr lang="en-US" dirty="0" smtClean="0"/>
                        <a:t>ugly</a:t>
                      </a:r>
                      <a:endParaRPr lang="en-US" dirty="0"/>
                    </a:p>
                  </a:txBody>
                  <a:tcPr/>
                </a:tc>
                <a:tc>
                  <a:txBody>
                    <a:bodyPr/>
                    <a:lstStyle/>
                    <a:p>
                      <a:r>
                        <a:rPr lang="en-US" dirty="0" smtClean="0"/>
                        <a:t>repugnance</a:t>
                      </a:r>
                      <a:endParaRPr lang="en-US" dirty="0"/>
                    </a:p>
                  </a:txBody>
                  <a:tcPr/>
                </a:tc>
                <a:tc>
                  <a:txBody>
                    <a:bodyPr/>
                    <a:lstStyle/>
                    <a:p>
                      <a:r>
                        <a:rPr lang="en-US" dirty="0" smtClean="0"/>
                        <a:t>revulsion</a:t>
                      </a:r>
                      <a:endParaRPr lang="en-US" dirty="0"/>
                    </a:p>
                  </a:txBody>
                  <a:tcPr/>
                </a:tc>
                <a:extLst>
                  <a:ext uri="{0D108BD9-81ED-4DB2-BD59-A6C34878D82A}">
                    <a16:rowId xmlns:a16="http://schemas.microsoft.com/office/drawing/2014/main" val="2751846203"/>
                  </a:ext>
                </a:extLst>
              </a:tr>
              <a:tr h="370840">
                <a:tc>
                  <a:txBody>
                    <a:bodyPr/>
                    <a:lstStyle/>
                    <a:p>
                      <a:r>
                        <a:rPr lang="en-US" dirty="0" smtClean="0"/>
                        <a:t>Average of entailment probabilities </a:t>
                      </a:r>
                      <a:endParaRPr lang="en-US" dirty="0"/>
                    </a:p>
                  </a:txBody>
                  <a:tcPr/>
                </a:tc>
                <a:tc>
                  <a:txBody>
                    <a:bodyPr/>
                    <a:lstStyle/>
                    <a:p>
                      <a:r>
                        <a:rPr lang="en-US" dirty="0" smtClean="0"/>
                        <a:t>0.92</a:t>
                      </a:r>
                      <a:endParaRPr lang="en-US" dirty="0"/>
                    </a:p>
                  </a:txBody>
                  <a:tcPr/>
                </a:tc>
                <a:tc>
                  <a:txBody>
                    <a:bodyPr/>
                    <a:lstStyle/>
                    <a:p>
                      <a:r>
                        <a:rPr lang="en-US" dirty="0" smtClean="0"/>
                        <a:t>0.84</a:t>
                      </a:r>
                      <a:endParaRPr lang="en-US" dirty="0"/>
                    </a:p>
                  </a:txBody>
                  <a:tcPr/>
                </a:tc>
                <a:tc>
                  <a:txBody>
                    <a:bodyPr/>
                    <a:lstStyle/>
                    <a:p>
                      <a:r>
                        <a:rPr lang="en-US" dirty="0" smtClean="0"/>
                        <a:t>0.72</a:t>
                      </a:r>
                      <a:endParaRPr lang="en-US" dirty="0"/>
                    </a:p>
                  </a:txBody>
                  <a:tcPr/>
                </a:tc>
                <a:tc>
                  <a:txBody>
                    <a:bodyPr/>
                    <a:lstStyle/>
                    <a:p>
                      <a:r>
                        <a:rPr lang="en-US" dirty="0" smtClean="0"/>
                        <a:t>0.81</a:t>
                      </a:r>
                      <a:endParaRPr lang="en-US" dirty="0"/>
                    </a:p>
                  </a:txBody>
                  <a:tcPr/>
                </a:tc>
                <a:tc>
                  <a:txBody>
                    <a:bodyPr/>
                    <a:lstStyle/>
                    <a:p>
                      <a:r>
                        <a:rPr lang="en-US" dirty="0" smtClean="0"/>
                        <a:t>0.95</a:t>
                      </a:r>
                      <a:endParaRPr lang="en-US" dirty="0"/>
                    </a:p>
                  </a:txBody>
                  <a:tcPr/>
                </a:tc>
                <a:tc>
                  <a:txBody>
                    <a:bodyPr/>
                    <a:lstStyle/>
                    <a:p>
                      <a:r>
                        <a:rPr lang="en-US" dirty="0" smtClean="0"/>
                        <a:t>0.91</a:t>
                      </a:r>
                      <a:endParaRPr lang="en-US" dirty="0"/>
                    </a:p>
                  </a:txBody>
                  <a:tcPr/>
                </a:tc>
                <a:extLst>
                  <a:ext uri="{0D108BD9-81ED-4DB2-BD59-A6C34878D82A}">
                    <a16:rowId xmlns:a16="http://schemas.microsoft.com/office/drawing/2014/main" val="2053983885"/>
                  </a:ext>
                </a:extLst>
              </a:tr>
            </a:tbl>
          </a:graphicData>
        </a:graphic>
      </p:graphicFrame>
    </p:spTree>
    <p:extLst>
      <p:ext uri="{BB962C8B-B14F-4D97-AF65-F5344CB8AC3E}">
        <p14:creationId xmlns:p14="http://schemas.microsoft.com/office/powerpoint/2010/main" val="1863348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529" y="43543"/>
            <a:ext cx="8520600" cy="572700"/>
          </a:xfrm>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9</a:t>
            </a:fld>
            <a:endParaRPr lang="ja" altLang="en-US"/>
          </a:p>
        </p:txBody>
      </p:sp>
      <p:graphicFrame>
        <p:nvGraphicFramePr>
          <p:cNvPr id="6" name="Table 5"/>
          <p:cNvGraphicFramePr>
            <a:graphicFrameLocks noGrp="1"/>
          </p:cNvGraphicFramePr>
          <p:nvPr>
            <p:extLst>
              <p:ext uri="{D42A27DB-BD31-4B8C-83A1-F6EECF244321}">
                <p14:modId xmlns:p14="http://schemas.microsoft.com/office/powerpoint/2010/main" val="2128285224"/>
              </p:ext>
            </p:extLst>
          </p:nvPr>
        </p:nvGraphicFramePr>
        <p:xfrm>
          <a:off x="562829" y="1308411"/>
          <a:ext cx="8008658" cy="1102360"/>
        </p:xfrm>
        <a:graphic>
          <a:graphicData uri="http://schemas.openxmlformats.org/drawingml/2006/table">
            <a:tbl>
              <a:tblPr firstRow="1" bandRow="1">
                <a:tableStyleId>{5C22544A-7EE6-4342-B048-85BDC9FD1C3A}</a:tableStyleId>
              </a:tblPr>
              <a:tblGrid>
                <a:gridCol w="1144094">
                  <a:extLst>
                    <a:ext uri="{9D8B030D-6E8A-4147-A177-3AD203B41FA5}">
                      <a16:colId xmlns:a16="http://schemas.microsoft.com/office/drawing/2014/main" val="4049186754"/>
                    </a:ext>
                  </a:extLst>
                </a:gridCol>
                <a:gridCol w="1144094">
                  <a:extLst>
                    <a:ext uri="{9D8B030D-6E8A-4147-A177-3AD203B41FA5}">
                      <a16:colId xmlns:a16="http://schemas.microsoft.com/office/drawing/2014/main" val="1864259392"/>
                    </a:ext>
                  </a:extLst>
                </a:gridCol>
                <a:gridCol w="1144094">
                  <a:extLst>
                    <a:ext uri="{9D8B030D-6E8A-4147-A177-3AD203B41FA5}">
                      <a16:colId xmlns:a16="http://schemas.microsoft.com/office/drawing/2014/main" val="3175270220"/>
                    </a:ext>
                  </a:extLst>
                </a:gridCol>
                <a:gridCol w="1144094">
                  <a:extLst>
                    <a:ext uri="{9D8B030D-6E8A-4147-A177-3AD203B41FA5}">
                      <a16:colId xmlns:a16="http://schemas.microsoft.com/office/drawing/2014/main" val="2053500463"/>
                    </a:ext>
                  </a:extLst>
                </a:gridCol>
                <a:gridCol w="1144094">
                  <a:extLst>
                    <a:ext uri="{9D8B030D-6E8A-4147-A177-3AD203B41FA5}">
                      <a16:colId xmlns:a16="http://schemas.microsoft.com/office/drawing/2014/main" val="1663986125"/>
                    </a:ext>
                  </a:extLst>
                </a:gridCol>
                <a:gridCol w="1144094">
                  <a:extLst>
                    <a:ext uri="{9D8B030D-6E8A-4147-A177-3AD203B41FA5}">
                      <a16:colId xmlns:a16="http://schemas.microsoft.com/office/drawing/2014/main" val="3168953696"/>
                    </a:ext>
                  </a:extLst>
                </a:gridCol>
                <a:gridCol w="1144094">
                  <a:extLst>
                    <a:ext uri="{9D8B030D-6E8A-4147-A177-3AD203B41FA5}">
                      <a16:colId xmlns:a16="http://schemas.microsoft.com/office/drawing/2014/main" val="2105327687"/>
                    </a:ext>
                  </a:extLst>
                </a:gridCol>
              </a:tblGrid>
              <a:tr h="370840">
                <a:tc>
                  <a:txBody>
                    <a:bodyPr/>
                    <a:lstStyle/>
                    <a:p>
                      <a:r>
                        <a:rPr lang="en-US" dirty="0" smtClean="0"/>
                        <a:t>synonym</a:t>
                      </a:r>
                      <a:endParaRPr lang="en-US" dirty="0"/>
                    </a:p>
                  </a:txBody>
                  <a:tcPr/>
                </a:tc>
                <a:tc>
                  <a:txBody>
                    <a:bodyPr/>
                    <a:lstStyle/>
                    <a:p>
                      <a:r>
                        <a:rPr lang="en-US" dirty="0" smtClean="0"/>
                        <a:t>fear</a:t>
                      </a:r>
                      <a:endParaRPr lang="en-US" dirty="0"/>
                    </a:p>
                  </a:txBody>
                  <a:tcPr/>
                </a:tc>
                <a:tc>
                  <a:txBody>
                    <a:bodyPr/>
                    <a:lstStyle/>
                    <a:p>
                      <a:r>
                        <a:rPr lang="en-US" dirty="0" smtClean="0"/>
                        <a:t>horror</a:t>
                      </a:r>
                      <a:endParaRPr lang="en-US" dirty="0"/>
                    </a:p>
                  </a:txBody>
                  <a:tcPr/>
                </a:tc>
                <a:tc>
                  <a:txBody>
                    <a:bodyPr/>
                    <a:lstStyle/>
                    <a:p>
                      <a:r>
                        <a:rPr lang="en-US" dirty="0" smtClean="0"/>
                        <a:t>anxiety</a:t>
                      </a:r>
                      <a:endParaRPr lang="en-US" dirty="0"/>
                    </a:p>
                  </a:txBody>
                  <a:tcPr/>
                </a:tc>
                <a:tc>
                  <a:txBody>
                    <a:bodyPr/>
                    <a:lstStyle/>
                    <a:p>
                      <a:r>
                        <a:rPr lang="en-US" dirty="0" smtClean="0"/>
                        <a:t>terror</a:t>
                      </a:r>
                      <a:endParaRPr lang="en-US" dirty="0"/>
                    </a:p>
                  </a:txBody>
                  <a:tcPr/>
                </a:tc>
                <a:tc>
                  <a:txBody>
                    <a:bodyPr/>
                    <a:lstStyle/>
                    <a:p>
                      <a:r>
                        <a:rPr lang="en-US" dirty="0" smtClean="0"/>
                        <a:t>dread</a:t>
                      </a:r>
                      <a:endParaRPr lang="en-US" dirty="0"/>
                    </a:p>
                  </a:txBody>
                  <a:tcPr/>
                </a:tc>
                <a:tc>
                  <a:txBody>
                    <a:bodyPr/>
                    <a:lstStyle/>
                    <a:p>
                      <a:r>
                        <a:rPr lang="en-US" dirty="0" smtClean="0"/>
                        <a:t>scare</a:t>
                      </a:r>
                      <a:endParaRPr lang="en-US" dirty="0"/>
                    </a:p>
                  </a:txBody>
                  <a:tcPr/>
                </a:tc>
                <a:extLst>
                  <a:ext uri="{0D108BD9-81ED-4DB2-BD59-A6C34878D82A}">
                    <a16:rowId xmlns:a16="http://schemas.microsoft.com/office/drawing/2014/main" val="2373476349"/>
                  </a:ext>
                </a:extLst>
              </a:tr>
              <a:tr h="370840">
                <a:tc>
                  <a:txBody>
                    <a:bodyPr/>
                    <a:lstStyle/>
                    <a:p>
                      <a:r>
                        <a:rPr lang="en-US" dirty="0" smtClean="0"/>
                        <a:t>Average of entailment probabilities </a:t>
                      </a:r>
                      <a:endParaRPr lang="en-US" dirty="0"/>
                    </a:p>
                  </a:txBody>
                  <a:tcPr/>
                </a:tc>
                <a:tc>
                  <a:txBody>
                    <a:bodyPr/>
                    <a:lstStyle/>
                    <a:p>
                      <a:r>
                        <a:rPr lang="en-US" dirty="0" smtClean="0"/>
                        <a:t>0.96</a:t>
                      </a:r>
                      <a:endParaRPr lang="en-US" dirty="0"/>
                    </a:p>
                  </a:txBody>
                  <a:tcPr/>
                </a:tc>
                <a:tc>
                  <a:txBody>
                    <a:bodyPr/>
                    <a:lstStyle/>
                    <a:p>
                      <a:r>
                        <a:rPr lang="en-US" dirty="0" smtClean="0"/>
                        <a:t>0.82</a:t>
                      </a:r>
                      <a:endParaRPr lang="en-US" dirty="0"/>
                    </a:p>
                  </a:txBody>
                  <a:tcPr/>
                </a:tc>
                <a:tc>
                  <a:txBody>
                    <a:bodyPr/>
                    <a:lstStyle/>
                    <a:p>
                      <a:r>
                        <a:rPr lang="en-US" dirty="0" smtClean="0"/>
                        <a:t>0.93</a:t>
                      </a:r>
                      <a:endParaRPr lang="en-US" dirty="0"/>
                    </a:p>
                  </a:txBody>
                  <a:tcPr/>
                </a:tc>
                <a:tc>
                  <a:txBody>
                    <a:bodyPr/>
                    <a:lstStyle/>
                    <a:p>
                      <a:r>
                        <a:rPr lang="en-US" dirty="0" smtClean="0"/>
                        <a:t>0.89</a:t>
                      </a:r>
                      <a:endParaRPr lang="en-US" dirty="0"/>
                    </a:p>
                  </a:txBody>
                  <a:tcPr/>
                </a:tc>
                <a:tc>
                  <a:txBody>
                    <a:bodyPr/>
                    <a:lstStyle/>
                    <a:p>
                      <a:r>
                        <a:rPr lang="en-US" dirty="0" smtClean="0"/>
                        <a:t>0.9</a:t>
                      </a:r>
                      <a:endParaRPr lang="en-US" dirty="0"/>
                    </a:p>
                  </a:txBody>
                  <a:tcPr/>
                </a:tc>
                <a:tc>
                  <a:txBody>
                    <a:bodyPr/>
                    <a:lstStyle/>
                    <a:p>
                      <a:r>
                        <a:rPr lang="en-US" dirty="0" smtClean="0"/>
                        <a:t>0.96</a:t>
                      </a:r>
                      <a:endParaRPr lang="en-US" dirty="0"/>
                    </a:p>
                  </a:txBody>
                  <a:tcPr/>
                </a:tc>
                <a:extLst>
                  <a:ext uri="{0D108BD9-81ED-4DB2-BD59-A6C34878D82A}">
                    <a16:rowId xmlns:a16="http://schemas.microsoft.com/office/drawing/2014/main" val="3384291579"/>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112761809"/>
              </p:ext>
            </p:extLst>
          </p:nvPr>
        </p:nvGraphicFramePr>
        <p:xfrm>
          <a:off x="545087" y="3267011"/>
          <a:ext cx="8541655" cy="1384301"/>
        </p:xfrm>
        <a:graphic>
          <a:graphicData uri="http://schemas.openxmlformats.org/drawingml/2006/table">
            <a:tbl>
              <a:tblPr firstRow="1" bandRow="1">
                <a:tableStyleId>{5C22544A-7EE6-4342-B048-85BDC9FD1C3A}</a:tableStyleId>
              </a:tblPr>
              <a:tblGrid>
                <a:gridCol w="1221335">
                  <a:extLst>
                    <a:ext uri="{9D8B030D-6E8A-4147-A177-3AD203B41FA5}">
                      <a16:colId xmlns:a16="http://schemas.microsoft.com/office/drawing/2014/main" val="3338175615"/>
                    </a:ext>
                  </a:extLst>
                </a:gridCol>
                <a:gridCol w="1221335">
                  <a:extLst>
                    <a:ext uri="{9D8B030D-6E8A-4147-A177-3AD203B41FA5}">
                      <a16:colId xmlns:a16="http://schemas.microsoft.com/office/drawing/2014/main" val="2242755861"/>
                    </a:ext>
                  </a:extLst>
                </a:gridCol>
                <a:gridCol w="1221335">
                  <a:extLst>
                    <a:ext uri="{9D8B030D-6E8A-4147-A177-3AD203B41FA5}">
                      <a16:colId xmlns:a16="http://schemas.microsoft.com/office/drawing/2014/main" val="1956018544"/>
                    </a:ext>
                  </a:extLst>
                </a:gridCol>
                <a:gridCol w="1221335">
                  <a:extLst>
                    <a:ext uri="{9D8B030D-6E8A-4147-A177-3AD203B41FA5}">
                      <a16:colId xmlns:a16="http://schemas.microsoft.com/office/drawing/2014/main" val="3142988322"/>
                    </a:ext>
                  </a:extLst>
                </a:gridCol>
                <a:gridCol w="1221335">
                  <a:extLst>
                    <a:ext uri="{9D8B030D-6E8A-4147-A177-3AD203B41FA5}">
                      <a16:colId xmlns:a16="http://schemas.microsoft.com/office/drawing/2014/main" val="3662823564"/>
                    </a:ext>
                  </a:extLst>
                </a:gridCol>
                <a:gridCol w="1221335">
                  <a:extLst>
                    <a:ext uri="{9D8B030D-6E8A-4147-A177-3AD203B41FA5}">
                      <a16:colId xmlns:a16="http://schemas.microsoft.com/office/drawing/2014/main" val="3454475764"/>
                    </a:ext>
                  </a:extLst>
                </a:gridCol>
                <a:gridCol w="1213645">
                  <a:extLst>
                    <a:ext uri="{9D8B030D-6E8A-4147-A177-3AD203B41FA5}">
                      <a16:colId xmlns:a16="http://schemas.microsoft.com/office/drawing/2014/main" val="3263443108"/>
                    </a:ext>
                  </a:extLst>
                </a:gridCol>
              </a:tblGrid>
              <a:tr h="652781">
                <a:tc>
                  <a:txBody>
                    <a:bodyPr/>
                    <a:lstStyle/>
                    <a:p>
                      <a:r>
                        <a:rPr lang="en-US" dirty="0" smtClean="0"/>
                        <a:t>synonym</a:t>
                      </a:r>
                      <a:endParaRPr lang="en-US" dirty="0"/>
                    </a:p>
                  </a:txBody>
                  <a:tcPr/>
                </a:tc>
                <a:tc>
                  <a:txBody>
                    <a:bodyPr/>
                    <a:lstStyle/>
                    <a:p>
                      <a:r>
                        <a:rPr lang="en-US" dirty="0" smtClean="0"/>
                        <a:t>guilt</a:t>
                      </a:r>
                      <a:endParaRPr lang="en-US" dirty="0"/>
                    </a:p>
                  </a:txBody>
                  <a:tcPr/>
                </a:tc>
                <a:tc>
                  <a:txBody>
                    <a:bodyPr/>
                    <a:lstStyle/>
                    <a:p>
                      <a:r>
                        <a:rPr lang="en-US" dirty="0" smtClean="0"/>
                        <a:t>culpability</a:t>
                      </a:r>
                      <a:endParaRPr lang="en-US" dirty="0"/>
                    </a:p>
                  </a:txBody>
                  <a:tcPr/>
                </a:tc>
                <a:tc>
                  <a:txBody>
                    <a:bodyPr/>
                    <a:lstStyle/>
                    <a:p>
                      <a:r>
                        <a:rPr lang="en-US" dirty="0" smtClean="0"/>
                        <a:t>blameworthy</a:t>
                      </a:r>
                      <a:endParaRPr lang="en-US" dirty="0"/>
                    </a:p>
                  </a:txBody>
                  <a:tcPr/>
                </a:tc>
                <a:tc>
                  <a:txBody>
                    <a:bodyPr/>
                    <a:lstStyle/>
                    <a:p>
                      <a:r>
                        <a:rPr lang="en-US" dirty="0" smtClean="0"/>
                        <a:t>responsibility</a:t>
                      </a:r>
                      <a:endParaRPr lang="en-US" dirty="0"/>
                    </a:p>
                  </a:txBody>
                  <a:tcPr/>
                </a:tc>
                <a:tc>
                  <a:txBody>
                    <a:bodyPr/>
                    <a:lstStyle/>
                    <a:p>
                      <a:r>
                        <a:rPr lang="en-US" dirty="0" smtClean="0"/>
                        <a:t>misconduct</a:t>
                      </a:r>
                      <a:endParaRPr lang="en-US" dirty="0"/>
                    </a:p>
                  </a:txBody>
                  <a:tcPr/>
                </a:tc>
                <a:tc>
                  <a:txBody>
                    <a:bodyPr/>
                    <a:lstStyle/>
                    <a:p>
                      <a:r>
                        <a:rPr lang="en-US" dirty="0" smtClean="0"/>
                        <a:t>regret</a:t>
                      </a:r>
                      <a:endParaRPr lang="en-US" dirty="0"/>
                    </a:p>
                  </a:txBody>
                  <a:tcPr/>
                </a:tc>
                <a:extLst>
                  <a:ext uri="{0D108BD9-81ED-4DB2-BD59-A6C34878D82A}">
                    <a16:rowId xmlns:a16="http://schemas.microsoft.com/office/drawing/2014/main" val="685519679"/>
                  </a:ext>
                </a:extLst>
              </a:tr>
              <a:tr h="551904">
                <a:tc>
                  <a:txBody>
                    <a:bodyPr/>
                    <a:lstStyle/>
                    <a:p>
                      <a:r>
                        <a:rPr lang="en-US" dirty="0" smtClean="0"/>
                        <a:t>Average of entailment probabilities </a:t>
                      </a:r>
                      <a:endParaRPr lang="en-US" dirty="0"/>
                    </a:p>
                  </a:txBody>
                  <a:tcPr/>
                </a:tc>
                <a:tc>
                  <a:txBody>
                    <a:bodyPr/>
                    <a:lstStyle/>
                    <a:p>
                      <a:r>
                        <a:rPr lang="en-US" dirty="0" smtClean="0"/>
                        <a:t>0.9</a:t>
                      </a:r>
                      <a:endParaRPr lang="en-US" dirty="0"/>
                    </a:p>
                  </a:txBody>
                  <a:tcPr/>
                </a:tc>
                <a:tc>
                  <a:txBody>
                    <a:bodyPr/>
                    <a:lstStyle/>
                    <a:p>
                      <a:r>
                        <a:rPr lang="en-US" dirty="0" smtClean="0"/>
                        <a:t>0.94</a:t>
                      </a:r>
                      <a:endParaRPr lang="en-US" dirty="0"/>
                    </a:p>
                  </a:txBody>
                  <a:tcPr/>
                </a:tc>
                <a:tc>
                  <a:txBody>
                    <a:bodyPr/>
                    <a:lstStyle/>
                    <a:p>
                      <a:r>
                        <a:rPr lang="en-US" dirty="0" smtClean="0"/>
                        <a:t>0.9</a:t>
                      </a:r>
                      <a:endParaRPr lang="en-US" dirty="0"/>
                    </a:p>
                  </a:txBody>
                  <a:tcPr/>
                </a:tc>
                <a:tc>
                  <a:txBody>
                    <a:bodyPr/>
                    <a:lstStyle/>
                    <a:p>
                      <a:r>
                        <a:rPr lang="en-US" dirty="0" smtClean="0"/>
                        <a:t>0.78</a:t>
                      </a:r>
                      <a:endParaRPr lang="en-US" dirty="0"/>
                    </a:p>
                  </a:txBody>
                  <a:tcPr/>
                </a:tc>
                <a:tc>
                  <a:txBody>
                    <a:bodyPr/>
                    <a:lstStyle/>
                    <a:p>
                      <a:r>
                        <a:rPr lang="en-US" dirty="0" smtClean="0"/>
                        <a:t>0.83</a:t>
                      </a:r>
                      <a:endParaRPr lang="en-US" dirty="0"/>
                    </a:p>
                  </a:txBody>
                  <a:tcPr/>
                </a:tc>
                <a:tc>
                  <a:txBody>
                    <a:bodyPr/>
                    <a:lstStyle/>
                    <a:p>
                      <a:r>
                        <a:rPr lang="en-US" dirty="0" smtClean="0"/>
                        <a:t>0.85</a:t>
                      </a:r>
                      <a:endParaRPr lang="en-US" dirty="0"/>
                    </a:p>
                  </a:txBody>
                  <a:tcPr/>
                </a:tc>
                <a:extLst>
                  <a:ext uri="{0D108BD9-81ED-4DB2-BD59-A6C34878D82A}">
                    <a16:rowId xmlns:a16="http://schemas.microsoft.com/office/drawing/2014/main" val="1115609313"/>
                  </a:ext>
                </a:extLst>
              </a:tr>
            </a:tbl>
          </a:graphicData>
        </a:graphic>
      </p:graphicFrame>
      <p:sp>
        <p:nvSpPr>
          <p:cNvPr id="9" name="TextBox 8"/>
          <p:cNvSpPr txBox="1"/>
          <p:nvPr/>
        </p:nvSpPr>
        <p:spPr>
          <a:xfrm>
            <a:off x="541057" y="818478"/>
            <a:ext cx="1219200" cy="307777"/>
          </a:xfrm>
          <a:prstGeom prst="rect">
            <a:avLst/>
          </a:prstGeom>
          <a:noFill/>
        </p:spPr>
        <p:txBody>
          <a:bodyPr wrap="square" rtlCol="0">
            <a:spAutoFit/>
          </a:bodyPr>
          <a:lstStyle/>
          <a:p>
            <a:r>
              <a:rPr lang="en-US" dirty="0"/>
              <a:t>f</a:t>
            </a:r>
            <a:r>
              <a:rPr lang="en-US" dirty="0" smtClean="0"/>
              <a:t>ear:</a:t>
            </a:r>
            <a:endParaRPr lang="en-US" dirty="0"/>
          </a:p>
        </p:txBody>
      </p:sp>
      <p:sp>
        <p:nvSpPr>
          <p:cNvPr id="10" name="TextBox 9"/>
          <p:cNvSpPr txBox="1"/>
          <p:nvPr/>
        </p:nvSpPr>
        <p:spPr>
          <a:xfrm>
            <a:off x="541057" y="2685002"/>
            <a:ext cx="6966857" cy="307777"/>
          </a:xfrm>
          <a:prstGeom prst="rect">
            <a:avLst/>
          </a:prstGeom>
          <a:noFill/>
        </p:spPr>
        <p:txBody>
          <a:bodyPr wrap="square" rtlCol="0">
            <a:spAutoFit/>
          </a:bodyPr>
          <a:lstStyle/>
          <a:p>
            <a:r>
              <a:rPr lang="en-US" dirty="0"/>
              <a:t>g</a:t>
            </a:r>
            <a:r>
              <a:rPr lang="en-US" dirty="0" smtClean="0"/>
              <a:t>uilt:</a:t>
            </a:r>
            <a:endParaRPr lang="en-US" dirty="0"/>
          </a:p>
        </p:txBody>
      </p:sp>
    </p:spTree>
    <p:extLst>
      <p:ext uri="{BB962C8B-B14F-4D97-AF65-F5344CB8AC3E}">
        <p14:creationId xmlns:p14="http://schemas.microsoft.com/office/powerpoint/2010/main" val="1063631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10</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1044582150"/>
              </p:ext>
            </p:extLst>
          </p:nvPr>
        </p:nvGraphicFramePr>
        <p:xfrm>
          <a:off x="540654" y="939658"/>
          <a:ext cx="8062691" cy="1259884"/>
        </p:xfrm>
        <a:graphic>
          <a:graphicData uri="http://schemas.openxmlformats.org/drawingml/2006/table">
            <a:tbl>
              <a:tblPr firstRow="1" bandRow="1">
                <a:tableStyleId>{5C22544A-7EE6-4342-B048-85BDC9FD1C3A}</a:tableStyleId>
              </a:tblPr>
              <a:tblGrid>
                <a:gridCol w="1151813">
                  <a:extLst>
                    <a:ext uri="{9D8B030D-6E8A-4147-A177-3AD203B41FA5}">
                      <a16:colId xmlns:a16="http://schemas.microsoft.com/office/drawing/2014/main" val="3564254509"/>
                    </a:ext>
                  </a:extLst>
                </a:gridCol>
                <a:gridCol w="1151813">
                  <a:extLst>
                    <a:ext uri="{9D8B030D-6E8A-4147-A177-3AD203B41FA5}">
                      <a16:colId xmlns:a16="http://schemas.microsoft.com/office/drawing/2014/main" val="2423578708"/>
                    </a:ext>
                  </a:extLst>
                </a:gridCol>
                <a:gridCol w="1151813">
                  <a:extLst>
                    <a:ext uri="{9D8B030D-6E8A-4147-A177-3AD203B41FA5}">
                      <a16:colId xmlns:a16="http://schemas.microsoft.com/office/drawing/2014/main" val="3330058820"/>
                    </a:ext>
                  </a:extLst>
                </a:gridCol>
                <a:gridCol w="1151813">
                  <a:extLst>
                    <a:ext uri="{9D8B030D-6E8A-4147-A177-3AD203B41FA5}">
                      <a16:colId xmlns:a16="http://schemas.microsoft.com/office/drawing/2014/main" val="1201558090"/>
                    </a:ext>
                  </a:extLst>
                </a:gridCol>
                <a:gridCol w="1151813">
                  <a:extLst>
                    <a:ext uri="{9D8B030D-6E8A-4147-A177-3AD203B41FA5}">
                      <a16:colId xmlns:a16="http://schemas.microsoft.com/office/drawing/2014/main" val="678461062"/>
                    </a:ext>
                  </a:extLst>
                </a:gridCol>
                <a:gridCol w="1151813">
                  <a:extLst>
                    <a:ext uri="{9D8B030D-6E8A-4147-A177-3AD203B41FA5}">
                      <a16:colId xmlns:a16="http://schemas.microsoft.com/office/drawing/2014/main" val="1943154136"/>
                    </a:ext>
                  </a:extLst>
                </a:gridCol>
                <a:gridCol w="1151813">
                  <a:extLst>
                    <a:ext uri="{9D8B030D-6E8A-4147-A177-3AD203B41FA5}">
                      <a16:colId xmlns:a16="http://schemas.microsoft.com/office/drawing/2014/main" val="1906479259"/>
                    </a:ext>
                  </a:extLst>
                </a:gridCol>
              </a:tblGrid>
              <a:tr h="528364">
                <a:tc>
                  <a:txBody>
                    <a:bodyPr/>
                    <a:lstStyle/>
                    <a:p>
                      <a:r>
                        <a:rPr lang="en-US" dirty="0" smtClean="0"/>
                        <a:t>synonym</a:t>
                      </a:r>
                      <a:endParaRPr lang="en-US" dirty="0"/>
                    </a:p>
                  </a:txBody>
                  <a:tcPr/>
                </a:tc>
                <a:tc>
                  <a:txBody>
                    <a:bodyPr/>
                    <a:lstStyle/>
                    <a:p>
                      <a:r>
                        <a:rPr lang="en-US" dirty="0" smtClean="0"/>
                        <a:t>joy</a:t>
                      </a:r>
                      <a:endParaRPr lang="en-US" dirty="0"/>
                    </a:p>
                  </a:txBody>
                  <a:tcPr/>
                </a:tc>
                <a:tc>
                  <a:txBody>
                    <a:bodyPr/>
                    <a:lstStyle/>
                    <a:p>
                      <a:r>
                        <a:rPr lang="en-US" dirty="0" smtClean="0"/>
                        <a:t>achievement</a:t>
                      </a:r>
                      <a:endParaRPr lang="en-US" dirty="0"/>
                    </a:p>
                  </a:txBody>
                  <a:tcPr/>
                </a:tc>
                <a:tc>
                  <a:txBody>
                    <a:bodyPr/>
                    <a:lstStyle/>
                    <a:p>
                      <a:r>
                        <a:rPr lang="en-US" dirty="0" smtClean="0"/>
                        <a:t>pleasure</a:t>
                      </a:r>
                      <a:endParaRPr lang="en-US" dirty="0"/>
                    </a:p>
                  </a:txBody>
                  <a:tcPr/>
                </a:tc>
                <a:tc>
                  <a:txBody>
                    <a:bodyPr/>
                    <a:lstStyle/>
                    <a:p>
                      <a:r>
                        <a:rPr lang="en-US" dirty="0" smtClean="0"/>
                        <a:t>awesome</a:t>
                      </a:r>
                      <a:endParaRPr lang="en-US" dirty="0"/>
                    </a:p>
                  </a:txBody>
                  <a:tcPr/>
                </a:tc>
                <a:tc>
                  <a:txBody>
                    <a:bodyPr/>
                    <a:lstStyle/>
                    <a:p>
                      <a:r>
                        <a:rPr lang="en-US" dirty="0" smtClean="0"/>
                        <a:t>happy</a:t>
                      </a:r>
                      <a:endParaRPr lang="en-US" dirty="0"/>
                    </a:p>
                  </a:txBody>
                  <a:tcPr/>
                </a:tc>
                <a:tc>
                  <a:txBody>
                    <a:bodyPr/>
                    <a:lstStyle/>
                    <a:p>
                      <a:r>
                        <a:rPr lang="en-US" dirty="0" smtClean="0"/>
                        <a:t>blessed</a:t>
                      </a:r>
                      <a:endParaRPr lang="en-US" dirty="0"/>
                    </a:p>
                  </a:txBody>
                  <a:tcPr/>
                </a:tc>
                <a:extLst>
                  <a:ext uri="{0D108BD9-81ED-4DB2-BD59-A6C34878D82A}">
                    <a16:rowId xmlns:a16="http://schemas.microsoft.com/office/drawing/2014/main" val="1134613916"/>
                  </a:ext>
                </a:extLst>
              </a:tr>
              <a:tr h="370840">
                <a:tc>
                  <a:txBody>
                    <a:bodyPr/>
                    <a:lstStyle/>
                    <a:p>
                      <a:r>
                        <a:rPr lang="en-US" dirty="0" smtClean="0"/>
                        <a:t>Average of entailment probabilities </a:t>
                      </a:r>
                      <a:endParaRPr lang="en-US" dirty="0"/>
                    </a:p>
                  </a:txBody>
                  <a:tcPr/>
                </a:tc>
                <a:tc>
                  <a:txBody>
                    <a:bodyPr/>
                    <a:lstStyle/>
                    <a:p>
                      <a:r>
                        <a:rPr lang="en-US" dirty="0" smtClean="0"/>
                        <a:t>0.9</a:t>
                      </a:r>
                      <a:endParaRPr lang="en-US" dirty="0"/>
                    </a:p>
                  </a:txBody>
                  <a:tcPr/>
                </a:tc>
                <a:tc>
                  <a:txBody>
                    <a:bodyPr/>
                    <a:lstStyle/>
                    <a:p>
                      <a:r>
                        <a:rPr lang="en-US" dirty="0" smtClean="0"/>
                        <a:t>0.77</a:t>
                      </a:r>
                      <a:endParaRPr lang="en-US" dirty="0"/>
                    </a:p>
                  </a:txBody>
                  <a:tcPr/>
                </a:tc>
                <a:tc>
                  <a:txBody>
                    <a:bodyPr/>
                    <a:lstStyle/>
                    <a:p>
                      <a:r>
                        <a:rPr lang="en-US" dirty="0" smtClean="0"/>
                        <a:t>0.92</a:t>
                      </a:r>
                      <a:endParaRPr lang="en-US" dirty="0"/>
                    </a:p>
                  </a:txBody>
                  <a:tcPr/>
                </a:tc>
                <a:tc>
                  <a:txBody>
                    <a:bodyPr/>
                    <a:lstStyle/>
                    <a:p>
                      <a:r>
                        <a:rPr lang="en-US" dirty="0" smtClean="0"/>
                        <a:t>0.8</a:t>
                      </a:r>
                      <a:endParaRPr lang="en-US" dirty="0"/>
                    </a:p>
                  </a:txBody>
                  <a:tcPr/>
                </a:tc>
                <a:tc>
                  <a:txBody>
                    <a:bodyPr/>
                    <a:lstStyle/>
                    <a:p>
                      <a:r>
                        <a:rPr lang="en-US" dirty="0" smtClean="0"/>
                        <a:t>0.93</a:t>
                      </a:r>
                      <a:endParaRPr lang="en-US" dirty="0"/>
                    </a:p>
                  </a:txBody>
                  <a:tcPr/>
                </a:tc>
                <a:tc>
                  <a:txBody>
                    <a:bodyPr/>
                    <a:lstStyle/>
                    <a:p>
                      <a:r>
                        <a:rPr lang="en-US" dirty="0" smtClean="0"/>
                        <a:t>0.73</a:t>
                      </a:r>
                      <a:endParaRPr lang="en-US" dirty="0"/>
                    </a:p>
                  </a:txBody>
                  <a:tcPr/>
                </a:tc>
                <a:extLst>
                  <a:ext uri="{0D108BD9-81ED-4DB2-BD59-A6C34878D82A}">
                    <a16:rowId xmlns:a16="http://schemas.microsoft.com/office/drawing/2014/main" val="497442349"/>
                  </a:ext>
                </a:extLst>
              </a:tr>
            </a:tbl>
          </a:graphicData>
        </a:graphic>
      </p:graphicFrame>
      <p:sp>
        <p:nvSpPr>
          <p:cNvPr id="7" name="TextBox 6"/>
          <p:cNvSpPr txBox="1"/>
          <p:nvPr/>
        </p:nvSpPr>
        <p:spPr>
          <a:xfrm>
            <a:off x="431796" y="2427006"/>
            <a:ext cx="1545771" cy="307777"/>
          </a:xfrm>
          <a:prstGeom prst="rect">
            <a:avLst/>
          </a:prstGeom>
          <a:noFill/>
        </p:spPr>
        <p:txBody>
          <a:bodyPr wrap="square" rtlCol="0">
            <a:spAutoFit/>
          </a:bodyPr>
          <a:lstStyle/>
          <a:p>
            <a:r>
              <a:rPr lang="en-US" dirty="0" smtClean="0"/>
              <a:t>Sadness:</a:t>
            </a:r>
            <a:endParaRPr lang="en-US" dirty="0"/>
          </a:p>
        </p:txBody>
      </p:sp>
      <p:sp>
        <p:nvSpPr>
          <p:cNvPr id="8" name="TextBox 7"/>
          <p:cNvSpPr txBox="1"/>
          <p:nvPr/>
        </p:nvSpPr>
        <p:spPr>
          <a:xfrm>
            <a:off x="486225" y="3853098"/>
            <a:ext cx="7307946" cy="307777"/>
          </a:xfrm>
          <a:prstGeom prst="rect">
            <a:avLst/>
          </a:prstGeom>
          <a:noFill/>
        </p:spPr>
        <p:txBody>
          <a:bodyPr wrap="square" rtlCol="0">
            <a:spAutoFit/>
          </a:bodyPr>
          <a:lstStyle/>
          <a:p>
            <a:r>
              <a:rPr lang="en-US" dirty="0" smtClean="0"/>
              <a:t> </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62678674"/>
              </p:ext>
            </p:extLst>
          </p:nvPr>
        </p:nvGraphicFramePr>
        <p:xfrm>
          <a:off x="464452" y="2870837"/>
          <a:ext cx="8291647" cy="1463040"/>
        </p:xfrm>
        <a:graphic>
          <a:graphicData uri="http://schemas.openxmlformats.org/drawingml/2006/table">
            <a:tbl>
              <a:tblPr firstRow="1" bandRow="1">
                <a:tableStyleId>{5C22544A-7EE6-4342-B048-85BDC9FD1C3A}</a:tableStyleId>
              </a:tblPr>
              <a:tblGrid>
                <a:gridCol w="1184521">
                  <a:extLst>
                    <a:ext uri="{9D8B030D-6E8A-4147-A177-3AD203B41FA5}">
                      <a16:colId xmlns:a16="http://schemas.microsoft.com/office/drawing/2014/main" val="2659628695"/>
                    </a:ext>
                  </a:extLst>
                </a:gridCol>
                <a:gridCol w="1184521">
                  <a:extLst>
                    <a:ext uri="{9D8B030D-6E8A-4147-A177-3AD203B41FA5}">
                      <a16:colId xmlns:a16="http://schemas.microsoft.com/office/drawing/2014/main" val="3500007172"/>
                    </a:ext>
                  </a:extLst>
                </a:gridCol>
                <a:gridCol w="1184521">
                  <a:extLst>
                    <a:ext uri="{9D8B030D-6E8A-4147-A177-3AD203B41FA5}">
                      <a16:colId xmlns:a16="http://schemas.microsoft.com/office/drawing/2014/main" val="1198418828"/>
                    </a:ext>
                  </a:extLst>
                </a:gridCol>
                <a:gridCol w="1184521">
                  <a:extLst>
                    <a:ext uri="{9D8B030D-6E8A-4147-A177-3AD203B41FA5}">
                      <a16:colId xmlns:a16="http://schemas.microsoft.com/office/drawing/2014/main" val="3945299454"/>
                    </a:ext>
                  </a:extLst>
                </a:gridCol>
                <a:gridCol w="1184521">
                  <a:extLst>
                    <a:ext uri="{9D8B030D-6E8A-4147-A177-3AD203B41FA5}">
                      <a16:colId xmlns:a16="http://schemas.microsoft.com/office/drawing/2014/main" val="2559667161"/>
                    </a:ext>
                  </a:extLst>
                </a:gridCol>
                <a:gridCol w="1184521">
                  <a:extLst>
                    <a:ext uri="{9D8B030D-6E8A-4147-A177-3AD203B41FA5}">
                      <a16:colId xmlns:a16="http://schemas.microsoft.com/office/drawing/2014/main" val="1906041258"/>
                    </a:ext>
                  </a:extLst>
                </a:gridCol>
                <a:gridCol w="1184521">
                  <a:extLst>
                    <a:ext uri="{9D8B030D-6E8A-4147-A177-3AD203B41FA5}">
                      <a16:colId xmlns:a16="http://schemas.microsoft.com/office/drawing/2014/main" val="1451328961"/>
                    </a:ext>
                  </a:extLst>
                </a:gridCol>
              </a:tblGrid>
              <a:tr h="339319">
                <a:tc>
                  <a:txBody>
                    <a:bodyPr/>
                    <a:lstStyle/>
                    <a:p>
                      <a:r>
                        <a:rPr lang="en-US" dirty="0" smtClean="0"/>
                        <a:t>synonym</a:t>
                      </a:r>
                      <a:endParaRPr lang="en-US" dirty="0"/>
                    </a:p>
                  </a:txBody>
                  <a:tcPr/>
                </a:tc>
                <a:tc>
                  <a:txBody>
                    <a:bodyPr/>
                    <a:lstStyle/>
                    <a:p>
                      <a:r>
                        <a:rPr lang="en-US" dirty="0" smtClean="0"/>
                        <a:t>sadness</a:t>
                      </a:r>
                      <a:endParaRPr lang="en-US" dirty="0"/>
                    </a:p>
                  </a:txBody>
                  <a:tcPr/>
                </a:tc>
                <a:tc>
                  <a:txBody>
                    <a:bodyPr/>
                    <a:lstStyle/>
                    <a:p>
                      <a:r>
                        <a:rPr lang="en-US" dirty="0" smtClean="0"/>
                        <a:t>unhappiness</a:t>
                      </a:r>
                      <a:endParaRPr lang="en-US" dirty="0"/>
                    </a:p>
                  </a:txBody>
                  <a:tcPr/>
                </a:tc>
                <a:tc>
                  <a:txBody>
                    <a:bodyPr/>
                    <a:lstStyle/>
                    <a:p>
                      <a:r>
                        <a:rPr lang="en-US" dirty="0" smtClean="0"/>
                        <a:t>grief</a:t>
                      </a:r>
                      <a:endParaRPr lang="en-US" dirty="0"/>
                    </a:p>
                  </a:txBody>
                  <a:tcPr/>
                </a:tc>
                <a:tc>
                  <a:txBody>
                    <a:bodyPr/>
                    <a:lstStyle/>
                    <a:p>
                      <a:r>
                        <a:rPr lang="en-US" dirty="0" smtClean="0"/>
                        <a:t>sorrow</a:t>
                      </a:r>
                      <a:endParaRPr lang="en-US" dirty="0"/>
                    </a:p>
                  </a:txBody>
                  <a:tcPr/>
                </a:tc>
                <a:tc>
                  <a:txBody>
                    <a:bodyPr/>
                    <a:lstStyle/>
                    <a:p>
                      <a:r>
                        <a:rPr lang="en-US" dirty="0" smtClean="0"/>
                        <a:t>loneliness</a:t>
                      </a:r>
                      <a:endParaRPr lang="en-US" dirty="0"/>
                    </a:p>
                  </a:txBody>
                  <a:tcPr/>
                </a:tc>
                <a:tc>
                  <a:txBody>
                    <a:bodyPr/>
                    <a:lstStyle/>
                    <a:p>
                      <a:r>
                        <a:rPr lang="en-US" dirty="0" smtClean="0"/>
                        <a:t>depression</a:t>
                      </a:r>
                      <a:endParaRPr lang="en-US" dirty="0"/>
                    </a:p>
                  </a:txBody>
                  <a:tcPr/>
                </a:tc>
                <a:extLst>
                  <a:ext uri="{0D108BD9-81ED-4DB2-BD59-A6C34878D82A}">
                    <a16:rowId xmlns:a16="http://schemas.microsoft.com/office/drawing/2014/main" val="67134482"/>
                  </a:ext>
                </a:extLst>
              </a:tr>
              <a:tr h="760379">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p>
                      <a:endParaRPr lang="en-US" dirty="0"/>
                    </a:p>
                  </a:txBody>
                  <a:tcPr/>
                </a:tc>
                <a:tc>
                  <a:txBody>
                    <a:bodyPr/>
                    <a:lstStyle/>
                    <a:p>
                      <a:r>
                        <a:rPr lang="en-US" dirty="0" smtClean="0"/>
                        <a:t>0.95</a:t>
                      </a:r>
                      <a:endParaRPr lang="en-US" dirty="0"/>
                    </a:p>
                  </a:txBody>
                  <a:tcPr/>
                </a:tc>
                <a:tc>
                  <a:txBody>
                    <a:bodyPr/>
                    <a:lstStyle/>
                    <a:p>
                      <a:r>
                        <a:rPr lang="en-US" dirty="0" smtClean="0"/>
                        <a:t>0.93</a:t>
                      </a:r>
                      <a:endParaRPr lang="en-US" dirty="0"/>
                    </a:p>
                  </a:txBody>
                  <a:tcPr/>
                </a:tc>
                <a:tc>
                  <a:txBody>
                    <a:bodyPr/>
                    <a:lstStyle/>
                    <a:p>
                      <a:r>
                        <a:rPr lang="en-US" dirty="0" smtClean="0"/>
                        <a:t>0.9</a:t>
                      </a:r>
                      <a:endParaRPr lang="en-US" dirty="0"/>
                    </a:p>
                  </a:txBody>
                  <a:tcPr/>
                </a:tc>
                <a:tc>
                  <a:txBody>
                    <a:bodyPr/>
                    <a:lstStyle/>
                    <a:p>
                      <a:r>
                        <a:rPr lang="en-US" dirty="0" smtClean="0"/>
                        <a:t>0.93</a:t>
                      </a:r>
                      <a:endParaRPr lang="en-US" dirty="0"/>
                    </a:p>
                  </a:txBody>
                  <a:tcPr/>
                </a:tc>
                <a:tc>
                  <a:txBody>
                    <a:bodyPr/>
                    <a:lstStyle/>
                    <a:p>
                      <a:r>
                        <a:rPr lang="en-US" dirty="0" smtClean="0"/>
                        <a:t>0.74</a:t>
                      </a:r>
                      <a:endParaRPr lang="en-US" dirty="0"/>
                    </a:p>
                  </a:txBody>
                  <a:tcPr/>
                </a:tc>
                <a:tc>
                  <a:txBody>
                    <a:bodyPr/>
                    <a:lstStyle/>
                    <a:p>
                      <a:r>
                        <a:rPr lang="en-US" dirty="0" smtClean="0"/>
                        <a:t>0.74</a:t>
                      </a:r>
                      <a:endParaRPr lang="en-US" dirty="0"/>
                    </a:p>
                  </a:txBody>
                  <a:tcPr/>
                </a:tc>
                <a:extLst>
                  <a:ext uri="{0D108BD9-81ED-4DB2-BD59-A6C34878D82A}">
                    <a16:rowId xmlns:a16="http://schemas.microsoft.com/office/drawing/2014/main" val="3997740586"/>
                  </a:ext>
                </a:extLst>
              </a:tr>
            </a:tbl>
          </a:graphicData>
        </a:graphic>
      </p:graphicFrame>
      <p:sp>
        <p:nvSpPr>
          <p:cNvPr id="11" name="TextBox 10"/>
          <p:cNvSpPr txBox="1"/>
          <p:nvPr/>
        </p:nvSpPr>
        <p:spPr>
          <a:xfrm>
            <a:off x="486225" y="549509"/>
            <a:ext cx="1436914" cy="307777"/>
          </a:xfrm>
          <a:prstGeom prst="rect">
            <a:avLst/>
          </a:prstGeom>
          <a:noFill/>
        </p:spPr>
        <p:txBody>
          <a:bodyPr wrap="square" rtlCol="0">
            <a:spAutoFit/>
          </a:bodyPr>
          <a:lstStyle/>
          <a:p>
            <a:r>
              <a:rPr lang="en-US" dirty="0"/>
              <a:t>j</a:t>
            </a:r>
            <a:r>
              <a:rPr lang="en-US" dirty="0" smtClean="0"/>
              <a:t>oy:</a:t>
            </a:r>
            <a:endParaRPr lang="en-US" dirty="0"/>
          </a:p>
        </p:txBody>
      </p:sp>
    </p:spTree>
    <p:extLst>
      <p:ext uri="{BB962C8B-B14F-4D97-AF65-F5344CB8AC3E}">
        <p14:creationId xmlns:p14="http://schemas.microsoft.com/office/powerpoint/2010/main" val="3800386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a:t>
            </a:r>
            <a:r>
              <a:rPr lang="en-US" b="1" dirty="0" smtClean="0"/>
              <a:t>emotion and their comparison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11</a:t>
            </a:fld>
            <a:endParaRPr lang="ja" altLang="en-US"/>
          </a:p>
        </p:txBody>
      </p:sp>
      <p:graphicFrame>
        <p:nvGraphicFramePr>
          <p:cNvPr id="6" name="Table 5"/>
          <p:cNvGraphicFramePr>
            <a:graphicFrameLocks noGrp="1"/>
          </p:cNvGraphicFramePr>
          <p:nvPr>
            <p:extLst>
              <p:ext uri="{D42A27DB-BD31-4B8C-83A1-F6EECF244321}">
                <p14:modId xmlns:p14="http://schemas.microsoft.com/office/powerpoint/2010/main" val="1380278457"/>
              </p:ext>
            </p:extLst>
          </p:nvPr>
        </p:nvGraphicFramePr>
        <p:xfrm>
          <a:off x="497469" y="952779"/>
          <a:ext cx="8566705" cy="1249680"/>
        </p:xfrm>
        <a:graphic>
          <a:graphicData uri="http://schemas.openxmlformats.org/drawingml/2006/table">
            <a:tbl>
              <a:tblPr firstRow="1" bandRow="1">
                <a:tableStyleId>{5C22544A-7EE6-4342-B048-85BDC9FD1C3A}</a:tableStyleId>
              </a:tblPr>
              <a:tblGrid>
                <a:gridCol w="1223815">
                  <a:extLst>
                    <a:ext uri="{9D8B030D-6E8A-4147-A177-3AD203B41FA5}">
                      <a16:colId xmlns:a16="http://schemas.microsoft.com/office/drawing/2014/main" val="557825247"/>
                    </a:ext>
                  </a:extLst>
                </a:gridCol>
                <a:gridCol w="1223815">
                  <a:extLst>
                    <a:ext uri="{9D8B030D-6E8A-4147-A177-3AD203B41FA5}">
                      <a16:colId xmlns:a16="http://schemas.microsoft.com/office/drawing/2014/main" val="882517201"/>
                    </a:ext>
                  </a:extLst>
                </a:gridCol>
                <a:gridCol w="1223815">
                  <a:extLst>
                    <a:ext uri="{9D8B030D-6E8A-4147-A177-3AD203B41FA5}">
                      <a16:colId xmlns:a16="http://schemas.microsoft.com/office/drawing/2014/main" val="1452558935"/>
                    </a:ext>
                  </a:extLst>
                </a:gridCol>
                <a:gridCol w="1223815">
                  <a:extLst>
                    <a:ext uri="{9D8B030D-6E8A-4147-A177-3AD203B41FA5}">
                      <a16:colId xmlns:a16="http://schemas.microsoft.com/office/drawing/2014/main" val="1532424432"/>
                    </a:ext>
                  </a:extLst>
                </a:gridCol>
                <a:gridCol w="1223815">
                  <a:extLst>
                    <a:ext uri="{9D8B030D-6E8A-4147-A177-3AD203B41FA5}">
                      <a16:colId xmlns:a16="http://schemas.microsoft.com/office/drawing/2014/main" val="2310644927"/>
                    </a:ext>
                  </a:extLst>
                </a:gridCol>
                <a:gridCol w="1223815">
                  <a:extLst>
                    <a:ext uri="{9D8B030D-6E8A-4147-A177-3AD203B41FA5}">
                      <a16:colId xmlns:a16="http://schemas.microsoft.com/office/drawing/2014/main" val="3431827497"/>
                    </a:ext>
                  </a:extLst>
                </a:gridCol>
                <a:gridCol w="1223815">
                  <a:extLst>
                    <a:ext uri="{9D8B030D-6E8A-4147-A177-3AD203B41FA5}">
                      <a16:colId xmlns:a16="http://schemas.microsoft.com/office/drawing/2014/main" val="1326960283"/>
                    </a:ext>
                  </a:extLst>
                </a:gridCol>
              </a:tblGrid>
              <a:tr h="436216">
                <a:tc>
                  <a:txBody>
                    <a:bodyPr/>
                    <a:lstStyle/>
                    <a:p>
                      <a:r>
                        <a:rPr lang="en-US" dirty="0" smtClean="0"/>
                        <a:t>synonym</a:t>
                      </a:r>
                      <a:endParaRPr lang="en-US" dirty="0"/>
                    </a:p>
                  </a:txBody>
                  <a:tcPr/>
                </a:tc>
                <a:tc>
                  <a:txBody>
                    <a:bodyPr/>
                    <a:lstStyle/>
                    <a:p>
                      <a:r>
                        <a:rPr lang="en-US" dirty="0" smtClean="0"/>
                        <a:t>shame</a:t>
                      </a:r>
                      <a:endParaRPr lang="en-US" dirty="0"/>
                    </a:p>
                  </a:txBody>
                  <a:tcPr/>
                </a:tc>
                <a:tc>
                  <a:txBody>
                    <a:bodyPr/>
                    <a:lstStyle/>
                    <a:p>
                      <a:r>
                        <a:rPr lang="en-US" dirty="0" smtClean="0"/>
                        <a:t>humiliation</a:t>
                      </a:r>
                      <a:endParaRPr lang="en-US" dirty="0"/>
                    </a:p>
                  </a:txBody>
                  <a:tcPr/>
                </a:tc>
                <a:tc>
                  <a:txBody>
                    <a:bodyPr/>
                    <a:lstStyle/>
                    <a:p>
                      <a:r>
                        <a:rPr lang="en-US" dirty="0" smtClean="0"/>
                        <a:t>embarrassment</a:t>
                      </a:r>
                      <a:endParaRPr lang="en-US" dirty="0"/>
                    </a:p>
                  </a:txBody>
                  <a:tcPr/>
                </a:tc>
                <a:tc>
                  <a:txBody>
                    <a:bodyPr/>
                    <a:lstStyle/>
                    <a:p>
                      <a:r>
                        <a:rPr lang="en-US" dirty="0" smtClean="0"/>
                        <a:t>disgrace</a:t>
                      </a:r>
                      <a:endParaRPr lang="en-US" dirty="0"/>
                    </a:p>
                  </a:txBody>
                  <a:tcPr/>
                </a:tc>
                <a:tc>
                  <a:txBody>
                    <a:bodyPr/>
                    <a:lstStyle/>
                    <a:p>
                      <a:r>
                        <a:rPr lang="en-US" dirty="0" smtClean="0"/>
                        <a:t>dishonor</a:t>
                      </a:r>
                      <a:endParaRPr lang="en-US" dirty="0"/>
                    </a:p>
                  </a:txBody>
                  <a:tcPr/>
                </a:tc>
                <a:tc>
                  <a:txBody>
                    <a:bodyPr/>
                    <a:lstStyle/>
                    <a:p>
                      <a:r>
                        <a:rPr lang="en-US" dirty="0" smtClean="0"/>
                        <a:t>discredit</a:t>
                      </a:r>
                      <a:endParaRPr lang="en-US" dirty="0"/>
                    </a:p>
                  </a:txBody>
                  <a:tcPr/>
                </a:tc>
                <a:extLst>
                  <a:ext uri="{0D108BD9-81ED-4DB2-BD59-A6C34878D82A}">
                    <a16:rowId xmlns:a16="http://schemas.microsoft.com/office/drawing/2014/main" val="1255629281"/>
                  </a:ext>
                </a:extLst>
              </a:tr>
              <a:tr h="436216">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txBody>
                  <a:tcPr/>
                </a:tc>
                <a:tc>
                  <a:txBody>
                    <a:bodyPr/>
                    <a:lstStyle/>
                    <a:p>
                      <a:r>
                        <a:rPr lang="en-US" dirty="0" smtClean="0"/>
                        <a:t>0.93</a:t>
                      </a:r>
                      <a:endParaRPr lang="en-US" dirty="0"/>
                    </a:p>
                  </a:txBody>
                  <a:tcPr/>
                </a:tc>
                <a:tc>
                  <a:txBody>
                    <a:bodyPr/>
                    <a:lstStyle/>
                    <a:p>
                      <a:r>
                        <a:rPr lang="en-US" dirty="0" smtClean="0"/>
                        <a:t>0.954</a:t>
                      </a:r>
                      <a:endParaRPr lang="en-US" dirty="0"/>
                    </a:p>
                  </a:txBody>
                  <a:tcPr/>
                </a:tc>
                <a:tc>
                  <a:txBody>
                    <a:bodyPr/>
                    <a:lstStyle/>
                    <a:p>
                      <a:r>
                        <a:rPr lang="en-US" dirty="0" smtClean="0"/>
                        <a:t>0.95</a:t>
                      </a:r>
                      <a:endParaRPr lang="en-US" dirty="0"/>
                    </a:p>
                  </a:txBody>
                  <a:tcPr/>
                </a:tc>
                <a:tc>
                  <a:txBody>
                    <a:bodyPr/>
                    <a:lstStyle/>
                    <a:p>
                      <a:r>
                        <a:rPr lang="en-US" dirty="0" smtClean="0"/>
                        <a:t>0.92</a:t>
                      </a:r>
                      <a:endParaRPr lang="en-US" dirty="0"/>
                    </a:p>
                  </a:txBody>
                  <a:tcPr/>
                </a:tc>
                <a:tc>
                  <a:txBody>
                    <a:bodyPr/>
                    <a:lstStyle/>
                    <a:p>
                      <a:r>
                        <a:rPr lang="en-US" dirty="0" smtClean="0"/>
                        <a:t>0.92</a:t>
                      </a:r>
                      <a:endParaRPr lang="en-US" dirty="0"/>
                    </a:p>
                  </a:txBody>
                  <a:tcPr/>
                </a:tc>
                <a:tc>
                  <a:txBody>
                    <a:bodyPr/>
                    <a:lstStyle/>
                    <a:p>
                      <a:r>
                        <a:rPr lang="en-US" dirty="0" smtClean="0"/>
                        <a:t>0.9</a:t>
                      </a:r>
                      <a:endParaRPr lang="en-US" dirty="0"/>
                    </a:p>
                  </a:txBody>
                  <a:tcPr/>
                </a:tc>
                <a:extLst>
                  <a:ext uri="{0D108BD9-81ED-4DB2-BD59-A6C34878D82A}">
                    <a16:rowId xmlns:a16="http://schemas.microsoft.com/office/drawing/2014/main" val="2243125968"/>
                  </a:ext>
                </a:extLst>
              </a:tr>
            </a:tbl>
          </a:graphicData>
        </a:graphic>
      </p:graphicFrame>
      <p:sp>
        <p:nvSpPr>
          <p:cNvPr id="7" name="TextBox 6"/>
          <p:cNvSpPr txBox="1"/>
          <p:nvPr/>
        </p:nvSpPr>
        <p:spPr>
          <a:xfrm>
            <a:off x="439412" y="689429"/>
            <a:ext cx="1897388" cy="307777"/>
          </a:xfrm>
          <a:prstGeom prst="rect">
            <a:avLst/>
          </a:prstGeom>
          <a:noFill/>
        </p:spPr>
        <p:txBody>
          <a:bodyPr wrap="square" rtlCol="0">
            <a:spAutoFit/>
          </a:bodyPr>
          <a:lstStyle/>
          <a:p>
            <a:r>
              <a:rPr lang="en-US" dirty="0" smtClean="0"/>
              <a:t>Shame:</a:t>
            </a:r>
            <a:endParaRPr lang="en-US" dirty="0"/>
          </a:p>
        </p:txBody>
      </p:sp>
      <p:sp>
        <p:nvSpPr>
          <p:cNvPr id="8" name="TextBox 7"/>
          <p:cNvSpPr txBox="1"/>
          <p:nvPr/>
        </p:nvSpPr>
        <p:spPr>
          <a:xfrm>
            <a:off x="497468" y="2302717"/>
            <a:ext cx="8334831" cy="738664"/>
          </a:xfrm>
          <a:prstGeom prst="rect">
            <a:avLst/>
          </a:prstGeom>
          <a:noFill/>
        </p:spPr>
        <p:txBody>
          <a:bodyPr wrap="square" rtlCol="0">
            <a:spAutoFit/>
          </a:bodyPr>
          <a:lstStyle/>
          <a:p>
            <a:r>
              <a:rPr lang="en-US" dirty="0" smtClean="0"/>
              <a:t>For each emotion, the synonym that had highest average </a:t>
            </a:r>
            <a:r>
              <a:rPr lang="en-US" dirty="0"/>
              <a:t>of entailment </a:t>
            </a:r>
            <a:r>
              <a:rPr lang="en-US" dirty="0" smtClean="0"/>
              <a:t>probabilities when the predicted label is </a:t>
            </a:r>
            <a:r>
              <a:rPr lang="en-US" dirty="0" smtClean="0"/>
              <a:t>true (</a:t>
            </a:r>
            <a:r>
              <a:rPr lang="en-US" dirty="0" err="1" smtClean="0"/>
              <a:t>Isear</a:t>
            </a:r>
            <a:r>
              <a:rPr lang="en-US" dirty="0" smtClean="0"/>
              <a:t> dataset):  </a:t>
            </a:r>
            <a:endParaRPr lang="en-US" dirty="0"/>
          </a:p>
          <a:p>
            <a:r>
              <a:rPr lang="en-US" dirty="0" smtClean="0"/>
              <a:t> </a:t>
            </a:r>
            <a:endParaRPr lang="en-US" dirty="0"/>
          </a:p>
        </p:txBody>
      </p:sp>
      <p:sp>
        <p:nvSpPr>
          <p:cNvPr id="9" name="TextBox 8"/>
          <p:cNvSpPr txBox="1"/>
          <p:nvPr/>
        </p:nvSpPr>
        <p:spPr>
          <a:xfrm>
            <a:off x="580572" y="2755921"/>
            <a:ext cx="7366750" cy="2246769"/>
          </a:xfrm>
          <a:prstGeom prst="rect">
            <a:avLst/>
          </a:prstGeom>
          <a:noFill/>
        </p:spPr>
        <p:txBody>
          <a:bodyPr wrap="square" rtlCol="0">
            <a:spAutoFit/>
          </a:bodyPr>
          <a:lstStyle/>
          <a:p>
            <a:pPr>
              <a:lnSpc>
                <a:spcPct val="150000"/>
              </a:lnSpc>
            </a:pPr>
            <a:r>
              <a:rPr lang="en-US" dirty="0"/>
              <a:t>a</a:t>
            </a:r>
            <a:r>
              <a:rPr lang="en-US" dirty="0" smtClean="0"/>
              <a:t>nger</a:t>
            </a:r>
            <a:r>
              <a:rPr lang="en-US" dirty="0"/>
              <a:t>: irritation                 Shame: </a:t>
            </a:r>
            <a:r>
              <a:rPr lang="en-US" dirty="0" smtClean="0"/>
              <a:t>humiliate</a:t>
            </a:r>
          </a:p>
          <a:p>
            <a:pPr>
              <a:lnSpc>
                <a:spcPct val="150000"/>
              </a:lnSpc>
            </a:pPr>
            <a:r>
              <a:rPr lang="en-US" dirty="0"/>
              <a:t>d</a:t>
            </a:r>
            <a:r>
              <a:rPr lang="en-US" dirty="0" smtClean="0"/>
              <a:t>isgust</a:t>
            </a:r>
            <a:r>
              <a:rPr lang="en-US" dirty="0"/>
              <a:t>: </a:t>
            </a:r>
            <a:r>
              <a:rPr lang="en-US" dirty="0" smtClean="0"/>
              <a:t>repugnance</a:t>
            </a:r>
          </a:p>
          <a:p>
            <a:pPr>
              <a:lnSpc>
                <a:spcPct val="150000"/>
              </a:lnSpc>
            </a:pPr>
            <a:r>
              <a:rPr lang="en-US" dirty="0"/>
              <a:t>f</a:t>
            </a:r>
            <a:r>
              <a:rPr lang="en-US" dirty="0" smtClean="0"/>
              <a:t>ear: scare</a:t>
            </a:r>
          </a:p>
          <a:p>
            <a:pPr>
              <a:lnSpc>
                <a:spcPct val="150000"/>
              </a:lnSpc>
            </a:pPr>
            <a:r>
              <a:rPr lang="en-US" dirty="0"/>
              <a:t>g</a:t>
            </a:r>
            <a:r>
              <a:rPr lang="en-US" dirty="0" smtClean="0"/>
              <a:t>uilt</a:t>
            </a:r>
            <a:r>
              <a:rPr lang="en-US" dirty="0"/>
              <a:t>: </a:t>
            </a:r>
            <a:r>
              <a:rPr lang="en-US" dirty="0" smtClean="0"/>
              <a:t>culpability</a:t>
            </a:r>
          </a:p>
          <a:p>
            <a:pPr>
              <a:lnSpc>
                <a:spcPct val="150000"/>
              </a:lnSpc>
            </a:pPr>
            <a:r>
              <a:rPr lang="en-US" dirty="0" smtClean="0"/>
              <a:t>Joy: happiness</a:t>
            </a:r>
          </a:p>
          <a:p>
            <a:pPr>
              <a:lnSpc>
                <a:spcPct val="150000"/>
              </a:lnSpc>
            </a:pPr>
            <a:r>
              <a:rPr lang="en-US" dirty="0"/>
              <a:t>Sadness: </a:t>
            </a:r>
            <a:r>
              <a:rPr lang="en-US" dirty="0" smtClean="0"/>
              <a:t>sadness</a:t>
            </a:r>
          </a:p>
          <a:p>
            <a:endParaRPr lang="en-US" dirty="0"/>
          </a:p>
        </p:txBody>
      </p:sp>
    </p:spTree>
    <p:extLst>
      <p:ext uri="{BB962C8B-B14F-4D97-AF65-F5344CB8AC3E}">
        <p14:creationId xmlns:p14="http://schemas.microsoft.com/office/powerpoint/2010/main" val="2733077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12</a:t>
            </a:fld>
            <a:endParaRPr lang="ja" altLang="en-US"/>
          </a:p>
        </p:txBody>
      </p:sp>
      <p:sp>
        <p:nvSpPr>
          <p:cNvPr id="5" name="TextBox 4"/>
          <p:cNvSpPr txBox="1"/>
          <p:nvPr/>
        </p:nvSpPr>
        <p:spPr>
          <a:xfrm>
            <a:off x="311700" y="776514"/>
            <a:ext cx="8585554" cy="1169551"/>
          </a:xfrm>
          <a:prstGeom prst="rect">
            <a:avLst/>
          </a:prstGeom>
          <a:noFill/>
        </p:spPr>
        <p:txBody>
          <a:bodyPr wrap="square" rtlCol="0">
            <a:spAutoFit/>
          </a:bodyPr>
          <a:lstStyle/>
          <a:p>
            <a:r>
              <a:rPr lang="en-US" dirty="0"/>
              <a:t>The average of entailment probabilities for each synonym of </a:t>
            </a:r>
            <a:r>
              <a:rPr lang="en-US" dirty="0" smtClean="0"/>
              <a:t>the true </a:t>
            </a:r>
            <a:r>
              <a:rPr lang="en-US" dirty="0"/>
              <a:t>emotion when the predicted label is wrong (when using average of entailment probabilities of </a:t>
            </a:r>
            <a:r>
              <a:rPr lang="en-US" dirty="0" smtClean="0"/>
              <a:t>synonyms, </a:t>
            </a:r>
            <a:r>
              <a:rPr lang="en-US" dirty="0" err="1" smtClean="0"/>
              <a:t>Isear</a:t>
            </a:r>
            <a:r>
              <a:rPr lang="en-US" dirty="0" smtClean="0"/>
              <a:t> dataset)</a:t>
            </a:r>
          </a:p>
          <a:p>
            <a:endParaRPr lang="en-US" dirty="0"/>
          </a:p>
          <a:p>
            <a:endParaRPr lang="en-US" dirty="0" smtClean="0"/>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262096514"/>
              </p:ext>
            </p:extLst>
          </p:nvPr>
        </p:nvGraphicFramePr>
        <p:xfrm>
          <a:off x="493307" y="1741318"/>
          <a:ext cx="8222340" cy="1102360"/>
        </p:xfrm>
        <a:graphic>
          <a:graphicData uri="http://schemas.openxmlformats.org/drawingml/2006/table">
            <a:tbl>
              <a:tblPr firstRow="1" bandRow="1">
                <a:tableStyleId>{5C22544A-7EE6-4342-B048-85BDC9FD1C3A}</a:tableStyleId>
              </a:tblPr>
              <a:tblGrid>
                <a:gridCol w="1174620">
                  <a:extLst>
                    <a:ext uri="{9D8B030D-6E8A-4147-A177-3AD203B41FA5}">
                      <a16:colId xmlns:a16="http://schemas.microsoft.com/office/drawing/2014/main" val="3603832139"/>
                    </a:ext>
                  </a:extLst>
                </a:gridCol>
                <a:gridCol w="1174620">
                  <a:extLst>
                    <a:ext uri="{9D8B030D-6E8A-4147-A177-3AD203B41FA5}">
                      <a16:colId xmlns:a16="http://schemas.microsoft.com/office/drawing/2014/main" val="914479867"/>
                    </a:ext>
                  </a:extLst>
                </a:gridCol>
                <a:gridCol w="1174620">
                  <a:extLst>
                    <a:ext uri="{9D8B030D-6E8A-4147-A177-3AD203B41FA5}">
                      <a16:colId xmlns:a16="http://schemas.microsoft.com/office/drawing/2014/main" val="3830851643"/>
                    </a:ext>
                  </a:extLst>
                </a:gridCol>
                <a:gridCol w="1174620">
                  <a:extLst>
                    <a:ext uri="{9D8B030D-6E8A-4147-A177-3AD203B41FA5}">
                      <a16:colId xmlns:a16="http://schemas.microsoft.com/office/drawing/2014/main" val="2709983437"/>
                    </a:ext>
                  </a:extLst>
                </a:gridCol>
                <a:gridCol w="1174620">
                  <a:extLst>
                    <a:ext uri="{9D8B030D-6E8A-4147-A177-3AD203B41FA5}">
                      <a16:colId xmlns:a16="http://schemas.microsoft.com/office/drawing/2014/main" val="1185082481"/>
                    </a:ext>
                  </a:extLst>
                </a:gridCol>
                <a:gridCol w="1174620">
                  <a:extLst>
                    <a:ext uri="{9D8B030D-6E8A-4147-A177-3AD203B41FA5}">
                      <a16:colId xmlns:a16="http://schemas.microsoft.com/office/drawing/2014/main" val="887422139"/>
                    </a:ext>
                  </a:extLst>
                </a:gridCol>
                <a:gridCol w="1174620">
                  <a:extLst>
                    <a:ext uri="{9D8B030D-6E8A-4147-A177-3AD203B41FA5}">
                      <a16:colId xmlns:a16="http://schemas.microsoft.com/office/drawing/2014/main" val="2650393169"/>
                    </a:ext>
                  </a:extLst>
                </a:gridCol>
              </a:tblGrid>
              <a:tr h="370840">
                <a:tc>
                  <a:txBody>
                    <a:bodyPr/>
                    <a:lstStyle/>
                    <a:p>
                      <a:r>
                        <a:rPr lang="en-US" dirty="0" smtClean="0"/>
                        <a:t>synonym</a:t>
                      </a:r>
                      <a:endParaRPr lang="en-US" dirty="0"/>
                    </a:p>
                  </a:txBody>
                  <a:tcPr/>
                </a:tc>
                <a:tc>
                  <a:txBody>
                    <a:bodyPr/>
                    <a:lstStyle/>
                    <a:p>
                      <a:r>
                        <a:rPr lang="en-US" dirty="0" smtClean="0"/>
                        <a:t>anger</a:t>
                      </a:r>
                      <a:endParaRPr lang="en-US" dirty="0"/>
                    </a:p>
                  </a:txBody>
                  <a:tcPr/>
                </a:tc>
                <a:tc>
                  <a:txBody>
                    <a:bodyPr/>
                    <a:lstStyle/>
                    <a:p>
                      <a:r>
                        <a:rPr lang="en-US" dirty="0" smtClean="0"/>
                        <a:t>annoyance</a:t>
                      </a:r>
                      <a:endParaRPr lang="en-US" dirty="0"/>
                    </a:p>
                  </a:txBody>
                  <a:tcPr/>
                </a:tc>
                <a:tc>
                  <a:txBody>
                    <a:bodyPr/>
                    <a:lstStyle/>
                    <a:p>
                      <a:r>
                        <a:rPr lang="en-US" dirty="0" smtClean="0"/>
                        <a:t>rage</a:t>
                      </a:r>
                      <a:endParaRPr lang="en-US" dirty="0"/>
                    </a:p>
                  </a:txBody>
                  <a:tcPr/>
                </a:tc>
                <a:tc>
                  <a:txBody>
                    <a:bodyPr/>
                    <a:lstStyle/>
                    <a:p>
                      <a:r>
                        <a:rPr lang="en-US" dirty="0" smtClean="0"/>
                        <a:t>outrage</a:t>
                      </a:r>
                      <a:endParaRPr lang="en-US" dirty="0"/>
                    </a:p>
                  </a:txBody>
                  <a:tcPr/>
                </a:tc>
                <a:tc>
                  <a:txBody>
                    <a:bodyPr/>
                    <a:lstStyle/>
                    <a:p>
                      <a:r>
                        <a:rPr lang="en-US" dirty="0" smtClean="0"/>
                        <a:t>fury</a:t>
                      </a:r>
                      <a:endParaRPr lang="en-US" dirty="0"/>
                    </a:p>
                  </a:txBody>
                  <a:tcPr/>
                </a:tc>
                <a:tc>
                  <a:txBody>
                    <a:bodyPr/>
                    <a:lstStyle/>
                    <a:p>
                      <a:r>
                        <a:rPr lang="en-US" dirty="0" smtClean="0"/>
                        <a:t>irritation</a:t>
                      </a:r>
                      <a:endParaRPr lang="en-US" dirty="0"/>
                    </a:p>
                  </a:txBody>
                  <a:tcPr/>
                </a:tc>
                <a:extLst>
                  <a:ext uri="{0D108BD9-81ED-4DB2-BD59-A6C34878D82A}">
                    <a16:rowId xmlns:a16="http://schemas.microsoft.com/office/drawing/2014/main" val="3073573081"/>
                  </a:ext>
                </a:extLst>
              </a:tr>
              <a:tr h="370840">
                <a:tc>
                  <a:txBody>
                    <a:bodyPr/>
                    <a:lstStyle/>
                    <a:p>
                      <a:r>
                        <a:rPr lang="en-US" dirty="0" smtClean="0"/>
                        <a:t>Average of entailment probabilities </a:t>
                      </a:r>
                      <a:endParaRPr lang="en-US" dirty="0"/>
                    </a:p>
                  </a:txBody>
                  <a:tcPr/>
                </a:tc>
                <a:tc>
                  <a:txBody>
                    <a:bodyPr/>
                    <a:lstStyle/>
                    <a:p>
                      <a:r>
                        <a:rPr lang="en-US" dirty="0" smtClean="0"/>
                        <a:t>0.79</a:t>
                      </a:r>
                      <a:endParaRPr lang="en-US" dirty="0"/>
                    </a:p>
                  </a:txBody>
                  <a:tcPr/>
                </a:tc>
                <a:tc>
                  <a:txBody>
                    <a:bodyPr/>
                    <a:lstStyle/>
                    <a:p>
                      <a:r>
                        <a:rPr lang="en-US" dirty="0" smtClean="0"/>
                        <a:t>0.85</a:t>
                      </a:r>
                      <a:endParaRPr lang="en-US" dirty="0"/>
                    </a:p>
                  </a:txBody>
                  <a:tcPr/>
                </a:tc>
                <a:tc>
                  <a:txBody>
                    <a:bodyPr/>
                    <a:lstStyle/>
                    <a:p>
                      <a:r>
                        <a:rPr lang="en-US" dirty="0" smtClean="0"/>
                        <a:t>0.59</a:t>
                      </a:r>
                      <a:endParaRPr lang="en-US" dirty="0"/>
                    </a:p>
                  </a:txBody>
                  <a:tcPr/>
                </a:tc>
                <a:tc>
                  <a:txBody>
                    <a:bodyPr/>
                    <a:lstStyle/>
                    <a:p>
                      <a:r>
                        <a:rPr lang="en-US" dirty="0" smtClean="0"/>
                        <a:t>0.75</a:t>
                      </a:r>
                      <a:endParaRPr lang="en-US" dirty="0"/>
                    </a:p>
                  </a:txBody>
                  <a:tcPr/>
                </a:tc>
                <a:tc>
                  <a:txBody>
                    <a:bodyPr/>
                    <a:lstStyle/>
                    <a:p>
                      <a:r>
                        <a:rPr lang="en-US" dirty="0" smtClean="0"/>
                        <a:t>0.63</a:t>
                      </a:r>
                      <a:endParaRPr lang="en-US" dirty="0"/>
                    </a:p>
                  </a:txBody>
                  <a:tcPr/>
                </a:tc>
                <a:tc>
                  <a:txBody>
                    <a:bodyPr/>
                    <a:lstStyle/>
                    <a:p>
                      <a:r>
                        <a:rPr lang="en-US" dirty="0" smtClean="0"/>
                        <a:t>0.89</a:t>
                      </a:r>
                      <a:endParaRPr lang="en-US" dirty="0"/>
                    </a:p>
                  </a:txBody>
                  <a:tcPr/>
                </a:tc>
                <a:extLst>
                  <a:ext uri="{0D108BD9-81ED-4DB2-BD59-A6C34878D82A}">
                    <a16:rowId xmlns:a16="http://schemas.microsoft.com/office/drawing/2014/main" val="39786827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756827887"/>
              </p:ext>
            </p:extLst>
          </p:nvPr>
        </p:nvGraphicFramePr>
        <p:xfrm>
          <a:off x="493307" y="3492400"/>
          <a:ext cx="8352967" cy="1102360"/>
        </p:xfrm>
        <a:graphic>
          <a:graphicData uri="http://schemas.openxmlformats.org/drawingml/2006/table">
            <a:tbl>
              <a:tblPr firstRow="1" bandRow="1">
                <a:tableStyleId>{5C22544A-7EE6-4342-B048-85BDC9FD1C3A}</a:tableStyleId>
              </a:tblPr>
              <a:tblGrid>
                <a:gridCol w="1193281">
                  <a:extLst>
                    <a:ext uri="{9D8B030D-6E8A-4147-A177-3AD203B41FA5}">
                      <a16:colId xmlns:a16="http://schemas.microsoft.com/office/drawing/2014/main" val="2515422670"/>
                    </a:ext>
                  </a:extLst>
                </a:gridCol>
                <a:gridCol w="1193281">
                  <a:extLst>
                    <a:ext uri="{9D8B030D-6E8A-4147-A177-3AD203B41FA5}">
                      <a16:colId xmlns:a16="http://schemas.microsoft.com/office/drawing/2014/main" val="711805182"/>
                    </a:ext>
                  </a:extLst>
                </a:gridCol>
                <a:gridCol w="1193281">
                  <a:extLst>
                    <a:ext uri="{9D8B030D-6E8A-4147-A177-3AD203B41FA5}">
                      <a16:colId xmlns:a16="http://schemas.microsoft.com/office/drawing/2014/main" val="3213908025"/>
                    </a:ext>
                  </a:extLst>
                </a:gridCol>
                <a:gridCol w="1193281">
                  <a:extLst>
                    <a:ext uri="{9D8B030D-6E8A-4147-A177-3AD203B41FA5}">
                      <a16:colId xmlns:a16="http://schemas.microsoft.com/office/drawing/2014/main" val="1470325924"/>
                    </a:ext>
                  </a:extLst>
                </a:gridCol>
                <a:gridCol w="1193281">
                  <a:extLst>
                    <a:ext uri="{9D8B030D-6E8A-4147-A177-3AD203B41FA5}">
                      <a16:colId xmlns:a16="http://schemas.microsoft.com/office/drawing/2014/main" val="3784753392"/>
                    </a:ext>
                  </a:extLst>
                </a:gridCol>
                <a:gridCol w="1193281">
                  <a:extLst>
                    <a:ext uri="{9D8B030D-6E8A-4147-A177-3AD203B41FA5}">
                      <a16:colId xmlns:a16="http://schemas.microsoft.com/office/drawing/2014/main" val="3157324177"/>
                    </a:ext>
                  </a:extLst>
                </a:gridCol>
                <a:gridCol w="1193281">
                  <a:extLst>
                    <a:ext uri="{9D8B030D-6E8A-4147-A177-3AD203B41FA5}">
                      <a16:colId xmlns:a16="http://schemas.microsoft.com/office/drawing/2014/main" val="1033398870"/>
                    </a:ext>
                  </a:extLst>
                </a:gridCol>
              </a:tblGrid>
              <a:tr h="370840">
                <a:tc>
                  <a:txBody>
                    <a:bodyPr/>
                    <a:lstStyle/>
                    <a:p>
                      <a:r>
                        <a:rPr lang="en-US" dirty="0" smtClean="0"/>
                        <a:t>synonym</a:t>
                      </a:r>
                      <a:endParaRPr lang="en-US" dirty="0"/>
                    </a:p>
                  </a:txBody>
                  <a:tcPr/>
                </a:tc>
                <a:tc>
                  <a:txBody>
                    <a:bodyPr/>
                    <a:lstStyle/>
                    <a:p>
                      <a:r>
                        <a:rPr lang="en-US" dirty="0" smtClean="0"/>
                        <a:t>disgust</a:t>
                      </a:r>
                      <a:endParaRPr lang="en-US" dirty="0"/>
                    </a:p>
                  </a:txBody>
                  <a:tcPr/>
                </a:tc>
                <a:tc>
                  <a:txBody>
                    <a:bodyPr/>
                    <a:lstStyle/>
                    <a:p>
                      <a:r>
                        <a:rPr lang="en-US" dirty="0" smtClean="0"/>
                        <a:t>loathing</a:t>
                      </a:r>
                      <a:endParaRPr lang="en-US" dirty="0"/>
                    </a:p>
                  </a:txBody>
                  <a:tcPr/>
                </a:tc>
                <a:tc>
                  <a:txBody>
                    <a:bodyPr/>
                    <a:lstStyle/>
                    <a:p>
                      <a:r>
                        <a:rPr lang="en-US" dirty="0" smtClean="0"/>
                        <a:t>bitter</a:t>
                      </a:r>
                      <a:endParaRPr lang="en-US" dirty="0"/>
                    </a:p>
                  </a:txBody>
                  <a:tcPr/>
                </a:tc>
                <a:tc>
                  <a:txBody>
                    <a:bodyPr/>
                    <a:lstStyle/>
                    <a:p>
                      <a:r>
                        <a:rPr lang="en-US" dirty="0" smtClean="0"/>
                        <a:t>ugly</a:t>
                      </a:r>
                      <a:endParaRPr lang="en-US" dirty="0"/>
                    </a:p>
                  </a:txBody>
                  <a:tcPr/>
                </a:tc>
                <a:tc>
                  <a:txBody>
                    <a:bodyPr/>
                    <a:lstStyle/>
                    <a:p>
                      <a:r>
                        <a:rPr lang="en-US" dirty="0" smtClean="0"/>
                        <a:t>repugnance</a:t>
                      </a:r>
                      <a:endParaRPr lang="en-US" dirty="0"/>
                    </a:p>
                  </a:txBody>
                  <a:tcPr/>
                </a:tc>
                <a:tc>
                  <a:txBody>
                    <a:bodyPr/>
                    <a:lstStyle/>
                    <a:p>
                      <a:r>
                        <a:rPr lang="en-US" dirty="0" smtClean="0"/>
                        <a:t>revulsion</a:t>
                      </a:r>
                      <a:endParaRPr lang="en-US" dirty="0"/>
                    </a:p>
                  </a:txBody>
                  <a:tcPr/>
                </a:tc>
                <a:extLst>
                  <a:ext uri="{0D108BD9-81ED-4DB2-BD59-A6C34878D82A}">
                    <a16:rowId xmlns:a16="http://schemas.microsoft.com/office/drawing/2014/main" val="2751846203"/>
                  </a:ext>
                </a:extLst>
              </a:tr>
              <a:tr h="370840">
                <a:tc>
                  <a:txBody>
                    <a:bodyPr/>
                    <a:lstStyle/>
                    <a:p>
                      <a:r>
                        <a:rPr lang="en-US" dirty="0" smtClean="0"/>
                        <a:t>Average of entailment probabilities </a:t>
                      </a:r>
                      <a:endParaRPr lang="en-US" dirty="0"/>
                    </a:p>
                  </a:txBody>
                  <a:tcPr/>
                </a:tc>
                <a:tc>
                  <a:txBody>
                    <a:bodyPr/>
                    <a:lstStyle/>
                    <a:p>
                      <a:r>
                        <a:rPr lang="en-US" dirty="0" smtClean="0"/>
                        <a:t>0.74</a:t>
                      </a:r>
                      <a:endParaRPr lang="en-US" dirty="0"/>
                    </a:p>
                  </a:txBody>
                  <a:tcPr/>
                </a:tc>
                <a:tc>
                  <a:txBody>
                    <a:bodyPr/>
                    <a:lstStyle/>
                    <a:p>
                      <a:r>
                        <a:rPr lang="en-US" dirty="0" smtClean="0"/>
                        <a:t>0.6</a:t>
                      </a:r>
                      <a:endParaRPr lang="en-US" dirty="0"/>
                    </a:p>
                  </a:txBody>
                  <a:tcPr/>
                </a:tc>
                <a:tc>
                  <a:txBody>
                    <a:bodyPr/>
                    <a:lstStyle/>
                    <a:p>
                      <a:r>
                        <a:rPr lang="en-US" dirty="0" smtClean="0"/>
                        <a:t>0.67</a:t>
                      </a:r>
                      <a:endParaRPr lang="en-US" dirty="0"/>
                    </a:p>
                  </a:txBody>
                  <a:tcPr/>
                </a:tc>
                <a:tc>
                  <a:txBody>
                    <a:bodyPr/>
                    <a:lstStyle/>
                    <a:p>
                      <a:r>
                        <a:rPr lang="en-US" dirty="0" smtClean="0"/>
                        <a:t>0.55</a:t>
                      </a:r>
                      <a:endParaRPr lang="en-US" dirty="0"/>
                    </a:p>
                  </a:txBody>
                  <a:tcPr/>
                </a:tc>
                <a:tc>
                  <a:txBody>
                    <a:bodyPr/>
                    <a:lstStyle/>
                    <a:p>
                      <a:r>
                        <a:rPr lang="en-US" dirty="0" smtClean="0"/>
                        <a:t>0.84</a:t>
                      </a:r>
                      <a:endParaRPr lang="en-US" dirty="0"/>
                    </a:p>
                  </a:txBody>
                  <a:tcPr/>
                </a:tc>
                <a:tc>
                  <a:txBody>
                    <a:bodyPr/>
                    <a:lstStyle/>
                    <a:p>
                      <a:r>
                        <a:rPr lang="en-US" dirty="0" smtClean="0"/>
                        <a:t>0.7</a:t>
                      </a:r>
                      <a:endParaRPr lang="en-US" dirty="0"/>
                    </a:p>
                  </a:txBody>
                  <a:tcPr/>
                </a:tc>
                <a:extLst>
                  <a:ext uri="{0D108BD9-81ED-4DB2-BD59-A6C34878D82A}">
                    <a16:rowId xmlns:a16="http://schemas.microsoft.com/office/drawing/2014/main" val="2053983885"/>
                  </a:ext>
                </a:extLst>
              </a:tr>
            </a:tbl>
          </a:graphicData>
        </a:graphic>
      </p:graphicFrame>
      <p:sp>
        <p:nvSpPr>
          <p:cNvPr id="8" name="TextBox 7"/>
          <p:cNvSpPr txBox="1"/>
          <p:nvPr/>
        </p:nvSpPr>
        <p:spPr>
          <a:xfrm>
            <a:off x="682171" y="1361289"/>
            <a:ext cx="1509486" cy="307777"/>
          </a:xfrm>
          <a:prstGeom prst="rect">
            <a:avLst/>
          </a:prstGeom>
          <a:noFill/>
        </p:spPr>
        <p:txBody>
          <a:bodyPr wrap="square" rtlCol="0">
            <a:spAutoFit/>
          </a:bodyPr>
          <a:lstStyle/>
          <a:p>
            <a:r>
              <a:rPr lang="en-US" dirty="0"/>
              <a:t>a</a:t>
            </a:r>
            <a:r>
              <a:rPr lang="en-US" dirty="0" smtClean="0"/>
              <a:t>nger:</a:t>
            </a:r>
            <a:endParaRPr lang="en-US" dirty="0"/>
          </a:p>
        </p:txBody>
      </p:sp>
      <p:sp>
        <p:nvSpPr>
          <p:cNvPr id="9" name="TextBox 8"/>
          <p:cNvSpPr txBox="1"/>
          <p:nvPr/>
        </p:nvSpPr>
        <p:spPr>
          <a:xfrm>
            <a:off x="493307" y="3019821"/>
            <a:ext cx="1299207" cy="307777"/>
          </a:xfrm>
          <a:prstGeom prst="rect">
            <a:avLst/>
          </a:prstGeom>
          <a:noFill/>
        </p:spPr>
        <p:txBody>
          <a:bodyPr wrap="square" rtlCol="0">
            <a:spAutoFit/>
          </a:bodyPr>
          <a:lstStyle/>
          <a:p>
            <a:r>
              <a:rPr lang="en-US" dirty="0"/>
              <a:t>d</a:t>
            </a:r>
            <a:r>
              <a:rPr lang="en-US" dirty="0" smtClean="0"/>
              <a:t>isgust:</a:t>
            </a:r>
            <a:endParaRPr lang="en-US" dirty="0"/>
          </a:p>
        </p:txBody>
      </p:sp>
    </p:spTree>
    <p:extLst>
      <p:ext uri="{BB962C8B-B14F-4D97-AF65-F5344CB8AC3E}">
        <p14:creationId xmlns:p14="http://schemas.microsoft.com/office/powerpoint/2010/main" val="4051905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13</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2164596836"/>
              </p:ext>
            </p:extLst>
          </p:nvPr>
        </p:nvGraphicFramePr>
        <p:xfrm>
          <a:off x="497515" y="1054635"/>
          <a:ext cx="8008658" cy="1102360"/>
        </p:xfrm>
        <a:graphic>
          <a:graphicData uri="http://schemas.openxmlformats.org/drawingml/2006/table">
            <a:tbl>
              <a:tblPr firstRow="1" bandRow="1">
                <a:tableStyleId>{5C22544A-7EE6-4342-B048-85BDC9FD1C3A}</a:tableStyleId>
              </a:tblPr>
              <a:tblGrid>
                <a:gridCol w="1144094">
                  <a:extLst>
                    <a:ext uri="{9D8B030D-6E8A-4147-A177-3AD203B41FA5}">
                      <a16:colId xmlns:a16="http://schemas.microsoft.com/office/drawing/2014/main" val="4049186754"/>
                    </a:ext>
                  </a:extLst>
                </a:gridCol>
                <a:gridCol w="1144094">
                  <a:extLst>
                    <a:ext uri="{9D8B030D-6E8A-4147-A177-3AD203B41FA5}">
                      <a16:colId xmlns:a16="http://schemas.microsoft.com/office/drawing/2014/main" val="1864259392"/>
                    </a:ext>
                  </a:extLst>
                </a:gridCol>
                <a:gridCol w="1144094">
                  <a:extLst>
                    <a:ext uri="{9D8B030D-6E8A-4147-A177-3AD203B41FA5}">
                      <a16:colId xmlns:a16="http://schemas.microsoft.com/office/drawing/2014/main" val="3175270220"/>
                    </a:ext>
                  </a:extLst>
                </a:gridCol>
                <a:gridCol w="1144094">
                  <a:extLst>
                    <a:ext uri="{9D8B030D-6E8A-4147-A177-3AD203B41FA5}">
                      <a16:colId xmlns:a16="http://schemas.microsoft.com/office/drawing/2014/main" val="2053500463"/>
                    </a:ext>
                  </a:extLst>
                </a:gridCol>
                <a:gridCol w="1144094">
                  <a:extLst>
                    <a:ext uri="{9D8B030D-6E8A-4147-A177-3AD203B41FA5}">
                      <a16:colId xmlns:a16="http://schemas.microsoft.com/office/drawing/2014/main" val="1663986125"/>
                    </a:ext>
                  </a:extLst>
                </a:gridCol>
                <a:gridCol w="1144094">
                  <a:extLst>
                    <a:ext uri="{9D8B030D-6E8A-4147-A177-3AD203B41FA5}">
                      <a16:colId xmlns:a16="http://schemas.microsoft.com/office/drawing/2014/main" val="3168953696"/>
                    </a:ext>
                  </a:extLst>
                </a:gridCol>
                <a:gridCol w="1144094">
                  <a:extLst>
                    <a:ext uri="{9D8B030D-6E8A-4147-A177-3AD203B41FA5}">
                      <a16:colId xmlns:a16="http://schemas.microsoft.com/office/drawing/2014/main" val="2105327687"/>
                    </a:ext>
                  </a:extLst>
                </a:gridCol>
              </a:tblGrid>
              <a:tr h="370840">
                <a:tc>
                  <a:txBody>
                    <a:bodyPr/>
                    <a:lstStyle/>
                    <a:p>
                      <a:r>
                        <a:rPr lang="en-US" dirty="0" smtClean="0"/>
                        <a:t>synonym</a:t>
                      </a:r>
                      <a:endParaRPr lang="en-US" dirty="0"/>
                    </a:p>
                  </a:txBody>
                  <a:tcPr/>
                </a:tc>
                <a:tc>
                  <a:txBody>
                    <a:bodyPr/>
                    <a:lstStyle/>
                    <a:p>
                      <a:r>
                        <a:rPr lang="en-US" dirty="0" smtClean="0"/>
                        <a:t>fear</a:t>
                      </a:r>
                      <a:endParaRPr lang="en-US" dirty="0"/>
                    </a:p>
                  </a:txBody>
                  <a:tcPr/>
                </a:tc>
                <a:tc>
                  <a:txBody>
                    <a:bodyPr/>
                    <a:lstStyle/>
                    <a:p>
                      <a:r>
                        <a:rPr lang="en-US" dirty="0" smtClean="0"/>
                        <a:t>horror</a:t>
                      </a:r>
                      <a:endParaRPr lang="en-US" dirty="0"/>
                    </a:p>
                  </a:txBody>
                  <a:tcPr/>
                </a:tc>
                <a:tc>
                  <a:txBody>
                    <a:bodyPr/>
                    <a:lstStyle/>
                    <a:p>
                      <a:r>
                        <a:rPr lang="en-US" dirty="0" smtClean="0"/>
                        <a:t>anxiety</a:t>
                      </a:r>
                      <a:endParaRPr lang="en-US" dirty="0"/>
                    </a:p>
                  </a:txBody>
                  <a:tcPr/>
                </a:tc>
                <a:tc>
                  <a:txBody>
                    <a:bodyPr/>
                    <a:lstStyle/>
                    <a:p>
                      <a:r>
                        <a:rPr lang="en-US" dirty="0" smtClean="0"/>
                        <a:t>terror</a:t>
                      </a:r>
                      <a:endParaRPr lang="en-US" dirty="0"/>
                    </a:p>
                  </a:txBody>
                  <a:tcPr/>
                </a:tc>
                <a:tc>
                  <a:txBody>
                    <a:bodyPr/>
                    <a:lstStyle/>
                    <a:p>
                      <a:r>
                        <a:rPr lang="en-US" dirty="0" smtClean="0"/>
                        <a:t>dread</a:t>
                      </a:r>
                      <a:endParaRPr lang="en-US" dirty="0"/>
                    </a:p>
                  </a:txBody>
                  <a:tcPr/>
                </a:tc>
                <a:tc>
                  <a:txBody>
                    <a:bodyPr/>
                    <a:lstStyle/>
                    <a:p>
                      <a:r>
                        <a:rPr lang="en-US" dirty="0" smtClean="0"/>
                        <a:t>scare</a:t>
                      </a:r>
                      <a:endParaRPr lang="en-US" dirty="0"/>
                    </a:p>
                  </a:txBody>
                  <a:tcPr/>
                </a:tc>
                <a:extLst>
                  <a:ext uri="{0D108BD9-81ED-4DB2-BD59-A6C34878D82A}">
                    <a16:rowId xmlns:a16="http://schemas.microsoft.com/office/drawing/2014/main" val="2373476349"/>
                  </a:ext>
                </a:extLst>
              </a:tr>
              <a:tr h="370840">
                <a:tc>
                  <a:txBody>
                    <a:bodyPr/>
                    <a:lstStyle/>
                    <a:p>
                      <a:r>
                        <a:rPr lang="en-US" dirty="0" smtClean="0"/>
                        <a:t>Average of entailment probabilities </a:t>
                      </a:r>
                      <a:endParaRPr lang="en-US" dirty="0"/>
                    </a:p>
                  </a:txBody>
                  <a:tcPr/>
                </a:tc>
                <a:tc>
                  <a:txBody>
                    <a:bodyPr/>
                    <a:lstStyle/>
                    <a:p>
                      <a:r>
                        <a:rPr lang="en-US" dirty="0" smtClean="0"/>
                        <a:t>0.76</a:t>
                      </a:r>
                      <a:endParaRPr lang="en-US" dirty="0"/>
                    </a:p>
                  </a:txBody>
                  <a:tcPr/>
                </a:tc>
                <a:tc>
                  <a:txBody>
                    <a:bodyPr/>
                    <a:lstStyle/>
                    <a:p>
                      <a:r>
                        <a:rPr lang="en-US" dirty="0" smtClean="0"/>
                        <a:t>0.62</a:t>
                      </a:r>
                      <a:endParaRPr lang="en-US" dirty="0"/>
                    </a:p>
                  </a:txBody>
                  <a:tcPr/>
                </a:tc>
                <a:tc>
                  <a:txBody>
                    <a:bodyPr/>
                    <a:lstStyle/>
                    <a:p>
                      <a:r>
                        <a:rPr lang="en-US" dirty="0" smtClean="0"/>
                        <a:t>0.76</a:t>
                      </a:r>
                      <a:endParaRPr lang="en-US" dirty="0"/>
                    </a:p>
                  </a:txBody>
                  <a:tcPr/>
                </a:tc>
                <a:tc>
                  <a:txBody>
                    <a:bodyPr/>
                    <a:lstStyle/>
                    <a:p>
                      <a:r>
                        <a:rPr lang="en-US" dirty="0" smtClean="0"/>
                        <a:t>0.62</a:t>
                      </a:r>
                      <a:endParaRPr lang="en-US" dirty="0"/>
                    </a:p>
                  </a:txBody>
                  <a:tcPr/>
                </a:tc>
                <a:tc>
                  <a:txBody>
                    <a:bodyPr/>
                    <a:lstStyle/>
                    <a:p>
                      <a:r>
                        <a:rPr lang="en-US" dirty="0" smtClean="0"/>
                        <a:t>0.68</a:t>
                      </a:r>
                      <a:endParaRPr lang="en-US" dirty="0"/>
                    </a:p>
                  </a:txBody>
                  <a:tcPr/>
                </a:tc>
                <a:tc>
                  <a:txBody>
                    <a:bodyPr/>
                    <a:lstStyle/>
                    <a:p>
                      <a:r>
                        <a:rPr lang="en-US" dirty="0" smtClean="0"/>
                        <a:t>0.81</a:t>
                      </a:r>
                      <a:endParaRPr lang="en-US" dirty="0"/>
                    </a:p>
                  </a:txBody>
                  <a:tcPr/>
                </a:tc>
                <a:extLst>
                  <a:ext uri="{0D108BD9-81ED-4DB2-BD59-A6C34878D82A}">
                    <a16:rowId xmlns:a16="http://schemas.microsoft.com/office/drawing/2014/main" val="338429157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508868103"/>
              </p:ext>
            </p:extLst>
          </p:nvPr>
        </p:nvGraphicFramePr>
        <p:xfrm>
          <a:off x="497515" y="2858610"/>
          <a:ext cx="8541655" cy="1283424"/>
        </p:xfrm>
        <a:graphic>
          <a:graphicData uri="http://schemas.openxmlformats.org/drawingml/2006/table">
            <a:tbl>
              <a:tblPr firstRow="1" bandRow="1">
                <a:tableStyleId>{5C22544A-7EE6-4342-B048-85BDC9FD1C3A}</a:tableStyleId>
              </a:tblPr>
              <a:tblGrid>
                <a:gridCol w="1221335">
                  <a:extLst>
                    <a:ext uri="{9D8B030D-6E8A-4147-A177-3AD203B41FA5}">
                      <a16:colId xmlns:a16="http://schemas.microsoft.com/office/drawing/2014/main" val="3338175615"/>
                    </a:ext>
                  </a:extLst>
                </a:gridCol>
                <a:gridCol w="1221335">
                  <a:extLst>
                    <a:ext uri="{9D8B030D-6E8A-4147-A177-3AD203B41FA5}">
                      <a16:colId xmlns:a16="http://schemas.microsoft.com/office/drawing/2014/main" val="2242755861"/>
                    </a:ext>
                  </a:extLst>
                </a:gridCol>
                <a:gridCol w="1221335">
                  <a:extLst>
                    <a:ext uri="{9D8B030D-6E8A-4147-A177-3AD203B41FA5}">
                      <a16:colId xmlns:a16="http://schemas.microsoft.com/office/drawing/2014/main" val="1956018544"/>
                    </a:ext>
                  </a:extLst>
                </a:gridCol>
                <a:gridCol w="1221335">
                  <a:extLst>
                    <a:ext uri="{9D8B030D-6E8A-4147-A177-3AD203B41FA5}">
                      <a16:colId xmlns:a16="http://schemas.microsoft.com/office/drawing/2014/main" val="3142988322"/>
                    </a:ext>
                  </a:extLst>
                </a:gridCol>
                <a:gridCol w="1221335">
                  <a:extLst>
                    <a:ext uri="{9D8B030D-6E8A-4147-A177-3AD203B41FA5}">
                      <a16:colId xmlns:a16="http://schemas.microsoft.com/office/drawing/2014/main" val="3662823564"/>
                    </a:ext>
                  </a:extLst>
                </a:gridCol>
                <a:gridCol w="1221335">
                  <a:extLst>
                    <a:ext uri="{9D8B030D-6E8A-4147-A177-3AD203B41FA5}">
                      <a16:colId xmlns:a16="http://schemas.microsoft.com/office/drawing/2014/main" val="3454475764"/>
                    </a:ext>
                  </a:extLst>
                </a:gridCol>
                <a:gridCol w="1213645">
                  <a:extLst>
                    <a:ext uri="{9D8B030D-6E8A-4147-A177-3AD203B41FA5}">
                      <a16:colId xmlns:a16="http://schemas.microsoft.com/office/drawing/2014/main" val="3263443108"/>
                    </a:ext>
                  </a:extLst>
                </a:gridCol>
              </a:tblGrid>
              <a:tr h="551904">
                <a:tc>
                  <a:txBody>
                    <a:bodyPr/>
                    <a:lstStyle/>
                    <a:p>
                      <a:r>
                        <a:rPr lang="en-US" dirty="0" smtClean="0"/>
                        <a:t>synonym</a:t>
                      </a:r>
                      <a:endParaRPr lang="en-US" dirty="0"/>
                    </a:p>
                  </a:txBody>
                  <a:tcPr/>
                </a:tc>
                <a:tc>
                  <a:txBody>
                    <a:bodyPr/>
                    <a:lstStyle/>
                    <a:p>
                      <a:r>
                        <a:rPr lang="en-US" dirty="0" smtClean="0"/>
                        <a:t>guilt</a:t>
                      </a:r>
                      <a:endParaRPr lang="en-US" dirty="0"/>
                    </a:p>
                  </a:txBody>
                  <a:tcPr/>
                </a:tc>
                <a:tc>
                  <a:txBody>
                    <a:bodyPr/>
                    <a:lstStyle/>
                    <a:p>
                      <a:r>
                        <a:rPr lang="en-US" dirty="0" smtClean="0"/>
                        <a:t>culpability</a:t>
                      </a:r>
                      <a:endParaRPr lang="en-US" dirty="0"/>
                    </a:p>
                  </a:txBody>
                  <a:tcPr/>
                </a:tc>
                <a:tc>
                  <a:txBody>
                    <a:bodyPr/>
                    <a:lstStyle/>
                    <a:p>
                      <a:r>
                        <a:rPr lang="en-US" dirty="0" smtClean="0"/>
                        <a:t>blameworthy</a:t>
                      </a:r>
                      <a:endParaRPr lang="en-US" dirty="0"/>
                    </a:p>
                  </a:txBody>
                  <a:tcPr/>
                </a:tc>
                <a:tc>
                  <a:txBody>
                    <a:bodyPr/>
                    <a:lstStyle/>
                    <a:p>
                      <a:r>
                        <a:rPr lang="en-US" dirty="0" smtClean="0"/>
                        <a:t>responsibility</a:t>
                      </a:r>
                      <a:endParaRPr lang="en-US" dirty="0"/>
                    </a:p>
                  </a:txBody>
                  <a:tcPr/>
                </a:tc>
                <a:tc>
                  <a:txBody>
                    <a:bodyPr/>
                    <a:lstStyle/>
                    <a:p>
                      <a:r>
                        <a:rPr lang="en-US" dirty="0" smtClean="0"/>
                        <a:t>misconduct</a:t>
                      </a:r>
                      <a:endParaRPr lang="en-US" dirty="0"/>
                    </a:p>
                  </a:txBody>
                  <a:tcPr/>
                </a:tc>
                <a:tc>
                  <a:txBody>
                    <a:bodyPr/>
                    <a:lstStyle/>
                    <a:p>
                      <a:r>
                        <a:rPr lang="en-US" dirty="0" smtClean="0"/>
                        <a:t>regret</a:t>
                      </a:r>
                      <a:endParaRPr lang="en-US" dirty="0"/>
                    </a:p>
                  </a:txBody>
                  <a:tcPr/>
                </a:tc>
                <a:extLst>
                  <a:ext uri="{0D108BD9-81ED-4DB2-BD59-A6C34878D82A}">
                    <a16:rowId xmlns:a16="http://schemas.microsoft.com/office/drawing/2014/main" val="685519679"/>
                  </a:ext>
                </a:extLst>
              </a:tr>
              <a:tr h="551904">
                <a:tc>
                  <a:txBody>
                    <a:bodyPr/>
                    <a:lstStyle/>
                    <a:p>
                      <a:r>
                        <a:rPr lang="en-US" dirty="0" smtClean="0"/>
                        <a:t>Average of entailment probabilities </a:t>
                      </a:r>
                      <a:endParaRPr lang="en-US" dirty="0"/>
                    </a:p>
                  </a:txBody>
                  <a:tcPr/>
                </a:tc>
                <a:tc>
                  <a:txBody>
                    <a:bodyPr/>
                    <a:lstStyle/>
                    <a:p>
                      <a:r>
                        <a:rPr lang="en-US" dirty="0" smtClean="0"/>
                        <a:t>0.78</a:t>
                      </a:r>
                      <a:endParaRPr lang="en-US" dirty="0"/>
                    </a:p>
                  </a:txBody>
                  <a:tcPr/>
                </a:tc>
                <a:tc>
                  <a:txBody>
                    <a:bodyPr/>
                    <a:lstStyle/>
                    <a:p>
                      <a:r>
                        <a:rPr lang="en-US" dirty="0" smtClean="0"/>
                        <a:t>0.87</a:t>
                      </a:r>
                      <a:endParaRPr lang="en-US" dirty="0"/>
                    </a:p>
                  </a:txBody>
                  <a:tcPr/>
                </a:tc>
                <a:tc>
                  <a:txBody>
                    <a:bodyPr/>
                    <a:lstStyle/>
                    <a:p>
                      <a:r>
                        <a:rPr lang="en-US" dirty="0" smtClean="0"/>
                        <a:t>0.8</a:t>
                      </a:r>
                      <a:endParaRPr lang="en-US" dirty="0"/>
                    </a:p>
                  </a:txBody>
                  <a:tcPr/>
                </a:tc>
                <a:tc>
                  <a:txBody>
                    <a:bodyPr/>
                    <a:lstStyle/>
                    <a:p>
                      <a:r>
                        <a:rPr lang="en-US" dirty="0" smtClean="0"/>
                        <a:t>0.67</a:t>
                      </a:r>
                      <a:endParaRPr lang="en-US" dirty="0"/>
                    </a:p>
                  </a:txBody>
                  <a:tcPr/>
                </a:tc>
                <a:tc>
                  <a:txBody>
                    <a:bodyPr/>
                    <a:lstStyle/>
                    <a:p>
                      <a:r>
                        <a:rPr lang="en-US" dirty="0" smtClean="0"/>
                        <a:t>0.77</a:t>
                      </a:r>
                      <a:endParaRPr lang="en-US" dirty="0"/>
                    </a:p>
                  </a:txBody>
                  <a:tcPr/>
                </a:tc>
                <a:tc>
                  <a:txBody>
                    <a:bodyPr/>
                    <a:lstStyle/>
                    <a:p>
                      <a:r>
                        <a:rPr lang="en-US" dirty="0" smtClean="0"/>
                        <a:t>0.71</a:t>
                      </a:r>
                      <a:endParaRPr lang="en-US" dirty="0"/>
                    </a:p>
                  </a:txBody>
                  <a:tcPr/>
                </a:tc>
                <a:extLst>
                  <a:ext uri="{0D108BD9-81ED-4DB2-BD59-A6C34878D82A}">
                    <a16:rowId xmlns:a16="http://schemas.microsoft.com/office/drawing/2014/main" val="1115609313"/>
                  </a:ext>
                </a:extLst>
              </a:tr>
            </a:tbl>
          </a:graphicData>
        </a:graphic>
      </p:graphicFrame>
      <p:sp>
        <p:nvSpPr>
          <p:cNvPr id="3" name="TextBox 2"/>
          <p:cNvSpPr txBox="1"/>
          <p:nvPr/>
        </p:nvSpPr>
        <p:spPr>
          <a:xfrm>
            <a:off x="667657" y="667657"/>
            <a:ext cx="1153886" cy="307777"/>
          </a:xfrm>
          <a:prstGeom prst="rect">
            <a:avLst/>
          </a:prstGeom>
          <a:noFill/>
        </p:spPr>
        <p:txBody>
          <a:bodyPr wrap="square" rtlCol="0">
            <a:spAutoFit/>
          </a:bodyPr>
          <a:lstStyle/>
          <a:p>
            <a:r>
              <a:rPr lang="en-US" dirty="0"/>
              <a:t>f</a:t>
            </a:r>
            <a:r>
              <a:rPr lang="en-US" dirty="0" smtClean="0"/>
              <a:t>ear:</a:t>
            </a:r>
            <a:endParaRPr lang="en-US" dirty="0"/>
          </a:p>
        </p:txBody>
      </p:sp>
      <p:sp>
        <p:nvSpPr>
          <p:cNvPr id="7" name="TextBox 6"/>
          <p:cNvSpPr txBox="1"/>
          <p:nvPr/>
        </p:nvSpPr>
        <p:spPr>
          <a:xfrm>
            <a:off x="595086" y="2322286"/>
            <a:ext cx="1197428" cy="307777"/>
          </a:xfrm>
          <a:prstGeom prst="rect">
            <a:avLst/>
          </a:prstGeom>
          <a:noFill/>
        </p:spPr>
        <p:txBody>
          <a:bodyPr wrap="square" rtlCol="0">
            <a:spAutoFit/>
          </a:bodyPr>
          <a:lstStyle/>
          <a:p>
            <a:r>
              <a:rPr lang="en-US" dirty="0"/>
              <a:t>g</a:t>
            </a:r>
            <a:r>
              <a:rPr lang="en-US" dirty="0" smtClean="0"/>
              <a:t>uilt:</a:t>
            </a:r>
            <a:endParaRPr lang="en-US" dirty="0"/>
          </a:p>
        </p:txBody>
      </p:sp>
    </p:spTree>
    <p:extLst>
      <p:ext uri="{BB962C8B-B14F-4D97-AF65-F5344CB8AC3E}">
        <p14:creationId xmlns:p14="http://schemas.microsoft.com/office/powerpoint/2010/main" val="1779444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14</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1546192942"/>
              </p:ext>
            </p:extLst>
          </p:nvPr>
        </p:nvGraphicFramePr>
        <p:xfrm>
          <a:off x="540653" y="1060665"/>
          <a:ext cx="8062691" cy="1259884"/>
        </p:xfrm>
        <a:graphic>
          <a:graphicData uri="http://schemas.openxmlformats.org/drawingml/2006/table">
            <a:tbl>
              <a:tblPr firstRow="1" bandRow="1">
                <a:tableStyleId>{5C22544A-7EE6-4342-B048-85BDC9FD1C3A}</a:tableStyleId>
              </a:tblPr>
              <a:tblGrid>
                <a:gridCol w="1151813">
                  <a:extLst>
                    <a:ext uri="{9D8B030D-6E8A-4147-A177-3AD203B41FA5}">
                      <a16:colId xmlns:a16="http://schemas.microsoft.com/office/drawing/2014/main" val="3564254509"/>
                    </a:ext>
                  </a:extLst>
                </a:gridCol>
                <a:gridCol w="1151813">
                  <a:extLst>
                    <a:ext uri="{9D8B030D-6E8A-4147-A177-3AD203B41FA5}">
                      <a16:colId xmlns:a16="http://schemas.microsoft.com/office/drawing/2014/main" val="2423578708"/>
                    </a:ext>
                  </a:extLst>
                </a:gridCol>
                <a:gridCol w="1151813">
                  <a:extLst>
                    <a:ext uri="{9D8B030D-6E8A-4147-A177-3AD203B41FA5}">
                      <a16:colId xmlns:a16="http://schemas.microsoft.com/office/drawing/2014/main" val="3330058820"/>
                    </a:ext>
                  </a:extLst>
                </a:gridCol>
                <a:gridCol w="1151813">
                  <a:extLst>
                    <a:ext uri="{9D8B030D-6E8A-4147-A177-3AD203B41FA5}">
                      <a16:colId xmlns:a16="http://schemas.microsoft.com/office/drawing/2014/main" val="1201558090"/>
                    </a:ext>
                  </a:extLst>
                </a:gridCol>
                <a:gridCol w="1151813">
                  <a:extLst>
                    <a:ext uri="{9D8B030D-6E8A-4147-A177-3AD203B41FA5}">
                      <a16:colId xmlns:a16="http://schemas.microsoft.com/office/drawing/2014/main" val="678461062"/>
                    </a:ext>
                  </a:extLst>
                </a:gridCol>
                <a:gridCol w="1151813">
                  <a:extLst>
                    <a:ext uri="{9D8B030D-6E8A-4147-A177-3AD203B41FA5}">
                      <a16:colId xmlns:a16="http://schemas.microsoft.com/office/drawing/2014/main" val="1943154136"/>
                    </a:ext>
                  </a:extLst>
                </a:gridCol>
                <a:gridCol w="1151813">
                  <a:extLst>
                    <a:ext uri="{9D8B030D-6E8A-4147-A177-3AD203B41FA5}">
                      <a16:colId xmlns:a16="http://schemas.microsoft.com/office/drawing/2014/main" val="1906479259"/>
                    </a:ext>
                  </a:extLst>
                </a:gridCol>
              </a:tblGrid>
              <a:tr h="528364">
                <a:tc>
                  <a:txBody>
                    <a:bodyPr/>
                    <a:lstStyle/>
                    <a:p>
                      <a:r>
                        <a:rPr lang="en-US" dirty="0" smtClean="0"/>
                        <a:t>synonym</a:t>
                      </a:r>
                      <a:endParaRPr lang="en-US" dirty="0"/>
                    </a:p>
                  </a:txBody>
                  <a:tcPr/>
                </a:tc>
                <a:tc>
                  <a:txBody>
                    <a:bodyPr/>
                    <a:lstStyle/>
                    <a:p>
                      <a:r>
                        <a:rPr lang="en-US" dirty="0" smtClean="0"/>
                        <a:t>joy</a:t>
                      </a:r>
                      <a:endParaRPr lang="en-US" dirty="0"/>
                    </a:p>
                  </a:txBody>
                  <a:tcPr/>
                </a:tc>
                <a:tc>
                  <a:txBody>
                    <a:bodyPr/>
                    <a:lstStyle/>
                    <a:p>
                      <a:r>
                        <a:rPr lang="en-US" dirty="0" smtClean="0"/>
                        <a:t>achievement</a:t>
                      </a:r>
                      <a:endParaRPr lang="en-US" dirty="0"/>
                    </a:p>
                  </a:txBody>
                  <a:tcPr/>
                </a:tc>
                <a:tc>
                  <a:txBody>
                    <a:bodyPr/>
                    <a:lstStyle/>
                    <a:p>
                      <a:r>
                        <a:rPr lang="en-US" dirty="0" smtClean="0"/>
                        <a:t>pleasure</a:t>
                      </a:r>
                      <a:endParaRPr lang="en-US" dirty="0"/>
                    </a:p>
                  </a:txBody>
                  <a:tcPr/>
                </a:tc>
                <a:tc>
                  <a:txBody>
                    <a:bodyPr/>
                    <a:lstStyle/>
                    <a:p>
                      <a:r>
                        <a:rPr lang="en-US" dirty="0" smtClean="0"/>
                        <a:t>awesome</a:t>
                      </a:r>
                      <a:endParaRPr lang="en-US" dirty="0"/>
                    </a:p>
                  </a:txBody>
                  <a:tcPr/>
                </a:tc>
                <a:tc>
                  <a:txBody>
                    <a:bodyPr/>
                    <a:lstStyle/>
                    <a:p>
                      <a:r>
                        <a:rPr lang="en-US" dirty="0" smtClean="0"/>
                        <a:t>happy</a:t>
                      </a:r>
                      <a:endParaRPr lang="en-US" dirty="0"/>
                    </a:p>
                  </a:txBody>
                  <a:tcPr/>
                </a:tc>
                <a:tc>
                  <a:txBody>
                    <a:bodyPr/>
                    <a:lstStyle/>
                    <a:p>
                      <a:r>
                        <a:rPr lang="en-US" dirty="0" smtClean="0"/>
                        <a:t>blessed</a:t>
                      </a:r>
                      <a:endParaRPr lang="en-US" dirty="0"/>
                    </a:p>
                  </a:txBody>
                  <a:tcPr/>
                </a:tc>
                <a:extLst>
                  <a:ext uri="{0D108BD9-81ED-4DB2-BD59-A6C34878D82A}">
                    <a16:rowId xmlns:a16="http://schemas.microsoft.com/office/drawing/2014/main" val="1134613916"/>
                  </a:ext>
                </a:extLst>
              </a:tr>
              <a:tr h="370840">
                <a:tc>
                  <a:txBody>
                    <a:bodyPr/>
                    <a:lstStyle/>
                    <a:p>
                      <a:r>
                        <a:rPr lang="en-US" dirty="0" smtClean="0"/>
                        <a:t>Average of entailment probabilities </a:t>
                      </a:r>
                      <a:endParaRPr lang="en-US" dirty="0"/>
                    </a:p>
                  </a:txBody>
                  <a:tcPr/>
                </a:tc>
                <a:tc>
                  <a:txBody>
                    <a:bodyPr/>
                    <a:lstStyle/>
                    <a:p>
                      <a:r>
                        <a:rPr lang="en-US" dirty="0" smtClean="0"/>
                        <a:t>0.6</a:t>
                      </a:r>
                      <a:endParaRPr lang="en-US" dirty="0"/>
                    </a:p>
                  </a:txBody>
                  <a:tcPr/>
                </a:tc>
                <a:tc>
                  <a:txBody>
                    <a:bodyPr/>
                    <a:lstStyle/>
                    <a:p>
                      <a:r>
                        <a:rPr lang="en-US" dirty="0" smtClean="0"/>
                        <a:t>0.55</a:t>
                      </a:r>
                      <a:endParaRPr lang="en-US" dirty="0"/>
                    </a:p>
                  </a:txBody>
                  <a:tcPr/>
                </a:tc>
                <a:tc>
                  <a:txBody>
                    <a:bodyPr/>
                    <a:lstStyle/>
                    <a:p>
                      <a:r>
                        <a:rPr lang="en-US" dirty="0" smtClean="0"/>
                        <a:t>0.64</a:t>
                      </a:r>
                      <a:endParaRPr lang="en-US" dirty="0"/>
                    </a:p>
                  </a:txBody>
                  <a:tcPr/>
                </a:tc>
                <a:tc>
                  <a:txBody>
                    <a:bodyPr/>
                    <a:lstStyle/>
                    <a:p>
                      <a:r>
                        <a:rPr lang="en-US" dirty="0" smtClean="0"/>
                        <a:t>0.61</a:t>
                      </a:r>
                      <a:endParaRPr lang="en-US" dirty="0"/>
                    </a:p>
                  </a:txBody>
                  <a:tcPr/>
                </a:tc>
                <a:tc>
                  <a:txBody>
                    <a:bodyPr/>
                    <a:lstStyle/>
                    <a:p>
                      <a:r>
                        <a:rPr lang="en-US" dirty="0" smtClean="0"/>
                        <a:t>0.68</a:t>
                      </a:r>
                      <a:endParaRPr lang="en-US" dirty="0"/>
                    </a:p>
                  </a:txBody>
                  <a:tcPr/>
                </a:tc>
                <a:tc>
                  <a:txBody>
                    <a:bodyPr/>
                    <a:lstStyle/>
                    <a:p>
                      <a:r>
                        <a:rPr lang="en-US" dirty="0" smtClean="0"/>
                        <a:t>0.48</a:t>
                      </a:r>
                      <a:endParaRPr lang="en-US" dirty="0"/>
                    </a:p>
                  </a:txBody>
                  <a:tcPr/>
                </a:tc>
                <a:extLst>
                  <a:ext uri="{0D108BD9-81ED-4DB2-BD59-A6C34878D82A}">
                    <a16:rowId xmlns:a16="http://schemas.microsoft.com/office/drawing/2014/main" val="49744234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32784248"/>
              </p:ext>
            </p:extLst>
          </p:nvPr>
        </p:nvGraphicFramePr>
        <p:xfrm>
          <a:off x="540653" y="2808514"/>
          <a:ext cx="8291647" cy="1463040"/>
        </p:xfrm>
        <a:graphic>
          <a:graphicData uri="http://schemas.openxmlformats.org/drawingml/2006/table">
            <a:tbl>
              <a:tblPr firstRow="1" bandRow="1">
                <a:tableStyleId>{5C22544A-7EE6-4342-B048-85BDC9FD1C3A}</a:tableStyleId>
              </a:tblPr>
              <a:tblGrid>
                <a:gridCol w="1184521">
                  <a:extLst>
                    <a:ext uri="{9D8B030D-6E8A-4147-A177-3AD203B41FA5}">
                      <a16:colId xmlns:a16="http://schemas.microsoft.com/office/drawing/2014/main" val="2659628695"/>
                    </a:ext>
                  </a:extLst>
                </a:gridCol>
                <a:gridCol w="1184521">
                  <a:extLst>
                    <a:ext uri="{9D8B030D-6E8A-4147-A177-3AD203B41FA5}">
                      <a16:colId xmlns:a16="http://schemas.microsoft.com/office/drawing/2014/main" val="3500007172"/>
                    </a:ext>
                  </a:extLst>
                </a:gridCol>
                <a:gridCol w="1184521">
                  <a:extLst>
                    <a:ext uri="{9D8B030D-6E8A-4147-A177-3AD203B41FA5}">
                      <a16:colId xmlns:a16="http://schemas.microsoft.com/office/drawing/2014/main" val="1198418828"/>
                    </a:ext>
                  </a:extLst>
                </a:gridCol>
                <a:gridCol w="1184521">
                  <a:extLst>
                    <a:ext uri="{9D8B030D-6E8A-4147-A177-3AD203B41FA5}">
                      <a16:colId xmlns:a16="http://schemas.microsoft.com/office/drawing/2014/main" val="3945299454"/>
                    </a:ext>
                  </a:extLst>
                </a:gridCol>
                <a:gridCol w="1184521">
                  <a:extLst>
                    <a:ext uri="{9D8B030D-6E8A-4147-A177-3AD203B41FA5}">
                      <a16:colId xmlns:a16="http://schemas.microsoft.com/office/drawing/2014/main" val="2559667161"/>
                    </a:ext>
                  </a:extLst>
                </a:gridCol>
                <a:gridCol w="1184521">
                  <a:extLst>
                    <a:ext uri="{9D8B030D-6E8A-4147-A177-3AD203B41FA5}">
                      <a16:colId xmlns:a16="http://schemas.microsoft.com/office/drawing/2014/main" val="1906041258"/>
                    </a:ext>
                  </a:extLst>
                </a:gridCol>
                <a:gridCol w="1184521">
                  <a:extLst>
                    <a:ext uri="{9D8B030D-6E8A-4147-A177-3AD203B41FA5}">
                      <a16:colId xmlns:a16="http://schemas.microsoft.com/office/drawing/2014/main" val="1451328961"/>
                    </a:ext>
                  </a:extLst>
                </a:gridCol>
              </a:tblGrid>
              <a:tr h="339319">
                <a:tc>
                  <a:txBody>
                    <a:bodyPr/>
                    <a:lstStyle/>
                    <a:p>
                      <a:r>
                        <a:rPr lang="en-US" dirty="0" smtClean="0"/>
                        <a:t>synonym</a:t>
                      </a:r>
                      <a:endParaRPr lang="en-US" dirty="0"/>
                    </a:p>
                  </a:txBody>
                  <a:tcPr/>
                </a:tc>
                <a:tc>
                  <a:txBody>
                    <a:bodyPr/>
                    <a:lstStyle/>
                    <a:p>
                      <a:r>
                        <a:rPr lang="en-US" dirty="0" smtClean="0"/>
                        <a:t>sadness</a:t>
                      </a:r>
                      <a:endParaRPr lang="en-US" dirty="0"/>
                    </a:p>
                  </a:txBody>
                  <a:tcPr/>
                </a:tc>
                <a:tc>
                  <a:txBody>
                    <a:bodyPr/>
                    <a:lstStyle/>
                    <a:p>
                      <a:r>
                        <a:rPr lang="en-US" dirty="0" smtClean="0"/>
                        <a:t>unhappiness</a:t>
                      </a:r>
                      <a:endParaRPr lang="en-US" dirty="0"/>
                    </a:p>
                  </a:txBody>
                  <a:tcPr/>
                </a:tc>
                <a:tc>
                  <a:txBody>
                    <a:bodyPr/>
                    <a:lstStyle/>
                    <a:p>
                      <a:r>
                        <a:rPr lang="en-US" dirty="0" smtClean="0"/>
                        <a:t>grief</a:t>
                      </a:r>
                      <a:endParaRPr lang="en-US" dirty="0"/>
                    </a:p>
                  </a:txBody>
                  <a:tcPr/>
                </a:tc>
                <a:tc>
                  <a:txBody>
                    <a:bodyPr/>
                    <a:lstStyle/>
                    <a:p>
                      <a:r>
                        <a:rPr lang="en-US" dirty="0" smtClean="0"/>
                        <a:t>sorrow</a:t>
                      </a:r>
                      <a:endParaRPr lang="en-US" dirty="0"/>
                    </a:p>
                  </a:txBody>
                  <a:tcPr/>
                </a:tc>
                <a:tc>
                  <a:txBody>
                    <a:bodyPr/>
                    <a:lstStyle/>
                    <a:p>
                      <a:r>
                        <a:rPr lang="en-US" dirty="0" smtClean="0"/>
                        <a:t>loneliness</a:t>
                      </a:r>
                      <a:endParaRPr lang="en-US" dirty="0"/>
                    </a:p>
                  </a:txBody>
                  <a:tcPr/>
                </a:tc>
                <a:tc>
                  <a:txBody>
                    <a:bodyPr/>
                    <a:lstStyle/>
                    <a:p>
                      <a:r>
                        <a:rPr lang="en-US" dirty="0" smtClean="0"/>
                        <a:t>depression</a:t>
                      </a:r>
                      <a:endParaRPr lang="en-US" dirty="0"/>
                    </a:p>
                  </a:txBody>
                  <a:tcPr/>
                </a:tc>
                <a:extLst>
                  <a:ext uri="{0D108BD9-81ED-4DB2-BD59-A6C34878D82A}">
                    <a16:rowId xmlns:a16="http://schemas.microsoft.com/office/drawing/2014/main" val="67134482"/>
                  </a:ext>
                </a:extLst>
              </a:tr>
              <a:tr h="760379">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p>
                      <a:endParaRPr lang="en-US" dirty="0"/>
                    </a:p>
                  </a:txBody>
                  <a:tcPr/>
                </a:tc>
                <a:tc>
                  <a:txBody>
                    <a:bodyPr/>
                    <a:lstStyle/>
                    <a:p>
                      <a:r>
                        <a:rPr lang="en-US" dirty="0" smtClean="0"/>
                        <a:t>0.74</a:t>
                      </a:r>
                      <a:endParaRPr lang="en-US" dirty="0"/>
                    </a:p>
                  </a:txBody>
                  <a:tcPr/>
                </a:tc>
                <a:tc>
                  <a:txBody>
                    <a:bodyPr/>
                    <a:lstStyle/>
                    <a:p>
                      <a:r>
                        <a:rPr lang="en-US" dirty="0" smtClean="0"/>
                        <a:t>0.79</a:t>
                      </a:r>
                      <a:endParaRPr lang="en-US" dirty="0"/>
                    </a:p>
                  </a:txBody>
                  <a:tcPr/>
                </a:tc>
                <a:tc>
                  <a:txBody>
                    <a:bodyPr/>
                    <a:lstStyle/>
                    <a:p>
                      <a:r>
                        <a:rPr lang="en-US" dirty="0" smtClean="0"/>
                        <a:t>0.62</a:t>
                      </a:r>
                      <a:endParaRPr lang="en-US" dirty="0"/>
                    </a:p>
                  </a:txBody>
                  <a:tcPr/>
                </a:tc>
                <a:tc>
                  <a:txBody>
                    <a:bodyPr/>
                    <a:lstStyle/>
                    <a:p>
                      <a:r>
                        <a:rPr lang="en-US" dirty="0" smtClean="0"/>
                        <a:t>0.69</a:t>
                      </a:r>
                      <a:endParaRPr lang="en-US" dirty="0"/>
                    </a:p>
                  </a:txBody>
                  <a:tcPr/>
                </a:tc>
                <a:tc>
                  <a:txBody>
                    <a:bodyPr/>
                    <a:lstStyle/>
                    <a:p>
                      <a:r>
                        <a:rPr lang="en-US" dirty="0" smtClean="0"/>
                        <a:t>0.44</a:t>
                      </a:r>
                      <a:endParaRPr lang="en-US" dirty="0"/>
                    </a:p>
                  </a:txBody>
                  <a:tcPr/>
                </a:tc>
                <a:tc>
                  <a:txBody>
                    <a:bodyPr/>
                    <a:lstStyle/>
                    <a:p>
                      <a:r>
                        <a:rPr lang="en-US" dirty="0" smtClean="0"/>
                        <a:t>0.48</a:t>
                      </a:r>
                      <a:endParaRPr lang="en-US" dirty="0"/>
                    </a:p>
                  </a:txBody>
                  <a:tcPr/>
                </a:tc>
                <a:extLst>
                  <a:ext uri="{0D108BD9-81ED-4DB2-BD59-A6C34878D82A}">
                    <a16:rowId xmlns:a16="http://schemas.microsoft.com/office/drawing/2014/main" val="3997740586"/>
                  </a:ext>
                </a:extLst>
              </a:tr>
            </a:tbl>
          </a:graphicData>
        </a:graphic>
      </p:graphicFrame>
      <p:sp>
        <p:nvSpPr>
          <p:cNvPr id="3" name="TextBox 2"/>
          <p:cNvSpPr txBox="1"/>
          <p:nvPr/>
        </p:nvSpPr>
        <p:spPr>
          <a:xfrm>
            <a:off x="747486" y="645886"/>
            <a:ext cx="1248228" cy="312057"/>
          </a:xfrm>
          <a:prstGeom prst="rect">
            <a:avLst/>
          </a:prstGeom>
          <a:noFill/>
        </p:spPr>
        <p:txBody>
          <a:bodyPr wrap="square" rtlCol="0">
            <a:spAutoFit/>
          </a:bodyPr>
          <a:lstStyle/>
          <a:p>
            <a:r>
              <a:rPr lang="en-US" dirty="0"/>
              <a:t>j</a:t>
            </a:r>
            <a:r>
              <a:rPr lang="en-US" dirty="0" smtClean="0"/>
              <a:t>oy:</a:t>
            </a:r>
            <a:endParaRPr lang="en-US" dirty="0"/>
          </a:p>
        </p:txBody>
      </p:sp>
      <p:sp>
        <p:nvSpPr>
          <p:cNvPr id="7" name="TextBox 6"/>
          <p:cNvSpPr txBox="1"/>
          <p:nvPr/>
        </p:nvSpPr>
        <p:spPr>
          <a:xfrm>
            <a:off x="624114" y="2408503"/>
            <a:ext cx="1313543" cy="305668"/>
          </a:xfrm>
          <a:prstGeom prst="rect">
            <a:avLst/>
          </a:prstGeom>
          <a:noFill/>
        </p:spPr>
        <p:txBody>
          <a:bodyPr wrap="square" rtlCol="0">
            <a:spAutoFit/>
          </a:bodyPr>
          <a:lstStyle/>
          <a:p>
            <a:r>
              <a:rPr lang="en-US" dirty="0" smtClean="0"/>
              <a:t>Sadness:</a:t>
            </a:r>
            <a:endParaRPr lang="en-US" dirty="0"/>
          </a:p>
        </p:txBody>
      </p:sp>
    </p:spTree>
    <p:extLst>
      <p:ext uri="{BB962C8B-B14F-4D97-AF65-F5344CB8AC3E}">
        <p14:creationId xmlns:p14="http://schemas.microsoft.com/office/powerpoint/2010/main" val="3158669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a:t>
            </a:r>
            <a:r>
              <a:rPr lang="en-US" b="1" dirty="0" smtClean="0"/>
              <a:t>emotion an their comparison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15</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2590287850"/>
              </p:ext>
            </p:extLst>
          </p:nvPr>
        </p:nvGraphicFramePr>
        <p:xfrm>
          <a:off x="535389" y="897143"/>
          <a:ext cx="8392888" cy="1249680"/>
        </p:xfrm>
        <a:graphic>
          <a:graphicData uri="http://schemas.openxmlformats.org/drawingml/2006/table">
            <a:tbl>
              <a:tblPr firstRow="1" bandRow="1">
                <a:tableStyleId>{5C22544A-7EE6-4342-B048-85BDC9FD1C3A}</a:tableStyleId>
              </a:tblPr>
              <a:tblGrid>
                <a:gridCol w="1198984">
                  <a:extLst>
                    <a:ext uri="{9D8B030D-6E8A-4147-A177-3AD203B41FA5}">
                      <a16:colId xmlns:a16="http://schemas.microsoft.com/office/drawing/2014/main" val="557825247"/>
                    </a:ext>
                  </a:extLst>
                </a:gridCol>
                <a:gridCol w="1198984">
                  <a:extLst>
                    <a:ext uri="{9D8B030D-6E8A-4147-A177-3AD203B41FA5}">
                      <a16:colId xmlns:a16="http://schemas.microsoft.com/office/drawing/2014/main" val="882517201"/>
                    </a:ext>
                  </a:extLst>
                </a:gridCol>
                <a:gridCol w="1198984">
                  <a:extLst>
                    <a:ext uri="{9D8B030D-6E8A-4147-A177-3AD203B41FA5}">
                      <a16:colId xmlns:a16="http://schemas.microsoft.com/office/drawing/2014/main" val="1452558935"/>
                    </a:ext>
                  </a:extLst>
                </a:gridCol>
                <a:gridCol w="1198984">
                  <a:extLst>
                    <a:ext uri="{9D8B030D-6E8A-4147-A177-3AD203B41FA5}">
                      <a16:colId xmlns:a16="http://schemas.microsoft.com/office/drawing/2014/main" val="1532424432"/>
                    </a:ext>
                  </a:extLst>
                </a:gridCol>
                <a:gridCol w="1198984">
                  <a:extLst>
                    <a:ext uri="{9D8B030D-6E8A-4147-A177-3AD203B41FA5}">
                      <a16:colId xmlns:a16="http://schemas.microsoft.com/office/drawing/2014/main" val="2310644927"/>
                    </a:ext>
                  </a:extLst>
                </a:gridCol>
                <a:gridCol w="1198984">
                  <a:extLst>
                    <a:ext uri="{9D8B030D-6E8A-4147-A177-3AD203B41FA5}">
                      <a16:colId xmlns:a16="http://schemas.microsoft.com/office/drawing/2014/main" val="3431827497"/>
                    </a:ext>
                  </a:extLst>
                </a:gridCol>
                <a:gridCol w="1198984">
                  <a:extLst>
                    <a:ext uri="{9D8B030D-6E8A-4147-A177-3AD203B41FA5}">
                      <a16:colId xmlns:a16="http://schemas.microsoft.com/office/drawing/2014/main" val="1326960283"/>
                    </a:ext>
                  </a:extLst>
                </a:gridCol>
              </a:tblGrid>
              <a:tr h="436216">
                <a:tc>
                  <a:txBody>
                    <a:bodyPr/>
                    <a:lstStyle/>
                    <a:p>
                      <a:r>
                        <a:rPr lang="en-US" dirty="0" smtClean="0"/>
                        <a:t>synonym</a:t>
                      </a:r>
                      <a:endParaRPr lang="en-US" dirty="0"/>
                    </a:p>
                  </a:txBody>
                  <a:tcPr/>
                </a:tc>
                <a:tc>
                  <a:txBody>
                    <a:bodyPr/>
                    <a:lstStyle/>
                    <a:p>
                      <a:r>
                        <a:rPr lang="en-US" dirty="0" smtClean="0"/>
                        <a:t>shame</a:t>
                      </a:r>
                      <a:endParaRPr lang="en-US" dirty="0"/>
                    </a:p>
                  </a:txBody>
                  <a:tcPr/>
                </a:tc>
                <a:tc>
                  <a:txBody>
                    <a:bodyPr/>
                    <a:lstStyle/>
                    <a:p>
                      <a:r>
                        <a:rPr lang="en-US" dirty="0" smtClean="0"/>
                        <a:t>humiliation</a:t>
                      </a:r>
                      <a:endParaRPr lang="en-US" dirty="0"/>
                    </a:p>
                  </a:txBody>
                  <a:tcPr/>
                </a:tc>
                <a:tc>
                  <a:txBody>
                    <a:bodyPr/>
                    <a:lstStyle/>
                    <a:p>
                      <a:r>
                        <a:rPr lang="en-US" dirty="0" smtClean="0"/>
                        <a:t>embarrassment</a:t>
                      </a:r>
                      <a:endParaRPr lang="en-US" dirty="0"/>
                    </a:p>
                  </a:txBody>
                  <a:tcPr/>
                </a:tc>
                <a:tc>
                  <a:txBody>
                    <a:bodyPr/>
                    <a:lstStyle/>
                    <a:p>
                      <a:r>
                        <a:rPr lang="en-US" dirty="0" smtClean="0"/>
                        <a:t>disgrace</a:t>
                      </a:r>
                      <a:endParaRPr lang="en-US" dirty="0"/>
                    </a:p>
                  </a:txBody>
                  <a:tcPr/>
                </a:tc>
                <a:tc>
                  <a:txBody>
                    <a:bodyPr/>
                    <a:lstStyle/>
                    <a:p>
                      <a:r>
                        <a:rPr lang="en-US" dirty="0" smtClean="0"/>
                        <a:t>dishonor</a:t>
                      </a:r>
                      <a:endParaRPr lang="en-US" dirty="0"/>
                    </a:p>
                  </a:txBody>
                  <a:tcPr/>
                </a:tc>
                <a:tc>
                  <a:txBody>
                    <a:bodyPr/>
                    <a:lstStyle/>
                    <a:p>
                      <a:r>
                        <a:rPr lang="en-US" dirty="0" smtClean="0"/>
                        <a:t>discredit</a:t>
                      </a:r>
                      <a:endParaRPr lang="en-US" dirty="0"/>
                    </a:p>
                  </a:txBody>
                  <a:tcPr/>
                </a:tc>
                <a:extLst>
                  <a:ext uri="{0D108BD9-81ED-4DB2-BD59-A6C34878D82A}">
                    <a16:rowId xmlns:a16="http://schemas.microsoft.com/office/drawing/2014/main" val="1255629281"/>
                  </a:ext>
                </a:extLst>
              </a:tr>
              <a:tr h="436216">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txBody>
                  <a:tcPr/>
                </a:tc>
                <a:tc>
                  <a:txBody>
                    <a:bodyPr/>
                    <a:lstStyle/>
                    <a:p>
                      <a:r>
                        <a:rPr lang="en-US" dirty="0" smtClean="0"/>
                        <a:t>0.65</a:t>
                      </a:r>
                      <a:endParaRPr lang="en-US" dirty="0"/>
                    </a:p>
                  </a:txBody>
                  <a:tcPr/>
                </a:tc>
                <a:tc>
                  <a:txBody>
                    <a:bodyPr/>
                    <a:lstStyle/>
                    <a:p>
                      <a:r>
                        <a:rPr lang="en-US" dirty="0" smtClean="0"/>
                        <a:t>0.69</a:t>
                      </a:r>
                      <a:endParaRPr lang="en-US" dirty="0"/>
                    </a:p>
                  </a:txBody>
                  <a:tcPr/>
                </a:tc>
                <a:tc>
                  <a:txBody>
                    <a:bodyPr/>
                    <a:lstStyle/>
                    <a:p>
                      <a:r>
                        <a:rPr lang="en-US" dirty="0" smtClean="0"/>
                        <a:t>0.71</a:t>
                      </a:r>
                      <a:endParaRPr lang="en-US" dirty="0"/>
                    </a:p>
                  </a:txBody>
                  <a:tcPr/>
                </a:tc>
                <a:tc>
                  <a:txBody>
                    <a:bodyPr/>
                    <a:lstStyle/>
                    <a:p>
                      <a:r>
                        <a:rPr lang="en-US" dirty="0" smtClean="0"/>
                        <a:t>0.59</a:t>
                      </a:r>
                      <a:endParaRPr lang="en-US" dirty="0"/>
                    </a:p>
                  </a:txBody>
                  <a:tcPr/>
                </a:tc>
                <a:tc>
                  <a:txBody>
                    <a:bodyPr/>
                    <a:lstStyle/>
                    <a:p>
                      <a:r>
                        <a:rPr lang="en-US" dirty="0" smtClean="0"/>
                        <a:t>0.69</a:t>
                      </a:r>
                      <a:endParaRPr lang="en-US" dirty="0"/>
                    </a:p>
                  </a:txBody>
                  <a:tcPr/>
                </a:tc>
                <a:tc>
                  <a:txBody>
                    <a:bodyPr/>
                    <a:lstStyle/>
                    <a:p>
                      <a:r>
                        <a:rPr lang="en-US" dirty="0" smtClean="0"/>
                        <a:t>0.66</a:t>
                      </a:r>
                      <a:endParaRPr lang="en-US" dirty="0"/>
                    </a:p>
                  </a:txBody>
                  <a:tcPr/>
                </a:tc>
                <a:extLst>
                  <a:ext uri="{0D108BD9-81ED-4DB2-BD59-A6C34878D82A}">
                    <a16:rowId xmlns:a16="http://schemas.microsoft.com/office/drawing/2014/main" val="2243125968"/>
                  </a:ext>
                </a:extLst>
              </a:tr>
            </a:tbl>
          </a:graphicData>
        </a:graphic>
      </p:graphicFrame>
      <p:sp>
        <p:nvSpPr>
          <p:cNvPr id="7" name="TextBox 6"/>
          <p:cNvSpPr txBox="1"/>
          <p:nvPr/>
        </p:nvSpPr>
        <p:spPr>
          <a:xfrm>
            <a:off x="703943" y="3069771"/>
            <a:ext cx="6633028" cy="1132115"/>
          </a:xfrm>
          <a:prstGeom prst="rect">
            <a:avLst/>
          </a:prstGeom>
          <a:noFill/>
        </p:spPr>
        <p:txBody>
          <a:bodyPr wrap="square" rtlCol="0">
            <a:spAutoFit/>
          </a:bodyPr>
          <a:lstStyle/>
          <a:p>
            <a:endParaRPr lang="en-US" dirty="0"/>
          </a:p>
        </p:txBody>
      </p:sp>
      <p:sp>
        <p:nvSpPr>
          <p:cNvPr id="8" name="Rectangle 7"/>
          <p:cNvSpPr/>
          <p:nvPr/>
        </p:nvSpPr>
        <p:spPr>
          <a:xfrm>
            <a:off x="578931" y="2163489"/>
            <a:ext cx="8411031" cy="523220"/>
          </a:xfrm>
          <a:prstGeom prst="rect">
            <a:avLst/>
          </a:prstGeom>
        </p:spPr>
        <p:txBody>
          <a:bodyPr wrap="square">
            <a:spAutoFit/>
          </a:bodyPr>
          <a:lstStyle/>
          <a:p>
            <a:r>
              <a:rPr lang="en-US" dirty="0"/>
              <a:t>For each emotion, the synonym that had highest average of entailment </a:t>
            </a:r>
            <a:r>
              <a:rPr lang="en-US" dirty="0" smtClean="0"/>
              <a:t>probabilities when the predicted label is wrong: </a:t>
            </a:r>
            <a:endParaRPr lang="en-US" dirty="0"/>
          </a:p>
        </p:txBody>
      </p:sp>
      <p:sp>
        <p:nvSpPr>
          <p:cNvPr id="9" name="Rectangle 8"/>
          <p:cNvSpPr/>
          <p:nvPr/>
        </p:nvSpPr>
        <p:spPr>
          <a:xfrm>
            <a:off x="703943" y="2554900"/>
            <a:ext cx="4572000" cy="2569934"/>
          </a:xfrm>
          <a:prstGeom prst="rect">
            <a:avLst/>
          </a:prstGeom>
        </p:spPr>
        <p:txBody>
          <a:bodyPr>
            <a:spAutoFit/>
          </a:bodyPr>
          <a:lstStyle/>
          <a:p>
            <a:pPr>
              <a:lnSpc>
                <a:spcPct val="150000"/>
              </a:lnSpc>
            </a:pPr>
            <a:r>
              <a:rPr lang="en-US" dirty="0"/>
              <a:t>a</a:t>
            </a:r>
            <a:r>
              <a:rPr lang="en-US" dirty="0" smtClean="0"/>
              <a:t>nger</a:t>
            </a:r>
            <a:r>
              <a:rPr lang="en-US" dirty="0"/>
              <a:t>: irritation</a:t>
            </a:r>
          </a:p>
          <a:p>
            <a:pPr>
              <a:lnSpc>
                <a:spcPct val="150000"/>
              </a:lnSpc>
            </a:pPr>
            <a:r>
              <a:rPr lang="en-US" dirty="0"/>
              <a:t>Disgust: repugnance</a:t>
            </a:r>
          </a:p>
          <a:p>
            <a:pPr>
              <a:lnSpc>
                <a:spcPct val="150000"/>
              </a:lnSpc>
            </a:pPr>
            <a:r>
              <a:rPr lang="en-US" dirty="0"/>
              <a:t>Fear: scare</a:t>
            </a:r>
          </a:p>
          <a:p>
            <a:pPr>
              <a:lnSpc>
                <a:spcPct val="150000"/>
              </a:lnSpc>
            </a:pPr>
            <a:r>
              <a:rPr lang="en-US" dirty="0"/>
              <a:t>Guilt: culpability</a:t>
            </a:r>
          </a:p>
          <a:p>
            <a:pPr>
              <a:lnSpc>
                <a:spcPct val="150000"/>
              </a:lnSpc>
            </a:pPr>
            <a:r>
              <a:rPr lang="en-US" dirty="0"/>
              <a:t>Joy: happiness</a:t>
            </a:r>
          </a:p>
          <a:p>
            <a:pPr>
              <a:lnSpc>
                <a:spcPct val="150000"/>
              </a:lnSpc>
            </a:pPr>
            <a:r>
              <a:rPr lang="en-US" dirty="0"/>
              <a:t>Sadness: unhappiness</a:t>
            </a:r>
          </a:p>
          <a:p>
            <a:pPr>
              <a:lnSpc>
                <a:spcPct val="150000"/>
              </a:lnSpc>
            </a:pPr>
            <a:r>
              <a:rPr lang="en-US" dirty="0"/>
              <a:t>Shame: embarrassment</a:t>
            </a:r>
          </a:p>
          <a:p>
            <a:endParaRPr lang="en-US" dirty="0"/>
          </a:p>
        </p:txBody>
      </p:sp>
      <p:sp>
        <p:nvSpPr>
          <p:cNvPr id="3" name="TextBox 2"/>
          <p:cNvSpPr txBox="1"/>
          <p:nvPr/>
        </p:nvSpPr>
        <p:spPr>
          <a:xfrm>
            <a:off x="631369" y="572700"/>
            <a:ext cx="1538517" cy="307777"/>
          </a:xfrm>
          <a:prstGeom prst="rect">
            <a:avLst/>
          </a:prstGeom>
          <a:noFill/>
        </p:spPr>
        <p:txBody>
          <a:bodyPr wrap="square" rtlCol="0">
            <a:spAutoFit/>
          </a:bodyPr>
          <a:lstStyle/>
          <a:p>
            <a:r>
              <a:rPr lang="en-US" dirty="0" smtClean="0"/>
              <a:t>Shame:</a:t>
            </a:r>
            <a:endParaRPr lang="en-US" dirty="0"/>
          </a:p>
        </p:txBody>
      </p:sp>
    </p:spTree>
    <p:extLst>
      <p:ext uri="{BB962C8B-B14F-4D97-AF65-F5344CB8AC3E}">
        <p14:creationId xmlns:p14="http://schemas.microsoft.com/office/powerpoint/2010/main" val="1610448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a:t>
            </a:r>
            <a:r>
              <a:rPr lang="en-US" b="1" dirty="0" smtClean="0"/>
              <a:t>emotion and their comparison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16</a:t>
            </a:fld>
            <a:endParaRPr lang="ja" altLang="en-US"/>
          </a:p>
        </p:txBody>
      </p:sp>
      <p:graphicFrame>
        <p:nvGraphicFramePr>
          <p:cNvPr id="6" name="Table 5"/>
          <p:cNvGraphicFramePr>
            <a:graphicFrameLocks noGrp="1"/>
          </p:cNvGraphicFramePr>
          <p:nvPr>
            <p:extLst>
              <p:ext uri="{D42A27DB-BD31-4B8C-83A1-F6EECF244321}">
                <p14:modId xmlns:p14="http://schemas.microsoft.com/office/powerpoint/2010/main" val="3060774201"/>
              </p:ext>
            </p:extLst>
          </p:nvPr>
        </p:nvGraphicFramePr>
        <p:xfrm>
          <a:off x="595264" y="1526299"/>
          <a:ext cx="8222340" cy="1102360"/>
        </p:xfrm>
        <a:graphic>
          <a:graphicData uri="http://schemas.openxmlformats.org/drawingml/2006/table">
            <a:tbl>
              <a:tblPr firstRow="1" bandRow="1">
                <a:tableStyleId>{5C22544A-7EE6-4342-B048-85BDC9FD1C3A}</a:tableStyleId>
              </a:tblPr>
              <a:tblGrid>
                <a:gridCol w="1174620">
                  <a:extLst>
                    <a:ext uri="{9D8B030D-6E8A-4147-A177-3AD203B41FA5}">
                      <a16:colId xmlns:a16="http://schemas.microsoft.com/office/drawing/2014/main" val="3603832139"/>
                    </a:ext>
                  </a:extLst>
                </a:gridCol>
                <a:gridCol w="1174620">
                  <a:extLst>
                    <a:ext uri="{9D8B030D-6E8A-4147-A177-3AD203B41FA5}">
                      <a16:colId xmlns:a16="http://schemas.microsoft.com/office/drawing/2014/main" val="914479867"/>
                    </a:ext>
                  </a:extLst>
                </a:gridCol>
                <a:gridCol w="1174620">
                  <a:extLst>
                    <a:ext uri="{9D8B030D-6E8A-4147-A177-3AD203B41FA5}">
                      <a16:colId xmlns:a16="http://schemas.microsoft.com/office/drawing/2014/main" val="3830851643"/>
                    </a:ext>
                  </a:extLst>
                </a:gridCol>
                <a:gridCol w="1174620">
                  <a:extLst>
                    <a:ext uri="{9D8B030D-6E8A-4147-A177-3AD203B41FA5}">
                      <a16:colId xmlns:a16="http://schemas.microsoft.com/office/drawing/2014/main" val="2709983437"/>
                    </a:ext>
                  </a:extLst>
                </a:gridCol>
                <a:gridCol w="1174620">
                  <a:extLst>
                    <a:ext uri="{9D8B030D-6E8A-4147-A177-3AD203B41FA5}">
                      <a16:colId xmlns:a16="http://schemas.microsoft.com/office/drawing/2014/main" val="1185082481"/>
                    </a:ext>
                  </a:extLst>
                </a:gridCol>
                <a:gridCol w="1174620">
                  <a:extLst>
                    <a:ext uri="{9D8B030D-6E8A-4147-A177-3AD203B41FA5}">
                      <a16:colId xmlns:a16="http://schemas.microsoft.com/office/drawing/2014/main" val="887422139"/>
                    </a:ext>
                  </a:extLst>
                </a:gridCol>
                <a:gridCol w="1174620">
                  <a:extLst>
                    <a:ext uri="{9D8B030D-6E8A-4147-A177-3AD203B41FA5}">
                      <a16:colId xmlns:a16="http://schemas.microsoft.com/office/drawing/2014/main" val="2650393169"/>
                    </a:ext>
                  </a:extLst>
                </a:gridCol>
              </a:tblGrid>
              <a:tr h="370840">
                <a:tc>
                  <a:txBody>
                    <a:bodyPr/>
                    <a:lstStyle/>
                    <a:p>
                      <a:r>
                        <a:rPr lang="en-US" dirty="0" smtClean="0"/>
                        <a:t>synonym</a:t>
                      </a:r>
                      <a:endParaRPr lang="en-US" dirty="0"/>
                    </a:p>
                  </a:txBody>
                  <a:tcPr/>
                </a:tc>
                <a:tc>
                  <a:txBody>
                    <a:bodyPr/>
                    <a:lstStyle/>
                    <a:p>
                      <a:r>
                        <a:rPr lang="en-US" dirty="0" smtClean="0"/>
                        <a:t>anger</a:t>
                      </a:r>
                      <a:endParaRPr lang="en-US" dirty="0"/>
                    </a:p>
                  </a:txBody>
                  <a:tcPr/>
                </a:tc>
                <a:tc>
                  <a:txBody>
                    <a:bodyPr/>
                    <a:lstStyle/>
                    <a:p>
                      <a:r>
                        <a:rPr lang="en-US" dirty="0" smtClean="0"/>
                        <a:t>annoyance</a:t>
                      </a:r>
                      <a:endParaRPr lang="en-US" dirty="0"/>
                    </a:p>
                  </a:txBody>
                  <a:tcPr/>
                </a:tc>
                <a:tc>
                  <a:txBody>
                    <a:bodyPr/>
                    <a:lstStyle/>
                    <a:p>
                      <a:r>
                        <a:rPr lang="en-US" dirty="0" smtClean="0"/>
                        <a:t>rage</a:t>
                      </a:r>
                      <a:endParaRPr lang="en-US" dirty="0"/>
                    </a:p>
                  </a:txBody>
                  <a:tcPr/>
                </a:tc>
                <a:tc>
                  <a:txBody>
                    <a:bodyPr/>
                    <a:lstStyle/>
                    <a:p>
                      <a:r>
                        <a:rPr lang="en-US" dirty="0" smtClean="0"/>
                        <a:t>outrage</a:t>
                      </a:r>
                      <a:endParaRPr lang="en-US" dirty="0"/>
                    </a:p>
                  </a:txBody>
                  <a:tcPr/>
                </a:tc>
                <a:tc>
                  <a:txBody>
                    <a:bodyPr/>
                    <a:lstStyle/>
                    <a:p>
                      <a:r>
                        <a:rPr lang="en-US" dirty="0" smtClean="0"/>
                        <a:t>fury</a:t>
                      </a:r>
                      <a:endParaRPr lang="en-US" dirty="0"/>
                    </a:p>
                  </a:txBody>
                  <a:tcPr/>
                </a:tc>
                <a:tc>
                  <a:txBody>
                    <a:bodyPr/>
                    <a:lstStyle/>
                    <a:p>
                      <a:r>
                        <a:rPr lang="en-US" dirty="0" smtClean="0"/>
                        <a:t>irritation</a:t>
                      </a:r>
                      <a:endParaRPr lang="en-US" dirty="0"/>
                    </a:p>
                  </a:txBody>
                  <a:tcPr/>
                </a:tc>
                <a:extLst>
                  <a:ext uri="{0D108BD9-81ED-4DB2-BD59-A6C34878D82A}">
                    <a16:rowId xmlns:a16="http://schemas.microsoft.com/office/drawing/2014/main" val="3073573081"/>
                  </a:ext>
                </a:extLst>
              </a:tr>
              <a:tr h="370840">
                <a:tc>
                  <a:txBody>
                    <a:bodyPr/>
                    <a:lstStyle/>
                    <a:p>
                      <a:r>
                        <a:rPr lang="en-US" dirty="0" smtClean="0"/>
                        <a:t>Average of entailment probabilities </a:t>
                      </a:r>
                      <a:endParaRPr lang="en-US" dirty="0"/>
                    </a:p>
                  </a:txBody>
                  <a:tcPr/>
                </a:tc>
                <a:tc>
                  <a:txBody>
                    <a:bodyPr/>
                    <a:lstStyle/>
                    <a:p>
                      <a:r>
                        <a:rPr lang="en-US" dirty="0" smtClean="0"/>
                        <a:t>0.89</a:t>
                      </a:r>
                      <a:endParaRPr lang="en-US" dirty="0"/>
                    </a:p>
                  </a:txBody>
                  <a:tcPr/>
                </a:tc>
                <a:tc>
                  <a:txBody>
                    <a:bodyPr/>
                    <a:lstStyle/>
                    <a:p>
                      <a:r>
                        <a:rPr lang="en-US" dirty="0" smtClean="0"/>
                        <a:t>0.83</a:t>
                      </a:r>
                      <a:endParaRPr lang="en-US" dirty="0"/>
                    </a:p>
                  </a:txBody>
                  <a:tcPr/>
                </a:tc>
                <a:tc>
                  <a:txBody>
                    <a:bodyPr/>
                    <a:lstStyle/>
                    <a:p>
                      <a:r>
                        <a:rPr lang="en-US" dirty="0" smtClean="0"/>
                        <a:t>0.8</a:t>
                      </a:r>
                      <a:endParaRPr lang="en-US" dirty="0"/>
                    </a:p>
                  </a:txBody>
                  <a:tcPr/>
                </a:tc>
                <a:tc>
                  <a:txBody>
                    <a:bodyPr/>
                    <a:lstStyle/>
                    <a:p>
                      <a:r>
                        <a:rPr lang="en-US" dirty="0" smtClean="0"/>
                        <a:t>0.81</a:t>
                      </a:r>
                      <a:endParaRPr lang="en-US" dirty="0"/>
                    </a:p>
                  </a:txBody>
                  <a:tcPr/>
                </a:tc>
                <a:tc>
                  <a:txBody>
                    <a:bodyPr/>
                    <a:lstStyle/>
                    <a:p>
                      <a:r>
                        <a:rPr lang="en-US" dirty="0" smtClean="0"/>
                        <a:t>0.81</a:t>
                      </a:r>
                      <a:endParaRPr lang="en-US" dirty="0"/>
                    </a:p>
                  </a:txBody>
                  <a:tcPr/>
                </a:tc>
                <a:tc>
                  <a:txBody>
                    <a:bodyPr/>
                    <a:lstStyle/>
                    <a:p>
                      <a:r>
                        <a:rPr lang="en-US" dirty="0" smtClean="0"/>
                        <a:t>0.92</a:t>
                      </a:r>
                      <a:endParaRPr lang="en-US" dirty="0"/>
                    </a:p>
                  </a:txBody>
                  <a:tcPr/>
                </a:tc>
                <a:extLst>
                  <a:ext uri="{0D108BD9-81ED-4DB2-BD59-A6C34878D82A}">
                    <a16:rowId xmlns:a16="http://schemas.microsoft.com/office/drawing/2014/main" val="397868271"/>
                  </a:ext>
                </a:extLst>
              </a:tr>
            </a:tbl>
          </a:graphicData>
        </a:graphic>
      </p:graphicFrame>
      <p:sp>
        <p:nvSpPr>
          <p:cNvPr id="7" name="Rectangle 6"/>
          <p:cNvSpPr/>
          <p:nvPr/>
        </p:nvSpPr>
        <p:spPr>
          <a:xfrm>
            <a:off x="449942" y="691022"/>
            <a:ext cx="8512985" cy="523220"/>
          </a:xfrm>
          <a:prstGeom prst="rect">
            <a:avLst/>
          </a:prstGeom>
        </p:spPr>
        <p:txBody>
          <a:bodyPr wrap="square">
            <a:spAutoFit/>
          </a:bodyPr>
          <a:lstStyle/>
          <a:p>
            <a:r>
              <a:rPr lang="en-US" dirty="0"/>
              <a:t>The average of entailment </a:t>
            </a:r>
            <a:r>
              <a:rPr lang="en-US" dirty="0" smtClean="0"/>
              <a:t>probabilities </a:t>
            </a:r>
            <a:r>
              <a:rPr lang="en-US" dirty="0"/>
              <a:t>for each synonym of </a:t>
            </a:r>
            <a:r>
              <a:rPr lang="en-US" dirty="0" smtClean="0"/>
              <a:t>the true </a:t>
            </a:r>
            <a:r>
              <a:rPr lang="en-US" dirty="0"/>
              <a:t>emotion when the predicted label is </a:t>
            </a:r>
            <a:r>
              <a:rPr lang="en-US" dirty="0" smtClean="0"/>
              <a:t>true </a:t>
            </a:r>
            <a:r>
              <a:rPr lang="en-US" dirty="0"/>
              <a:t>(when using average of entailment probabilities of synonyms </a:t>
            </a:r>
            <a:r>
              <a:rPr lang="en-US" dirty="0" smtClean="0"/>
              <a:t>, Tec dataset)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081755429"/>
              </p:ext>
            </p:extLst>
          </p:nvPr>
        </p:nvGraphicFramePr>
        <p:xfrm>
          <a:off x="595264" y="3346490"/>
          <a:ext cx="8352967" cy="1102360"/>
        </p:xfrm>
        <a:graphic>
          <a:graphicData uri="http://schemas.openxmlformats.org/drawingml/2006/table">
            <a:tbl>
              <a:tblPr firstRow="1" bandRow="1">
                <a:tableStyleId>{5C22544A-7EE6-4342-B048-85BDC9FD1C3A}</a:tableStyleId>
              </a:tblPr>
              <a:tblGrid>
                <a:gridCol w="1193281">
                  <a:extLst>
                    <a:ext uri="{9D8B030D-6E8A-4147-A177-3AD203B41FA5}">
                      <a16:colId xmlns:a16="http://schemas.microsoft.com/office/drawing/2014/main" val="2515422670"/>
                    </a:ext>
                  </a:extLst>
                </a:gridCol>
                <a:gridCol w="1193281">
                  <a:extLst>
                    <a:ext uri="{9D8B030D-6E8A-4147-A177-3AD203B41FA5}">
                      <a16:colId xmlns:a16="http://schemas.microsoft.com/office/drawing/2014/main" val="711805182"/>
                    </a:ext>
                  </a:extLst>
                </a:gridCol>
                <a:gridCol w="1193281">
                  <a:extLst>
                    <a:ext uri="{9D8B030D-6E8A-4147-A177-3AD203B41FA5}">
                      <a16:colId xmlns:a16="http://schemas.microsoft.com/office/drawing/2014/main" val="3213908025"/>
                    </a:ext>
                  </a:extLst>
                </a:gridCol>
                <a:gridCol w="1193281">
                  <a:extLst>
                    <a:ext uri="{9D8B030D-6E8A-4147-A177-3AD203B41FA5}">
                      <a16:colId xmlns:a16="http://schemas.microsoft.com/office/drawing/2014/main" val="1470325924"/>
                    </a:ext>
                  </a:extLst>
                </a:gridCol>
                <a:gridCol w="1193281">
                  <a:extLst>
                    <a:ext uri="{9D8B030D-6E8A-4147-A177-3AD203B41FA5}">
                      <a16:colId xmlns:a16="http://schemas.microsoft.com/office/drawing/2014/main" val="3784753392"/>
                    </a:ext>
                  </a:extLst>
                </a:gridCol>
                <a:gridCol w="1193281">
                  <a:extLst>
                    <a:ext uri="{9D8B030D-6E8A-4147-A177-3AD203B41FA5}">
                      <a16:colId xmlns:a16="http://schemas.microsoft.com/office/drawing/2014/main" val="3157324177"/>
                    </a:ext>
                  </a:extLst>
                </a:gridCol>
                <a:gridCol w="1193281">
                  <a:extLst>
                    <a:ext uri="{9D8B030D-6E8A-4147-A177-3AD203B41FA5}">
                      <a16:colId xmlns:a16="http://schemas.microsoft.com/office/drawing/2014/main" val="1033398870"/>
                    </a:ext>
                  </a:extLst>
                </a:gridCol>
              </a:tblGrid>
              <a:tr h="370840">
                <a:tc>
                  <a:txBody>
                    <a:bodyPr/>
                    <a:lstStyle/>
                    <a:p>
                      <a:r>
                        <a:rPr lang="en-US" dirty="0" smtClean="0"/>
                        <a:t>synonym</a:t>
                      </a:r>
                      <a:endParaRPr lang="en-US" dirty="0"/>
                    </a:p>
                  </a:txBody>
                  <a:tcPr/>
                </a:tc>
                <a:tc>
                  <a:txBody>
                    <a:bodyPr/>
                    <a:lstStyle/>
                    <a:p>
                      <a:r>
                        <a:rPr lang="en-US" dirty="0" smtClean="0"/>
                        <a:t>disgust</a:t>
                      </a:r>
                      <a:endParaRPr lang="en-US" dirty="0"/>
                    </a:p>
                  </a:txBody>
                  <a:tcPr/>
                </a:tc>
                <a:tc>
                  <a:txBody>
                    <a:bodyPr/>
                    <a:lstStyle/>
                    <a:p>
                      <a:r>
                        <a:rPr lang="en-US" dirty="0" smtClean="0"/>
                        <a:t>loathing</a:t>
                      </a:r>
                      <a:endParaRPr lang="en-US" dirty="0"/>
                    </a:p>
                  </a:txBody>
                  <a:tcPr/>
                </a:tc>
                <a:tc>
                  <a:txBody>
                    <a:bodyPr/>
                    <a:lstStyle/>
                    <a:p>
                      <a:r>
                        <a:rPr lang="en-US" dirty="0" smtClean="0"/>
                        <a:t>bitter</a:t>
                      </a:r>
                      <a:endParaRPr lang="en-US" dirty="0"/>
                    </a:p>
                  </a:txBody>
                  <a:tcPr/>
                </a:tc>
                <a:tc>
                  <a:txBody>
                    <a:bodyPr/>
                    <a:lstStyle/>
                    <a:p>
                      <a:r>
                        <a:rPr lang="en-US" dirty="0" smtClean="0"/>
                        <a:t>ugly</a:t>
                      </a:r>
                      <a:endParaRPr lang="en-US" dirty="0"/>
                    </a:p>
                  </a:txBody>
                  <a:tcPr/>
                </a:tc>
                <a:tc>
                  <a:txBody>
                    <a:bodyPr/>
                    <a:lstStyle/>
                    <a:p>
                      <a:r>
                        <a:rPr lang="en-US" dirty="0" smtClean="0"/>
                        <a:t>repugnance</a:t>
                      </a:r>
                      <a:endParaRPr lang="en-US" dirty="0"/>
                    </a:p>
                  </a:txBody>
                  <a:tcPr/>
                </a:tc>
                <a:tc>
                  <a:txBody>
                    <a:bodyPr/>
                    <a:lstStyle/>
                    <a:p>
                      <a:r>
                        <a:rPr lang="en-US" dirty="0" smtClean="0"/>
                        <a:t>revulsion</a:t>
                      </a:r>
                      <a:endParaRPr lang="en-US" dirty="0"/>
                    </a:p>
                  </a:txBody>
                  <a:tcPr/>
                </a:tc>
                <a:extLst>
                  <a:ext uri="{0D108BD9-81ED-4DB2-BD59-A6C34878D82A}">
                    <a16:rowId xmlns:a16="http://schemas.microsoft.com/office/drawing/2014/main" val="2751846203"/>
                  </a:ext>
                </a:extLst>
              </a:tr>
              <a:tr h="370840">
                <a:tc>
                  <a:txBody>
                    <a:bodyPr/>
                    <a:lstStyle/>
                    <a:p>
                      <a:r>
                        <a:rPr lang="en-US" dirty="0" smtClean="0"/>
                        <a:t>Average of entailment probabilities </a:t>
                      </a:r>
                      <a:endParaRPr lang="en-US" dirty="0"/>
                    </a:p>
                  </a:txBody>
                  <a:tcPr/>
                </a:tc>
                <a:tc>
                  <a:txBody>
                    <a:bodyPr/>
                    <a:lstStyle/>
                    <a:p>
                      <a:r>
                        <a:rPr lang="en-US" dirty="0" smtClean="0"/>
                        <a:t>0.93</a:t>
                      </a:r>
                      <a:endParaRPr lang="en-US" dirty="0"/>
                    </a:p>
                  </a:txBody>
                  <a:tcPr/>
                </a:tc>
                <a:tc>
                  <a:txBody>
                    <a:bodyPr/>
                    <a:lstStyle/>
                    <a:p>
                      <a:r>
                        <a:rPr lang="en-US" dirty="0" smtClean="0"/>
                        <a:t>0.87</a:t>
                      </a:r>
                      <a:endParaRPr lang="en-US" dirty="0"/>
                    </a:p>
                  </a:txBody>
                  <a:tcPr/>
                </a:tc>
                <a:tc>
                  <a:txBody>
                    <a:bodyPr/>
                    <a:lstStyle/>
                    <a:p>
                      <a:r>
                        <a:rPr lang="en-US" dirty="0" smtClean="0"/>
                        <a:t>0.77</a:t>
                      </a:r>
                      <a:endParaRPr lang="en-US" dirty="0"/>
                    </a:p>
                  </a:txBody>
                  <a:tcPr/>
                </a:tc>
                <a:tc>
                  <a:txBody>
                    <a:bodyPr/>
                    <a:lstStyle/>
                    <a:p>
                      <a:r>
                        <a:rPr lang="en-US" dirty="0" smtClean="0"/>
                        <a:t>0.74</a:t>
                      </a:r>
                      <a:endParaRPr lang="en-US" dirty="0"/>
                    </a:p>
                  </a:txBody>
                  <a:tcPr/>
                </a:tc>
                <a:tc>
                  <a:txBody>
                    <a:bodyPr/>
                    <a:lstStyle/>
                    <a:p>
                      <a:r>
                        <a:rPr lang="en-US" dirty="0" smtClean="0"/>
                        <a:t>0.94</a:t>
                      </a:r>
                      <a:endParaRPr lang="en-US" dirty="0"/>
                    </a:p>
                  </a:txBody>
                  <a:tcPr/>
                </a:tc>
                <a:tc>
                  <a:txBody>
                    <a:bodyPr/>
                    <a:lstStyle/>
                    <a:p>
                      <a:r>
                        <a:rPr lang="en-US" dirty="0" smtClean="0"/>
                        <a:t>0.92</a:t>
                      </a:r>
                      <a:endParaRPr lang="en-US" dirty="0"/>
                    </a:p>
                  </a:txBody>
                  <a:tcPr/>
                </a:tc>
                <a:extLst>
                  <a:ext uri="{0D108BD9-81ED-4DB2-BD59-A6C34878D82A}">
                    <a16:rowId xmlns:a16="http://schemas.microsoft.com/office/drawing/2014/main" val="2053983885"/>
                  </a:ext>
                </a:extLst>
              </a:tr>
            </a:tbl>
          </a:graphicData>
        </a:graphic>
      </p:graphicFrame>
      <p:sp>
        <p:nvSpPr>
          <p:cNvPr id="3" name="TextBox 2"/>
          <p:cNvSpPr txBox="1"/>
          <p:nvPr/>
        </p:nvSpPr>
        <p:spPr>
          <a:xfrm>
            <a:off x="537029" y="1214242"/>
            <a:ext cx="732971" cy="307777"/>
          </a:xfrm>
          <a:prstGeom prst="rect">
            <a:avLst/>
          </a:prstGeom>
          <a:noFill/>
        </p:spPr>
        <p:txBody>
          <a:bodyPr wrap="square" rtlCol="0">
            <a:spAutoFit/>
          </a:bodyPr>
          <a:lstStyle/>
          <a:p>
            <a:r>
              <a:rPr lang="en-US" dirty="0"/>
              <a:t>a</a:t>
            </a:r>
            <a:r>
              <a:rPr lang="en-US" dirty="0" smtClean="0"/>
              <a:t>nger:</a:t>
            </a:r>
            <a:endParaRPr lang="en-US" dirty="0"/>
          </a:p>
        </p:txBody>
      </p:sp>
      <p:sp>
        <p:nvSpPr>
          <p:cNvPr id="5" name="TextBox 4"/>
          <p:cNvSpPr txBox="1"/>
          <p:nvPr/>
        </p:nvSpPr>
        <p:spPr>
          <a:xfrm>
            <a:off x="537029" y="3026229"/>
            <a:ext cx="1008742" cy="307777"/>
          </a:xfrm>
          <a:prstGeom prst="rect">
            <a:avLst/>
          </a:prstGeom>
          <a:noFill/>
        </p:spPr>
        <p:txBody>
          <a:bodyPr wrap="square" rtlCol="0">
            <a:spAutoFit/>
          </a:bodyPr>
          <a:lstStyle/>
          <a:p>
            <a:r>
              <a:rPr lang="en-US" dirty="0" smtClean="0"/>
              <a:t>disgust</a:t>
            </a:r>
            <a:endParaRPr lang="en-US" dirty="0"/>
          </a:p>
        </p:txBody>
      </p:sp>
    </p:spTree>
    <p:extLst>
      <p:ext uri="{BB962C8B-B14F-4D97-AF65-F5344CB8AC3E}">
        <p14:creationId xmlns:p14="http://schemas.microsoft.com/office/powerpoint/2010/main" val="429315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17</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3465753192"/>
              </p:ext>
            </p:extLst>
          </p:nvPr>
        </p:nvGraphicFramePr>
        <p:xfrm>
          <a:off x="497515" y="1054635"/>
          <a:ext cx="8008658" cy="1102360"/>
        </p:xfrm>
        <a:graphic>
          <a:graphicData uri="http://schemas.openxmlformats.org/drawingml/2006/table">
            <a:tbl>
              <a:tblPr firstRow="1" bandRow="1">
                <a:tableStyleId>{5C22544A-7EE6-4342-B048-85BDC9FD1C3A}</a:tableStyleId>
              </a:tblPr>
              <a:tblGrid>
                <a:gridCol w="1144094">
                  <a:extLst>
                    <a:ext uri="{9D8B030D-6E8A-4147-A177-3AD203B41FA5}">
                      <a16:colId xmlns:a16="http://schemas.microsoft.com/office/drawing/2014/main" val="4049186754"/>
                    </a:ext>
                  </a:extLst>
                </a:gridCol>
                <a:gridCol w="1144094">
                  <a:extLst>
                    <a:ext uri="{9D8B030D-6E8A-4147-A177-3AD203B41FA5}">
                      <a16:colId xmlns:a16="http://schemas.microsoft.com/office/drawing/2014/main" val="1864259392"/>
                    </a:ext>
                  </a:extLst>
                </a:gridCol>
                <a:gridCol w="1144094">
                  <a:extLst>
                    <a:ext uri="{9D8B030D-6E8A-4147-A177-3AD203B41FA5}">
                      <a16:colId xmlns:a16="http://schemas.microsoft.com/office/drawing/2014/main" val="3175270220"/>
                    </a:ext>
                  </a:extLst>
                </a:gridCol>
                <a:gridCol w="1144094">
                  <a:extLst>
                    <a:ext uri="{9D8B030D-6E8A-4147-A177-3AD203B41FA5}">
                      <a16:colId xmlns:a16="http://schemas.microsoft.com/office/drawing/2014/main" val="2053500463"/>
                    </a:ext>
                  </a:extLst>
                </a:gridCol>
                <a:gridCol w="1144094">
                  <a:extLst>
                    <a:ext uri="{9D8B030D-6E8A-4147-A177-3AD203B41FA5}">
                      <a16:colId xmlns:a16="http://schemas.microsoft.com/office/drawing/2014/main" val="1663986125"/>
                    </a:ext>
                  </a:extLst>
                </a:gridCol>
                <a:gridCol w="1144094">
                  <a:extLst>
                    <a:ext uri="{9D8B030D-6E8A-4147-A177-3AD203B41FA5}">
                      <a16:colId xmlns:a16="http://schemas.microsoft.com/office/drawing/2014/main" val="3168953696"/>
                    </a:ext>
                  </a:extLst>
                </a:gridCol>
                <a:gridCol w="1144094">
                  <a:extLst>
                    <a:ext uri="{9D8B030D-6E8A-4147-A177-3AD203B41FA5}">
                      <a16:colId xmlns:a16="http://schemas.microsoft.com/office/drawing/2014/main" val="2105327687"/>
                    </a:ext>
                  </a:extLst>
                </a:gridCol>
              </a:tblGrid>
              <a:tr h="370840">
                <a:tc>
                  <a:txBody>
                    <a:bodyPr/>
                    <a:lstStyle/>
                    <a:p>
                      <a:r>
                        <a:rPr lang="en-US" dirty="0" smtClean="0"/>
                        <a:t>synonym</a:t>
                      </a:r>
                      <a:endParaRPr lang="en-US" dirty="0"/>
                    </a:p>
                  </a:txBody>
                  <a:tcPr/>
                </a:tc>
                <a:tc>
                  <a:txBody>
                    <a:bodyPr/>
                    <a:lstStyle/>
                    <a:p>
                      <a:r>
                        <a:rPr lang="en-US" dirty="0" smtClean="0"/>
                        <a:t>fear</a:t>
                      </a:r>
                      <a:endParaRPr lang="en-US" dirty="0"/>
                    </a:p>
                  </a:txBody>
                  <a:tcPr/>
                </a:tc>
                <a:tc>
                  <a:txBody>
                    <a:bodyPr/>
                    <a:lstStyle/>
                    <a:p>
                      <a:r>
                        <a:rPr lang="en-US" dirty="0" smtClean="0"/>
                        <a:t>horror</a:t>
                      </a:r>
                      <a:endParaRPr lang="en-US" dirty="0"/>
                    </a:p>
                  </a:txBody>
                  <a:tcPr/>
                </a:tc>
                <a:tc>
                  <a:txBody>
                    <a:bodyPr/>
                    <a:lstStyle/>
                    <a:p>
                      <a:r>
                        <a:rPr lang="en-US" dirty="0" smtClean="0"/>
                        <a:t>anxiety</a:t>
                      </a:r>
                      <a:endParaRPr lang="en-US" dirty="0"/>
                    </a:p>
                  </a:txBody>
                  <a:tcPr/>
                </a:tc>
                <a:tc>
                  <a:txBody>
                    <a:bodyPr/>
                    <a:lstStyle/>
                    <a:p>
                      <a:r>
                        <a:rPr lang="en-US" dirty="0" smtClean="0"/>
                        <a:t>terror</a:t>
                      </a:r>
                      <a:endParaRPr lang="en-US" dirty="0"/>
                    </a:p>
                  </a:txBody>
                  <a:tcPr/>
                </a:tc>
                <a:tc>
                  <a:txBody>
                    <a:bodyPr/>
                    <a:lstStyle/>
                    <a:p>
                      <a:r>
                        <a:rPr lang="en-US" dirty="0" smtClean="0"/>
                        <a:t>dread</a:t>
                      </a:r>
                      <a:endParaRPr lang="en-US" dirty="0"/>
                    </a:p>
                  </a:txBody>
                  <a:tcPr/>
                </a:tc>
                <a:tc>
                  <a:txBody>
                    <a:bodyPr/>
                    <a:lstStyle/>
                    <a:p>
                      <a:r>
                        <a:rPr lang="en-US" dirty="0" smtClean="0"/>
                        <a:t>scare</a:t>
                      </a:r>
                      <a:endParaRPr lang="en-US" dirty="0"/>
                    </a:p>
                  </a:txBody>
                  <a:tcPr/>
                </a:tc>
                <a:extLst>
                  <a:ext uri="{0D108BD9-81ED-4DB2-BD59-A6C34878D82A}">
                    <a16:rowId xmlns:a16="http://schemas.microsoft.com/office/drawing/2014/main" val="2373476349"/>
                  </a:ext>
                </a:extLst>
              </a:tr>
              <a:tr h="370840">
                <a:tc>
                  <a:txBody>
                    <a:bodyPr/>
                    <a:lstStyle/>
                    <a:p>
                      <a:r>
                        <a:rPr lang="en-US" dirty="0" smtClean="0"/>
                        <a:t>Average of entailment probabilities </a:t>
                      </a:r>
                      <a:endParaRPr lang="en-US" dirty="0"/>
                    </a:p>
                  </a:txBody>
                  <a:tcPr/>
                </a:tc>
                <a:tc>
                  <a:txBody>
                    <a:bodyPr/>
                    <a:lstStyle/>
                    <a:p>
                      <a:r>
                        <a:rPr lang="en-US" dirty="0" smtClean="0"/>
                        <a:t>0.91</a:t>
                      </a:r>
                      <a:endParaRPr lang="en-US" dirty="0"/>
                    </a:p>
                  </a:txBody>
                  <a:tcPr/>
                </a:tc>
                <a:tc>
                  <a:txBody>
                    <a:bodyPr/>
                    <a:lstStyle/>
                    <a:p>
                      <a:r>
                        <a:rPr lang="en-US" dirty="0" smtClean="0"/>
                        <a:t>0.66</a:t>
                      </a:r>
                      <a:endParaRPr lang="en-US" dirty="0"/>
                    </a:p>
                  </a:txBody>
                  <a:tcPr/>
                </a:tc>
                <a:tc>
                  <a:txBody>
                    <a:bodyPr/>
                    <a:lstStyle/>
                    <a:p>
                      <a:r>
                        <a:rPr lang="en-US" dirty="0" smtClean="0"/>
                        <a:t>0.85</a:t>
                      </a:r>
                      <a:endParaRPr lang="en-US" dirty="0"/>
                    </a:p>
                  </a:txBody>
                  <a:tcPr/>
                </a:tc>
                <a:tc>
                  <a:txBody>
                    <a:bodyPr/>
                    <a:lstStyle/>
                    <a:p>
                      <a:r>
                        <a:rPr lang="en-US" dirty="0" smtClean="0"/>
                        <a:t>0.75</a:t>
                      </a:r>
                      <a:endParaRPr lang="en-US" dirty="0"/>
                    </a:p>
                  </a:txBody>
                  <a:tcPr/>
                </a:tc>
                <a:tc>
                  <a:txBody>
                    <a:bodyPr/>
                    <a:lstStyle/>
                    <a:p>
                      <a:r>
                        <a:rPr lang="en-US" dirty="0" smtClean="0"/>
                        <a:t>0.8</a:t>
                      </a:r>
                      <a:endParaRPr lang="en-US" dirty="0"/>
                    </a:p>
                  </a:txBody>
                  <a:tcPr/>
                </a:tc>
                <a:tc>
                  <a:txBody>
                    <a:bodyPr/>
                    <a:lstStyle/>
                    <a:p>
                      <a:r>
                        <a:rPr lang="en-US" dirty="0" smtClean="0"/>
                        <a:t>0.9</a:t>
                      </a:r>
                      <a:endParaRPr lang="en-US" dirty="0"/>
                    </a:p>
                  </a:txBody>
                  <a:tcPr/>
                </a:tc>
                <a:extLst>
                  <a:ext uri="{0D108BD9-81ED-4DB2-BD59-A6C34878D82A}">
                    <a16:rowId xmlns:a16="http://schemas.microsoft.com/office/drawing/2014/main" val="3384291579"/>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873065811"/>
              </p:ext>
            </p:extLst>
          </p:nvPr>
        </p:nvGraphicFramePr>
        <p:xfrm>
          <a:off x="540654" y="2965038"/>
          <a:ext cx="8062691" cy="1259884"/>
        </p:xfrm>
        <a:graphic>
          <a:graphicData uri="http://schemas.openxmlformats.org/drawingml/2006/table">
            <a:tbl>
              <a:tblPr firstRow="1" bandRow="1">
                <a:tableStyleId>{5C22544A-7EE6-4342-B048-85BDC9FD1C3A}</a:tableStyleId>
              </a:tblPr>
              <a:tblGrid>
                <a:gridCol w="1151813">
                  <a:extLst>
                    <a:ext uri="{9D8B030D-6E8A-4147-A177-3AD203B41FA5}">
                      <a16:colId xmlns:a16="http://schemas.microsoft.com/office/drawing/2014/main" val="3564254509"/>
                    </a:ext>
                  </a:extLst>
                </a:gridCol>
                <a:gridCol w="1151813">
                  <a:extLst>
                    <a:ext uri="{9D8B030D-6E8A-4147-A177-3AD203B41FA5}">
                      <a16:colId xmlns:a16="http://schemas.microsoft.com/office/drawing/2014/main" val="2423578708"/>
                    </a:ext>
                  </a:extLst>
                </a:gridCol>
                <a:gridCol w="1151813">
                  <a:extLst>
                    <a:ext uri="{9D8B030D-6E8A-4147-A177-3AD203B41FA5}">
                      <a16:colId xmlns:a16="http://schemas.microsoft.com/office/drawing/2014/main" val="3330058820"/>
                    </a:ext>
                  </a:extLst>
                </a:gridCol>
                <a:gridCol w="1151813">
                  <a:extLst>
                    <a:ext uri="{9D8B030D-6E8A-4147-A177-3AD203B41FA5}">
                      <a16:colId xmlns:a16="http://schemas.microsoft.com/office/drawing/2014/main" val="1201558090"/>
                    </a:ext>
                  </a:extLst>
                </a:gridCol>
                <a:gridCol w="1151813">
                  <a:extLst>
                    <a:ext uri="{9D8B030D-6E8A-4147-A177-3AD203B41FA5}">
                      <a16:colId xmlns:a16="http://schemas.microsoft.com/office/drawing/2014/main" val="678461062"/>
                    </a:ext>
                  </a:extLst>
                </a:gridCol>
                <a:gridCol w="1151813">
                  <a:extLst>
                    <a:ext uri="{9D8B030D-6E8A-4147-A177-3AD203B41FA5}">
                      <a16:colId xmlns:a16="http://schemas.microsoft.com/office/drawing/2014/main" val="1943154136"/>
                    </a:ext>
                  </a:extLst>
                </a:gridCol>
                <a:gridCol w="1151813">
                  <a:extLst>
                    <a:ext uri="{9D8B030D-6E8A-4147-A177-3AD203B41FA5}">
                      <a16:colId xmlns:a16="http://schemas.microsoft.com/office/drawing/2014/main" val="1906479259"/>
                    </a:ext>
                  </a:extLst>
                </a:gridCol>
              </a:tblGrid>
              <a:tr h="528364">
                <a:tc>
                  <a:txBody>
                    <a:bodyPr/>
                    <a:lstStyle/>
                    <a:p>
                      <a:r>
                        <a:rPr lang="en-US" dirty="0" smtClean="0"/>
                        <a:t>synonym</a:t>
                      </a:r>
                      <a:endParaRPr lang="en-US" dirty="0"/>
                    </a:p>
                  </a:txBody>
                  <a:tcPr/>
                </a:tc>
                <a:tc>
                  <a:txBody>
                    <a:bodyPr/>
                    <a:lstStyle/>
                    <a:p>
                      <a:r>
                        <a:rPr lang="en-US" dirty="0" smtClean="0"/>
                        <a:t>joy</a:t>
                      </a:r>
                      <a:endParaRPr lang="en-US" dirty="0"/>
                    </a:p>
                  </a:txBody>
                  <a:tcPr/>
                </a:tc>
                <a:tc>
                  <a:txBody>
                    <a:bodyPr/>
                    <a:lstStyle/>
                    <a:p>
                      <a:r>
                        <a:rPr lang="en-US" dirty="0" smtClean="0"/>
                        <a:t>achievement</a:t>
                      </a:r>
                      <a:endParaRPr lang="en-US" dirty="0"/>
                    </a:p>
                  </a:txBody>
                  <a:tcPr/>
                </a:tc>
                <a:tc>
                  <a:txBody>
                    <a:bodyPr/>
                    <a:lstStyle/>
                    <a:p>
                      <a:r>
                        <a:rPr lang="en-US" dirty="0" smtClean="0"/>
                        <a:t>pleasure</a:t>
                      </a:r>
                      <a:endParaRPr lang="en-US" dirty="0"/>
                    </a:p>
                  </a:txBody>
                  <a:tcPr/>
                </a:tc>
                <a:tc>
                  <a:txBody>
                    <a:bodyPr/>
                    <a:lstStyle/>
                    <a:p>
                      <a:r>
                        <a:rPr lang="en-US" dirty="0" smtClean="0"/>
                        <a:t>awesome</a:t>
                      </a:r>
                      <a:endParaRPr lang="en-US" dirty="0"/>
                    </a:p>
                  </a:txBody>
                  <a:tcPr/>
                </a:tc>
                <a:tc>
                  <a:txBody>
                    <a:bodyPr/>
                    <a:lstStyle/>
                    <a:p>
                      <a:r>
                        <a:rPr lang="en-US" dirty="0" smtClean="0"/>
                        <a:t>happy</a:t>
                      </a:r>
                      <a:endParaRPr lang="en-US" dirty="0"/>
                    </a:p>
                  </a:txBody>
                  <a:tcPr/>
                </a:tc>
                <a:tc>
                  <a:txBody>
                    <a:bodyPr/>
                    <a:lstStyle/>
                    <a:p>
                      <a:r>
                        <a:rPr lang="en-US" dirty="0" smtClean="0"/>
                        <a:t>blessed</a:t>
                      </a:r>
                      <a:endParaRPr lang="en-US" dirty="0"/>
                    </a:p>
                  </a:txBody>
                  <a:tcPr/>
                </a:tc>
                <a:extLst>
                  <a:ext uri="{0D108BD9-81ED-4DB2-BD59-A6C34878D82A}">
                    <a16:rowId xmlns:a16="http://schemas.microsoft.com/office/drawing/2014/main" val="1134613916"/>
                  </a:ext>
                </a:extLst>
              </a:tr>
              <a:tr h="370840">
                <a:tc>
                  <a:txBody>
                    <a:bodyPr/>
                    <a:lstStyle/>
                    <a:p>
                      <a:r>
                        <a:rPr lang="en-US" dirty="0" smtClean="0"/>
                        <a:t>Average of entailment probabilities </a:t>
                      </a:r>
                      <a:endParaRPr lang="en-US" dirty="0"/>
                    </a:p>
                  </a:txBody>
                  <a:tcPr/>
                </a:tc>
                <a:tc>
                  <a:txBody>
                    <a:bodyPr/>
                    <a:lstStyle/>
                    <a:p>
                      <a:r>
                        <a:rPr lang="en-US" dirty="0" smtClean="0"/>
                        <a:t>0.81</a:t>
                      </a:r>
                      <a:endParaRPr lang="en-US" dirty="0"/>
                    </a:p>
                  </a:txBody>
                  <a:tcPr/>
                </a:tc>
                <a:tc>
                  <a:txBody>
                    <a:bodyPr/>
                    <a:lstStyle/>
                    <a:p>
                      <a:r>
                        <a:rPr lang="en-US" dirty="0" smtClean="0"/>
                        <a:t>0.58</a:t>
                      </a:r>
                      <a:endParaRPr lang="en-US" dirty="0"/>
                    </a:p>
                  </a:txBody>
                  <a:tcPr/>
                </a:tc>
                <a:tc>
                  <a:txBody>
                    <a:bodyPr/>
                    <a:lstStyle/>
                    <a:p>
                      <a:r>
                        <a:rPr lang="en-US" dirty="0" smtClean="0"/>
                        <a:t>0.86</a:t>
                      </a:r>
                      <a:endParaRPr lang="en-US" dirty="0"/>
                    </a:p>
                  </a:txBody>
                  <a:tcPr/>
                </a:tc>
                <a:tc>
                  <a:txBody>
                    <a:bodyPr/>
                    <a:lstStyle/>
                    <a:p>
                      <a:r>
                        <a:rPr lang="en-US" dirty="0" smtClean="0"/>
                        <a:t>0.76</a:t>
                      </a:r>
                      <a:endParaRPr lang="en-US" dirty="0"/>
                    </a:p>
                  </a:txBody>
                  <a:tcPr/>
                </a:tc>
                <a:tc>
                  <a:txBody>
                    <a:bodyPr/>
                    <a:lstStyle/>
                    <a:p>
                      <a:r>
                        <a:rPr lang="en-US" dirty="0" smtClean="0"/>
                        <a:t>0.86</a:t>
                      </a:r>
                      <a:endParaRPr lang="en-US" dirty="0"/>
                    </a:p>
                  </a:txBody>
                  <a:tcPr/>
                </a:tc>
                <a:tc>
                  <a:txBody>
                    <a:bodyPr/>
                    <a:lstStyle/>
                    <a:p>
                      <a:r>
                        <a:rPr lang="en-US" dirty="0" smtClean="0"/>
                        <a:t>0.65</a:t>
                      </a:r>
                      <a:endParaRPr lang="en-US" dirty="0"/>
                    </a:p>
                  </a:txBody>
                  <a:tcPr/>
                </a:tc>
                <a:extLst>
                  <a:ext uri="{0D108BD9-81ED-4DB2-BD59-A6C34878D82A}">
                    <a16:rowId xmlns:a16="http://schemas.microsoft.com/office/drawing/2014/main" val="497442349"/>
                  </a:ext>
                </a:extLst>
              </a:tr>
            </a:tbl>
          </a:graphicData>
        </a:graphic>
      </p:graphicFrame>
      <p:sp>
        <p:nvSpPr>
          <p:cNvPr id="3" name="TextBox 2"/>
          <p:cNvSpPr txBox="1"/>
          <p:nvPr/>
        </p:nvSpPr>
        <p:spPr>
          <a:xfrm>
            <a:off x="754743" y="572700"/>
            <a:ext cx="1226457" cy="307777"/>
          </a:xfrm>
          <a:prstGeom prst="rect">
            <a:avLst/>
          </a:prstGeom>
          <a:noFill/>
        </p:spPr>
        <p:txBody>
          <a:bodyPr wrap="square" rtlCol="0">
            <a:spAutoFit/>
          </a:bodyPr>
          <a:lstStyle/>
          <a:p>
            <a:r>
              <a:rPr lang="en-US" dirty="0"/>
              <a:t>f</a:t>
            </a:r>
            <a:r>
              <a:rPr lang="en-US" dirty="0" smtClean="0"/>
              <a:t>ear:</a:t>
            </a:r>
            <a:endParaRPr lang="en-US" dirty="0"/>
          </a:p>
        </p:txBody>
      </p:sp>
      <p:sp>
        <p:nvSpPr>
          <p:cNvPr id="6" name="TextBox 5"/>
          <p:cNvSpPr txBox="1"/>
          <p:nvPr/>
        </p:nvSpPr>
        <p:spPr>
          <a:xfrm>
            <a:off x="540654" y="2407128"/>
            <a:ext cx="1266375" cy="307777"/>
          </a:xfrm>
          <a:prstGeom prst="rect">
            <a:avLst/>
          </a:prstGeom>
          <a:noFill/>
        </p:spPr>
        <p:txBody>
          <a:bodyPr wrap="square" rtlCol="0">
            <a:spAutoFit/>
          </a:bodyPr>
          <a:lstStyle/>
          <a:p>
            <a:r>
              <a:rPr lang="en-US" dirty="0"/>
              <a:t>j</a:t>
            </a:r>
            <a:r>
              <a:rPr lang="en-US" dirty="0" smtClean="0"/>
              <a:t>oy:</a:t>
            </a:r>
            <a:endParaRPr lang="en-US" dirty="0"/>
          </a:p>
        </p:txBody>
      </p:sp>
    </p:spTree>
    <p:extLst>
      <p:ext uri="{BB962C8B-B14F-4D97-AF65-F5344CB8AC3E}">
        <p14:creationId xmlns:p14="http://schemas.microsoft.com/office/powerpoint/2010/main" val="3444621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18</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3563093373"/>
              </p:ext>
            </p:extLst>
          </p:nvPr>
        </p:nvGraphicFramePr>
        <p:xfrm>
          <a:off x="426176" y="1103086"/>
          <a:ext cx="8291647" cy="1463040"/>
        </p:xfrm>
        <a:graphic>
          <a:graphicData uri="http://schemas.openxmlformats.org/drawingml/2006/table">
            <a:tbl>
              <a:tblPr firstRow="1" bandRow="1">
                <a:tableStyleId>{5C22544A-7EE6-4342-B048-85BDC9FD1C3A}</a:tableStyleId>
              </a:tblPr>
              <a:tblGrid>
                <a:gridCol w="1184521">
                  <a:extLst>
                    <a:ext uri="{9D8B030D-6E8A-4147-A177-3AD203B41FA5}">
                      <a16:colId xmlns:a16="http://schemas.microsoft.com/office/drawing/2014/main" val="2659628695"/>
                    </a:ext>
                  </a:extLst>
                </a:gridCol>
                <a:gridCol w="1184521">
                  <a:extLst>
                    <a:ext uri="{9D8B030D-6E8A-4147-A177-3AD203B41FA5}">
                      <a16:colId xmlns:a16="http://schemas.microsoft.com/office/drawing/2014/main" val="3500007172"/>
                    </a:ext>
                  </a:extLst>
                </a:gridCol>
                <a:gridCol w="1184521">
                  <a:extLst>
                    <a:ext uri="{9D8B030D-6E8A-4147-A177-3AD203B41FA5}">
                      <a16:colId xmlns:a16="http://schemas.microsoft.com/office/drawing/2014/main" val="1198418828"/>
                    </a:ext>
                  </a:extLst>
                </a:gridCol>
                <a:gridCol w="1184521">
                  <a:extLst>
                    <a:ext uri="{9D8B030D-6E8A-4147-A177-3AD203B41FA5}">
                      <a16:colId xmlns:a16="http://schemas.microsoft.com/office/drawing/2014/main" val="3945299454"/>
                    </a:ext>
                  </a:extLst>
                </a:gridCol>
                <a:gridCol w="1184521">
                  <a:extLst>
                    <a:ext uri="{9D8B030D-6E8A-4147-A177-3AD203B41FA5}">
                      <a16:colId xmlns:a16="http://schemas.microsoft.com/office/drawing/2014/main" val="2559667161"/>
                    </a:ext>
                  </a:extLst>
                </a:gridCol>
                <a:gridCol w="1184521">
                  <a:extLst>
                    <a:ext uri="{9D8B030D-6E8A-4147-A177-3AD203B41FA5}">
                      <a16:colId xmlns:a16="http://schemas.microsoft.com/office/drawing/2014/main" val="1906041258"/>
                    </a:ext>
                  </a:extLst>
                </a:gridCol>
                <a:gridCol w="1184521">
                  <a:extLst>
                    <a:ext uri="{9D8B030D-6E8A-4147-A177-3AD203B41FA5}">
                      <a16:colId xmlns:a16="http://schemas.microsoft.com/office/drawing/2014/main" val="1451328961"/>
                    </a:ext>
                  </a:extLst>
                </a:gridCol>
              </a:tblGrid>
              <a:tr h="339319">
                <a:tc>
                  <a:txBody>
                    <a:bodyPr/>
                    <a:lstStyle/>
                    <a:p>
                      <a:r>
                        <a:rPr lang="en-US" dirty="0" smtClean="0"/>
                        <a:t>synonym</a:t>
                      </a:r>
                      <a:endParaRPr lang="en-US" dirty="0"/>
                    </a:p>
                  </a:txBody>
                  <a:tcPr/>
                </a:tc>
                <a:tc>
                  <a:txBody>
                    <a:bodyPr/>
                    <a:lstStyle/>
                    <a:p>
                      <a:r>
                        <a:rPr lang="en-US" dirty="0" smtClean="0"/>
                        <a:t>sadness</a:t>
                      </a:r>
                      <a:endParaRPr lang="en-US" dirty="0"/>
                    </a:p>
                  </a:txBody>
                  <a:tcPr/>
                </a:tc>
                <a:tc>
                  <a:txBody>
                    <a:bodyPr/>
                    <a:lstStyle/>
                    <a:p>
                      <a:r>
                        <a:rPr lang="en-US" dirty="0" smtClean="0"/>
                        <a:t>unhappiness</a:t>
                      </a:r>
                      <a:endParaRPr lang="en-US" dirty="0"/>
                    </a:p>
                  </a:txBody>
                  <a:tcPr/>
                </a:tc>
                <a:tc>
                  <a:txBody>
                    <a:bodyPr/>
                    <a:lstStyle/>
                    <a:p>
                      <a:r>
                        <a:rPr lang="en-US" dirty="0" smtClean="0"/>
                        <a:t>grief</a:t>
                      </a:r>
                      <a:endParaRPr lang="en-US" dirty="0"/>
                    </a:p>
                  </a:txBody>
                  <a:tcPr/>
                </a:tc>
                <a:tc>
                  <a:txBody>
                    <a:bodyPr/>
                    <a:lstStyle/>
                    <a:p>
                      <a:r>
                        <a:rPr lang="en-US" dirty="0" smtClean="0"/>
                        <a:t>sorrow</a:t>
                      </a:r>
                      <a:endParaRPr lang="en-US" dirty="0"/>
                    </a:p>
                  </a:txBody>
                  <a:tcPr/>
                </a:tc>
                <a:tc>
                  <a:txBody>
                    <a:bodyPr/>
                    <a:lstStyle/>
                    <a:p>
                      <a:r>
                        <a:rPr lang="en-US" dirty="0" smtClean="0"/>
                        <a:t>loneliness</a:t>
                      </a:r>
                      <a:endParaRPr lang="en-US" dirty="0"/>
                    </a:p>
                  </a:txBody>
                  <a:tcPr/>
                </a:tc>
                <a:tc>
                  <a:txBody>
                    <a:bodyPr/>
                    <a:lstStyle/>
                    <a:p>
                      <a:r>
                        <a:rPr lang="en-US" dirty="0" smtClean="0"/>
                        <a:t>depression</a:t>
                      </a:r>
                      <a:endParaRPr lang="en-US" dirty="0"/>
                    </a:p>
                  </a:txBody>
                  <a:tcPr/>
                </a:tc>
                <a:extLst>
                  <a:ext uri="{0D108BD9-81ED-4DB2-BD59-A6C34878D82A}">
                    <a16:rowId xmlns:a16="http://schemas.microsoft.com/office/drawing/2014/main" val="67134482"/>
                  </a:ext>
                </a:extLst>
              </a:tr>
              <a:tr h="760379">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p>
                      <a:endParaRPr lang="en-US" dirty="0"/>
                    </a:p>
                  </a:txBody>
                  <a:tcPr/>
                </a:tc>
                <a:tc>
                  <a:txBody>
                    <a:bodyPr/>
                    <a:lstStyle/>
                    <a:p>
                      <a:r>
                        <a:rPr lang="en-US" dirty="0" smtClean="0"/>
                        <a:t>0.9</a:t>
                      </a:r>
                      <a:endParaRPr lang="en-US" dirty="0"/>
                    </a:p>
                  </a:txBody>
                  <a:tcPr/>
                </a:tc>
                <a:tc>
                  <a:txBody>
                    <a:bodyPr/>
                    <a:lstStyle/>
                    <a:p>
                      <a:r>
                        <a:rPr lang="en-US" dirty="0" smtClean="0"/>
                        <a:t>0.86</a:t>
                      </a:r>
                      <a:endParaRPr lang="en-US" dirty="0"/>
                    </a:p>
                  </a:txBody>
                  <a:tcPr/>
                </a:tc>
                <a:tc>
                  <a:txBody>
                    <a:bodyPr/>
                    <a:lstStyle/>
                    <a:p>
                      <a:r>
                        <a:rPr lang="en-US" dirty="0" smtClean="0"/>
                        <a:t>0.8</a:t>
                      </a:r>
                      <a:endParaRPr lang="en-US" dirty="0"/>
                    </a:p>
                  </a:txBody>
                  <a:tcPr/>
                </a:tc>
                <a:tc>
                  <a:txBody>
                    <a:bodyPr/>
                    <a:lstStyle/>
                    <a:p>
                      <a:r>
                        <a:rPr lang="en-US" dirty="0" smtClean="0"/>
                        <a:t>0.86</a:t>
                      </a:r>
                      <a:endParaRPr lang="en-US" dirty="0"/>
                    </a:p>
                  </a:txBody>
                  <a:tcPr/>
                </a:tc>
                <a:tc>
                  <a:txBody>
                    <a:bodyPr/>
                    <a:lstStyle/>
                    <a:p>
                      <a:r>
                        <a:rPr lang="en-US" dirty="0" smtClean="0"/>
                        <a:t>0.67</a:t>
                      </a:r>
                      <a:endParaRPr lang="en-US" dirty="0"/>
                    </a:p>
                  </a:txBody>
                  <a:tcPr/>
                </a:tc>
                <a:tc>
                  <a:txBody>
                    <a:bodyPr/>
                    <a:lstStyle/>
                    <a:p>
                      <a:r>
                        <a:rPr lang="en-US" dirty="0" smtClean="0"/>
                        <a:t>0.63</a:t>
                      </a:r>
                      <a:endParaRPr lang="en-US" dirty="0"/>
                    </a:p>
                  </a:txBody>
                  <a:tcPr/>
                </a:tc>
                <a:extLst>
                  <a:ext uri="{0D108BD9-81ED-4DB2-BD59-A6C34878D82A}">
                    <a16:rowId xmlns:a16="http://schemas.microsoft.com/office/drawing/2014/main" val="399774058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116830525"/>
              </p:ext>
            </p:extLst>
          </p:nvPr>
        </p:nvGraphicFramePr>
        <p:xfrm>
          <a:off x="426176" y="3151683"/>
          <a:ext cx="8485596" cy="1411209"/>
        </p:xfrm>
        <a:graphic>
          <a:graphicData uri="http://schemas.openxmlformats.org/drawingml/2006/table">
            <a:tbl>
              <a:tblPr firstRow="1" bandRow="1">
                <a:tableStyleId>{5C22544A-7EE6-4342-B048-85BDC9FD1C3A}</a:tableStyleId>
              </a:tblPr>
              <a:tblGrid>
                <a:gridCol w="1212228">
                  <a:extLst>
                    <a:ext uri="{9D8B030D-6E8A-4147-A177-3AD203B41FA5}">
                      <a16:colId xmlns:a16="http://schemas.microsoft.com/office/drawing/2014/main" val="286882485"/>
                    </a:ext>
                  </a:extLst>
                </a:gridCol>
                <a:gridCol w="1212228">
                  <a:extLst>
                    <a:ext uri="{9D8B030D-6E8A-4147-A177-3AD203B41FA5}">
                      <a16:colId xmlns:a16="http://schemas.microsoft.com/office/drawing/2014/main" val="2812343128"/>
                    </a:ext>
                  </a:extLst>
                </a:gridCol>
                <a:gridCol w="1212228">
                  <a:extLst>
                    <a:ext uri="{9D8B030D-6E8A-4147-A177-3AD203B41FA5}">
                      <a16:colId xmlns:a16="http://schemas.microsoft.com/office/drawing/2014/main" val="2645869493"/>
                    </a:ext>
                  </a:extLst>
                </a:gridCol>
                <a:gridCol w="1212228">
                  <a:extLst>
                    <a:ext uri="{9D8B030D-6E8A-4147-A177-3AD203B41FA5}">
                      <a16:colId xmlns:a16="http://schemas.microsoft.com/office/drawing/2014/main" val="3739022664"/>
                    </a:ext>
                  </a:extLst>
                </a:gridCol>
                <a:gridCol w="1212228">
                  <a:extLst>
                    <a:ext uri="{9D8B030D-6E8A-4147-A177-3AD203B41FA5}">
                      <a16:colId xmlns:a16="http://schemas.microsoft.com/office/drawing/2014/main" val="2168483665"/>
                    </a:ext>
                  </a:extLst>
                </a:gridCol>
                <a:gridCol w="1212228">
                  <a:extLst>
                    <a:ext uri="{9D8B030D-6E8A-4147-A177-3AD203B41FA5}">
                      <a16:colId xmlns:a16="http://schemas.microsoft.com/office/drawing/2014/main" val="3782156861"/>
                    </a:ext>
                  </a:extLst>
                </a:gridCol>
                <a:gridCol w="1212228">
                  <a:extLst>
                    <a:ext uri="{9D8B030D-6E8A-4147-A177-3AD203B41FA5}">
                      <a16:colId xmlns:a16="http://schemas.microsoft.com/office/drawing/2014/main" val="2038626982"/>
                    </a:ext>
                  </a:extLst>
                </a:gridCol>
              </a:tblGrid>
              <a:tr h="679689">
                <a:tc>
                  <a:txBody>
                    <a:bodyPr/>
                    <a:lstStyle/>
                    <a:p>
                      <a:r>
                        <a:rPr lang="en-US" dirty="0" smtClean="0"/>
                        <a:t>synonym</a:t>
                      </a:r>
                      <a:endParaRPr lang="en-US" dirty="0"/>
                    </a:p>
                  </a:txBody>
                  <a:tcPr/>
                </a:tc>
                <a:tc>
                  <a:txBody>
                    <a:bodyPr/>
                    <a:lstStyle/>
                    <a:p>
                      <a:r>
                        <a:rPr lang="en-US" dirty="0" smtClean="0"/>
                        <a:t>surprise</a:t>
                      </a:r>
                      <a:endParaRPr lang="en-US" dirty="0"/>
                    </a:p>
                  </a:txBody>
                  <a:tcPr/>
                </a:tc>
                <a:tc>
                  <a:txBody>
                    <a:bodyPr/>
                    <a:lstStyle/>
                    <a:p>
                      <a:r>
                        <a:rPr lang="en-US" dirty="0" smtClean="0"/>
                        <a:t>astonishment</a:t>
                      </a:r>
                      <a:endParaRPr lang="en-US" dirty="0"/>
                    </a:p>
                  </a:txBody>
                  <a:tcPr/>
                </a:tc>
                <a:tc>
                  <a:txBody>
                    <a:bodyPr/>
                    <a:lstStyle/>
                    <a:p>
                      <a:r>
                        <a:rPr lang="en-US" dirty="0" smtClean="0"/>
                        <a:t>amazement</a:t>
                      </a:r>
                      <a:endParaRPr lang="en-US" dirty="0"/>
                    </a:p>
                  </a:txBody>
                  <a:tcPr/>
                </a:tc>
                <a:tc>
                  <a:txBody>
                    <a:bodyPr/>
                    <a:lstStyle/>
                    <a:p>
                      <a:r>
                        <a:rPr lang="en-US" dirty="0" smtClean="0"/>
                        <a:t>impression</a:t>
                      </a:r>
                      <a:endParaRPr lang="en-US" dirty="0"/>
                    </a:p>
                  </a:txBody>
                  <a:tcPr/>
                </a:tc>
                <a:tc>
                  <a:txBody>
                    <a:bodyPr/>
                    <a:lstStyle/>
                    <a:p>
                      <a:r>
                        <a:rPr lang="en-US" dirty="0" smtClean="0"/>
                        <a:t>perplexity</a:t>
                      </a:r>
                      <a:endParaRPr lang="en-US" dirty="0"/>
                    </a:p>
                  </a:txBody>
                  <a:tcPr/>
                </a:tc>
                <a:tc>
                  <a:txBody>
                    <a:bodyPr/>
                    <a:lstStyle/>
                    <a:p>
                      <a:r>
                        <a:rPr lang="en-US" dirty="0" smtClean="0"/>
                        <a:t>shock</a:t>
                      </a:r>
                      <a:endParaRPr lang="en-US" dirty="0"/>
                    </a:p>
                  </a:txBody>
                  <a:tcPr/>
                </a:tc>
                <a:extLst>
                  <a:ext uri="{0D108BD9-81ED-4DB2-BD59-A6C34878D82A}">
                    <a16:rowId xmlns:a16="http://schemas.microsoft.com/office/drawing/2014/main" val="692467817"/>
                  </a:ext>
                </a:extLst>
              </a:tr>
              <a:tr h="554025">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txBody>
                  <a:tcPr/>
                </a:tc>
                <a:tc>
                  <a:txBody>
                    <a:bodyPr/>
                    <a:lstStyle/>
                    <a:p>
                      <a:r>
                        <a:rPr lang="en-US" dirty="0" smtClean="0"/>
                        <a:t>0.88</a:t>
                      </a:r>
                      <a:endParaRPr lang="en-US" dirty="0"/>
                    </a:p>
                  </a:txBody>
                  <a:tcPr/>
                </a:tc>
                <a:tc>
                  <a:txBody>
                    <a:bodyPr/>
                    <a:lstStyle/>
                    <a:p>
                      <a:r>
                        <a:rPr lang="en-US" dirty="0" smtClean="0"/>
                        <a:t>0.81</a:t>
                      </a:r>
                      <a:endParaRPr lang="en-US" dirty="0"/>
                    </a:p>
                  </a:txBody>
                  <a:tcPr/>
                </a:tc>
                <a:tc>
                  <a:txBody>
                    <a:bodyPr/>
                    <a:lstStyle/>
                    <a:p>
                      <a:r>
                        <a:rPr lang="en-US" dirty="0" smtClean="0"/>
                        <a:t>0.75</a:t>
                      </a:r>
                      <a:endParaRPr lang="en-US" dirty="0"/>
                    </a:p>
                  </a:txBody>
                  <a:tcPr/>
                </a:tc>
                <a:tc>
                  <a:txBody>
                    <a:bodyPr/>
                    <a:lstStyle/>
                    <a:p>
                      <a:r>
                        <a:rPr lang="en-US" dirty="0" smtClean="0"/>
                        <a:t>0.7</a:t>
                      </a:r>
                      <a:endParaRPr lang="en-US" dirty="0"/>
                    </a:p>
                  </a:txBody>
                  <a:tcPr/>
                </a:tc>
                <a:tc>
                  <a:txBody>
                    <a:bodyPr/>
                    <a:lstStyle/>
                    <a:p>
                      <a:r>
                        <a:rPr lang="en-US" dirty="0" smtClean="0"/>
                        <a:t>0.78</a:t>
                      </a:r>
                      <a:endParaRPr lang="en-US" dirty="0"/>
                    </a:p>
                  </a:txBody>
                  <a:tcPr/>
                </a:tc>
                <a:tc>
                  <a:txBody>
                    <a:bodyPr/>
                    <a:lstStyle/>
                    <a:p>
                      <a:r>
                        <a:rPr lang="en-US" dirty="0" smtClean="0"/>
                        <a:t>0.68</a:t>
                      </a:r>
                      <a:endParaRPr lang="en-US" dirty="0"/>
                    </a:p>
                  </a:txBody>
                  <a:tcPr/>
                </a:tc>
                <a:extLst>
                  <a:ext uri="{0D108BD9-81ED-4DB2-BD59-A6C34878D82A}">
                    <a16:rowId xmlns:a16="http://schemas.microsoft.com/office/drawing/2014/main" val="832399350"/>
                  </a:ext>
                </a:extLst>
              </a:tr>
            </a:tbl>
          </a:graphicData>
        </a:graphic>
      </p:graphicFrame>
      <p:sp>
        <p:nvSpPr>
          <p:cNvPr id="3" name="TextBox 2"/>
          <p:cNvSpPr txBox="1"/>
          <p:nvPr/>
        </p:nvSpPr>
        <p:spPr>
          <a:xfrm>
            <a:off x="653143" y="703943"/>
            <a:ext cx="1306286" cy="307777"/>
          </a:xfrm>
          <a:prstGeom prst="rect">
            <a:avLst/>
          </a:prstGeom>
          <a:noFill/>
        </p:spPr>
        <p:txBody>
          <a:bodyPr wrap="square" rtlCol="0">
            <a:spAutoFit/>
          </a:bodyPr>
          <a:lstStyle/>
          <a:p>
            <a:r>
              <a:rPr lang="en-US" dirty="0" smtClean="0"/>
              <a:t>Sadness:</a:t>
            </a:r>
            <a:endParaRPr lang="en-US" dirty="0"/>
          </a:p>
        </p:txBody>
      </p:sp>
      <p:sp>
        <p:nvSpPr>
          <p:cNvPr id="7" name="TextBox 6"/>
          <p:cNvSpPr txBox="1"/>
          <p:nvPr/>
        </p:nvSpPr>
        <p:spPr>
          <a:xfrm>
            <a:off x="478971" y="2743200"/>
            <a:ext cx="1204686" cy="307777"/>
          </a:xfrm>
          <a:prstGeom prst="rect">
            <a:avLst/>
          </a:prstGeom>
          <a:noFill/>
        </p:spPr>
        <p:txBody>
          <a:bodyPr wrap="square" rtlCol="0">
            <a:spAutoFit/>
          </a:bodyPr>
          <a:lstStyle/>
          <a:p>
            <a:r>
              <a:rPr lang="en-US" dirty="0" smtClean="0"/>
              <a:t>Surprise:</a:t>
            </a:r>
            <a:endParaRPr lang="en-US" dirty="0"/>
          </a:p>
        </p:txBody>
      </p:sp>
    </p:spTree>
    <p:extLst>
      <p:ext uri="{BB962C8B-B14F-4D97-AF65-F5344CB8AC3E}">
        <p14:creationId xmlns:p14="http://schemas.microsoft.com/office/powerpoint/2010/main" val="1539325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The comparison of average </a:t>
            </a:r>
            <a:r>
              <a:rPr lang="en-US" b="1" dirty="0"/>
              <a:t>of entailment probabilities </a:t>
            </a:r>
            <a:r>
              <a:rPr lang="en-US" b="1" dirty="0" smtClean="0"/>
              <a:t>of synonyms </a:t>
            </a:r>
            <a:r>
              <a:rPr lang="en-US" b="1" dirty="0"/>
              <a:t>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19</a:t>
            </a:fld>
            <a:endParaRPr lang="ja" altLang="en-US"/>
          </a:p>
        </p:txBody>
      </p:sp>
      <p:sp>
        <p:nvSpPr>
          <p:cNvPr id="5" name="TextBox 4"/>
          <p:cNvSpPr txBox="1"/>
          <p:nvPr/>
        </p:nvSpPr>
        <p:spPr>
          <a:xfrm>
            <a:off x="384628" y="957960"/>
            <a:ext cx="7982857" cy="3108543"/>
          </a:xfrm>
          <a:prstGeom prst="rect">
            <a:avLst/>
          </a:prstGeom>
          <a:noFill/>
        </p:spPr>
        <p:txBody>
          <a:bodyPr wrap="square" rtlCol="0">
            <a:spAutoFit/>
          </a:bodyPr>
          <a:lstStyle/>
          <a:p>
            <a:r>
              <a:rPr lang="en-US" dirty="0" smtClean="0"/>
              <a:t>The synonyms that had highest average of entailment probabilities when the predicted label is true .</a:t>
            </a:r>
          </a:p>
          <a:p>
            <a:endParaRPr lang="en-US" dirty="0"/>
          </a:p>
          <a:p>
            <a:r>
              <a:rPr lang="en-US" dirty="0" smtClean="0"/>
              <a:t>anger: irritation</a:t>
            </a:r>
          </a:p>
          <a:p>
            <a:endParaRPr lang="en-US" dirty="0"/>
          </a:p>
          <a:p>
            <a:r>
              <a:rPr lang="en-US" dirty="0"/>
              <a:t>Disgust: </a:t>
            </a:r>
            <a:r>
              <a:rPr lang="en-US" dirty="0" smtClean="0"/>
              <a:t>repugnance</a:t>
            </a:r>
          </a:p>
          <a:p>
            <a:endParaRPr lang="en-US" dirty="0"/>
          </a:p>
          <a:p>
            <a:r>
              <a:rPr lang="en-US" dirty="0" smtClean="0"/>
              <a:t>Fear: fear</a:t>
            </a:r>
          </a:p>
          <a:p>
            <a:endParaRPr lang="en-US" dirty="0"/>
          </a:p>
          <a:p>
            <a:r>
              <a:rPr lang="en-US" dirty="0" smtClean="0"/>
              <a:t>Joy: pleasure</a:t>
            </a:r>
          </a:p>
          <a:p>
            <a:endParaRPr lang="en-US" dirty="0"/>
          </a:p>
          <a:p>
            <a:r>
              <a:rPr lang="en-US" dirty="0" smtClean="0"/>
              <a:t>Sadness: sadness</a:t>
            </a:r>
          </a:p>
          <a:p>
            <a:endParaRPr lang="en-US" dirty="0" smtClean="0"/>
          </a:p>
          <a:p>
            <a:r>
              <a:rPr lang="en-US" dirty="0" smtClean="0"/>
              <a:t>Surprise: surprise</a:t>
            </a:r>
            <a:endParaRPr lang="en-US" dirty="0"/>
          </a:p>
        </p:txBody>
      </p:sp>
    </p:spTree>
    <p:extLst>
      <p:ext uri="{BB962C8B-B14F-4D97-AF65-F5344CB8AC3E}">
        <p14:creationId xmlns:p14="http://schemas.microsoft.com/office/powerpoint/2010/main" val="1571742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20</a:t>
            </a:fld>
            <a:endParaRPr lang="ja" altLang="en-US"/>
          </a:p>
        </p:txBody>
      </p:sp>
      <p:sp>
        <p:nvSpPr>
          <p:cNvPr id="5" name="TextBox 4"/>
          <p:cNvSpPr txBox="1"/>
          <p:nvPr/>
        </p:nvSpPr>
        <p:spPr>
          <a:xfrm>
            <a:off x="551543" y="856343"/>
            <a:ext cx="8592507" cy="523220"/>
          </a:xfrm>
          <a:prstGeom prst="rect">
            <a:avLst/>
          </a:prstGeom>
          <a:noFill/>
        </p:spPr>
        <p:txBody>
          <a:bodyPr wrap="square" rtlCol="0">
            <a:spAutoFit/>
          </a:bodyPr>
          <a:lstStyle/>
          <a:p>
            <a:r>
              <a:rPr lang="en-US" dirty="0"/>
              <a:t>The average of entailment probabilities for each synonym of the emotion when the predicted label is </a:t>
            </a:r>
            <a:r>
              <a:rPr lang="en-US" dirty="0" smtClean="0"/>
              <a:t>wrong</a:t>
            </a:r>
            <a:endParaRPr lang="en-US" dirty="0"/>
          </a:p>
          <a:p>
            <a:r>
              <a:rPr lang="en-US" dirty="0" smtClean="0"/>
              <a:t>(when </a:t>
            </a:r>
            <a:r>
              <a:rPr lang="en-US" dirty="0"/>
              <a:t>using average of entailment probabilities of synonyms , Tec </a:t>
            </a:r>
            <a:r>
              <a:rPr lang="en-US" dirty="0" smtClean="0"/>
              <a:t>dataset)</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099300768"/>
              </p:ext>
            </p:extLst>
          </p:nvPr>
        </p:nvGraphicFramePr>
        <p:xfrm>
          <a:off x="551543" y="1860100"/>
          <a:ext cx="8222340" cy="1102360"/>
        </p:xfrm>
        <a:graphic>
          <a:graphicData uri="http://schemas.openxmlformats.org/drawingml/2006/table">
            <a:tbl>
              <a:tblPr firstRow="1" bandRow="1">
                <a:tableStyleId>{5C22544A-7EE6-4342-B048-85BDC9FD1C3A}</a:tableStyleId>
              </a:tblPr>
              <a:tblGrid>
                <a:gridCol w="1174620">
                  <a:extLst>
                    <a:ext uri="{9D8B030D-6E8A-4147-A177-3AD203B41FA5}">
                      <a16:colId xmlns:a16="http://schemas.microsoft.com/office/drawing/2014/main" val="3603832139"/>
                    </a:ext>
                  </a:extLst>
                </a:gridCol>
                <a:gridCol w="1174620">
                  <a:extLst>
                    <a:ext uri="{9D8B030D-6E8A-4147-A177-3AD203B41FA5}">
                      <a16:colId xmlns:a16="http://schemas.microsoft.com/office/drawing/2014/main" val="914479867"/>
                    </a:ext>
                  </a:extLst>
                </a:gridCol>
                <a:gridCol w="1174620">
                  <a:extLst>
                    <a:ext uri="{9D8B030D-6E8A-4147-A177-3AD203B41FA5}">
                      <a16:colId xmlns:a16="http://schemas.microsoft.com/office/drawing/2014/main" val="3830851643"/>
                    </a:ext>
                  </a:extLst>
                </a:gridCol>
                <a:gridCol w="1174620">
                  <a:extLst>
                    <a:ext uri="{9D8B030D-6E8A-4147-A177-3AD203B41FA5}">
                      <a16:colId xmlns:a16="http://schemas.microsoft.com/office/drawing/2014/main" val="2709983437"/>
                    </a:ext>
                  </a:extLst>
                </a:gridCol>
                <a:gridCol w="1174620">
                  <a:extLst>
                    <a:ext uri="{9D8B030D-6E8A-4147-A177-3AD203B41FA5}">
                      <a16:colId xmlns:a16="http://schemas.microsoft.com/office/drawing/2014/main" val="1185082481"/>
                    </a:ext>
                  </a:extLst>
                </a:gridCol>
                <a:gridCol w="1174620">
                  <a:extLst>
                    <a:ext uri="{9D8B030D-6E8A-4147-A177-3AD203B41FA5}">
                      <a16:colId xmlns:a16="http://schemas.microsoft.com/office/drawing/2014/main" val="887422139"/>
                    </a:ext>
                  </a:extLst>
                </a:gridCol>
                <a:gridCol w="1174620">
                  <a:extLst>
                    <a:ext uri="{9D8B030D-6E8A-4147-A177-3AD203B41FA5}">
                      <a16:colId xmlns:a16="http://schemas.microsoft.com/office/drawing/2014/main" val="2650393169"/>
                    </a:ext>
                  </a:extLst>
                </a:gridCol>
              </a:tblGrid>
              <a:tr h="370840">
                <a:tc>
                  <a:txBody>
                    <a:bodyPr/>
                    <a:lstStyle/>
                    <a:p>
                      <a:r>
                        <a:rPr lang="en-US" dirty="0" smtClean="0"/>
                        <a:t>synonym</a:t>
                      </a:r>
                      <a:endParaRPr lang="en-US" dirty="0"/>
                    </a:p>
                  </a:txBody>
                  <a:tcPr/>
                </a:tc>
                <a:tc>
                  <a:txBody>
                    <a:bodyPr/>
                    <a:lstStyle/>
                    <a:p>
                      <a:r>
                        <a:rPr lang="en-US" dirty="0" smtClean="0"/>
                        <a:t>anger</a:t>
                      </a:r>
                      <a:endParaRPr lang="en-US" dirty="0"/>
                    </a:p>
                  </a:txBody>
                  <a:tcPr/>
                </a:tc>
                <a:tc>
                  <a:txBody>
                    <a:bodyPr/>
                    <a:lstStyle/>
                    <a:p>
                      <a:r>
                        <a:rPr lang="en-US" dirty="0" smtClean="0"/>
                        <a:t>annoyance</a:t>
                      </a:r>
                      <a:endParaRPr lang="en-US" dirty="0"/>
                    </a:p>
                  </a:txBody>
                  <a:tcPr/>
                </a:tc>
                <a:tc>
                  <a:txBody>
                    <a:bodyPr/>
                    <a:lstStyle/>
                    <a:p>
                      <a:r>
                        <a:rPr lang="en-US" dirty="0" smtClean="0"/>
                        <a:t>rage</a:t>
                      </a:r>
                      <a:endParaRPr lang="en-US" dirty="0"/>
                    </a:p>
                  </a:txBody>
                  <a:tcPr/>
                </a:tc>
                <a:tc>
                  <a:txBody>
                    <a:bodyPr/>
                    <a:lstStyle/>
                    <a:p>
                      <a:r>
                        <a:rPr lang="en-US" dirty="0" smtClean="0"/>
                        <a:t>outrage</a:t>
                      </a:r>
                      <a:endParaRPr lang="en-US" dirty="0"/>
                    </a:p>
                  </a:txBody>
                  <a:tcPr/>
                </a:tc>
                <a:tc>
                  <a:txBody>
                    <a:bodyPr/>
                    <a:lstStyle/>
                    <a:p>
                      <a:r>
                        <a:rPr lang="en-US" dirty="0" smtClean="0"/>
                        <a:t>fury</a:t>
                      </a:r>
                      <a:endParaRPr lang="en-US" dirty="0"/>
                    </a:p>
                  </a:txBody>
                  <a:tcPr/>
                </a:tc>
                <a:tc>
                  <a:txBody>
                    <a:bodyPr/>
                    <a:lstStyle/>
                    <a:p>
                      <a:r>
                        <a:rPr lang="en-US" dirty="0" smtClean="0"/>
                        <a:t>irritation</a:t>
                      </a:r>
                      <a:endParaRPr lang="en-US" dirty="0"/>
                    </a:p>
                  </a:txBody>
                  <a:tcPr/>
                </a:tc>
                <a:extLst>
                  <a:ext uri="{0D108BD9-81ED-4DB2-BD59-A6C34878D82A}">
                    <a16:rowId xmlns:a16="http://schemas.microsoft.com/office/drawing/2014/main" val="3073573081"/>
                  </a:ext>
                </a:extLst>
              </a:tr>
              <a:tr h="370840">
                <a:tc>
                  <a:txBody>
                    <a:bodyPr/>
                    <a:lstStyle/>
                    <a:p>
                      <a:r>
                        <a:rPr lang="en-US" dirty="0" smtClean="0"/>
                        <a:t>Average of entailment probabilities </a:t>
                      </a:r>
                      <a:endParaRPr lang="en-US" dirty="0"/>
                    </a:p>
                  </a:txBody>
                  <a:tcPr/>
                </a:tc>
                <a:tc>
                  <a:txBody>
                    <a:bodyPr/>
                    <a:lstStyle/>
                    <a:p>
                      <a:r>
                        <a:rPr lang="en-US" dirty="0" smtClean="0"/>
                        <a:t>0.46</a:t>
                      </a:r>
                      <a:endParaRPr lang="en-US" dirty="0"/>
                    </a:p>
                  </a:txBody>
                  <a:tcPr/>
                </a:tc>
                <a:tc>
                  <a:txBody>
                    <a:bodyPr/>
                    <a:lstStyle/>
                    <a:p>
                      <a:r>
                        <a:rPr lang="en-US" dirty="0" smtClean="0"/>
                        <a:t>0.59</a:t>
                      </a:r>
                      <a:endParaRPr lang="en-US" dirty="0"/>
                    </a:p>
                  </a:txBody>
                  <a:tcPr/>
                </a:tc>
                <a:tc>
                  <a:txBody>
                    <a:bodyPr/>
                    <a:lstStyle/>
                    <a:p>
                      <a:r>
                        <a:rPr lang="en-US" dirty="0" smtClean="0"/>
                        <a:t>0.33</a:t>
                      </a:r>
                      <a:endParaRPr lang="en-US" dirty="0"/>
                    </a:p>
                  </a:txBody>
                  <a:tcPr/>
                </a:tc>
                <a:tc>
                  <a:txBody>
                    <a:bodyPr/>
                    <a:lstStyle/>
                    <a:p>
                      <a:r>
                        <a:rPr lang="en-US" dirty="0" smtClean="0"/>
                        <a:t>0.43</a:t>
                      </a:r>
                      <a:endParaRPr lang="en-US" dirty="0"/>
                    </a:p>
                  </a:txBody>
                  <a:tcPr/>
                </a:tc>
                <a:tc>
                  <a:txBody>
                    <a:bodyPr/>
                    <a:lstStyle/>
                    <a:p>
                      <a:r>
                        <a:rPr lang="en-US" dirty="0" smtClean="0"/>
                        <a:t>0.35</a:t>
                      </a:r>
                      <a:endParaRPr lang="en-US" dirty="0"/>
                    </a:p>
                  </a:txBody>
                  <a:tcPr/>
                </a:tc>
                <a:tc>
                  <a:txBody>
                    <a:bodyPr/>
                    <a:lstStyle/>
                    <a:p>
                      <a:r>
                        <a:rPr lang="en-US" dirty="0" smtClean="0"/>
                        <a:t>0.65</a:t>
                      </a:r>
                      <a:endParaRPr lang="en-US" dirty="0"/>
                    </a:p>
                  </a:txBody>
                  <a:tcPr/>
                </a:tc>
                <a:extLst>
                  <a:ext uri="{0D108BD9-81ED-4DB2-BD59-A6C34878D82A}">
                    <a16:rowId xmlns:a16="http://schemas.microsoft.com/office/drawing/2014/main" val="39786827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539576784"/>
              </p:ext>
            </p:extLst>
          </p:nvPr>
        </p:nvGraphicFramePr>
        <p:xfrm>
          <a:off x="551543" y="3485607"/>
          <a:ext cx="8352967" cy="1102360"/>
        </p:xfrm>
        <a:graphic>
          <a:graphicData uri="http://schemas.openxmlformats.org/drawingml/2006/table">
            <a:tbl>
              <a:tblPr firstRow="1" bandRow="1">
                <a:tableStyleId>{5C22544A-7EE6-4342-B048-85BDC9FD1C3A}</a:tableStyleId>
              </a:tblPr>
              <a:tblGrid>
                <a:gridCol w="1193281">
                  <a:extLst>
                    <a:ext uri="{9D8B030D-6E8A-4147-A177-3AD203B41FA5}">
                      <a16:colId xmlns:a16="http://schemas.microsoft.com/office/drawing/2014/main" val="2515422670"/>
                    </a:ext>
                  </a:extLst>
                </a:gridCol>
                <a:gridCol w="1193281">
                  <a:extLst>
                    <a:ext uri="{9D8B030D-6E8A-4147-A177-3AD203B41FA5}">
                      <a16:colId xmlns:a16="http://schemas.microsoft.com/office/drawing/2014/main" val="711805182"/>
                    </a:ext>
                  </a:extLst>
                </a:gridCol>
                <a:gridCol w="1193281">
                  <a:extLst>
                    <a:ext uri="{9D8B030D-6E8A-4147-A177-3AD203B41FA5}">
                      <a16:colId xmlns:a16="http://schemas.microsoft.com/office/drawing/2014/main" val="3213908025"/>
                    </a:ext>
                  </a:extLst>
                </a:gridCol>
                <a:gridCol w="1193281">
                  <a:extLst>
                    <a:ext uri="{9D8B030D-6E8A-4147-A177-3AD203B41FA5}">
                      <a16:colId xmlns:a16="http://schemas.microsoft.com/office/drawing/2014/main" val="1470325924"/>
                    </a:ext>
                  </a:extLst>
                </a:gridCol>
                <a:gridCol w="1193281">
                  <a:extLst>
                    <a:ext uri="{9D8B030D-6E8A-4147-A177-3AD203B41FA5}">
                      <a16:colId xmlns:a16="http://schemas.microsoft.com/office/drawing/2014/main" val="3784753392"/>
                    </a:ext>
                  </a:extLst>
                </a:gridCol>
                <a:gridCol w="1193281">
                  <a:extLst>
                    <a:ext uri="{9D8B030D-6E8A-4147-A177-3AD203B41FA5}">
                      <a16:colId xmlns:a16="http://schemas.microsoft.com/office/drawing/2014/main" val="3157324177"/>
                    </a:ext>
                  </a:extLst>
                </a:gridCol>
                <a:gridCol w="1193281">
                  <a:extLst>
                    <a:ext uri="{9D8B030D-6E8A-4147-A177-3AD203B41FA5}">
                      <a16:colId xmlns:a16="http://schemas.microsoft.com/office/drawing/2014/main" val="1033398870"/>
                    </a:ext>
                  </a:extLst>
                </a:gridCol>
              </a:tblGrid>
              <a:tr h="370840">
                <a:tc>
                  <a:txBody>
                    <a:bodyPr/>
                    <a:lstStyle/>
                    <a:p>
                      <a:r>
                        <a:rPr lang="en-US" dirty="0" smtClean="0"/>
                        <a:t>synonym</a:t>
                      </a:r>
                      <a:endParaRPr lang="en-US" dirty="0"/>
                    </a:p>
                  </a:txBody>
                  <a:tcPr/>
                </a:tc>
                <a:tc>
                  <a:txBody>
                    <a:bodyPr/>
                    <a:lstStyle/>
                    <a:p>
                      <a:r>
                        <a:rPr lang="en-US" dirty="0" smtClean="0"/>
                        <a:t>disgust</a:t>
                      </a:r>
                      <a:endParaRPr lang="en-US" dirty="0"/>
                    </a:p>
                  </a:txBody>
                  <a:tcPr/>
                </a:tc>
                <a:tc>
                  <a:txBody>
                    <a:bodyPr/>
                    <a:lstStyle/>
                    <a:p>
                      <a:r>
                        <a:rPr lang="en-US" dirty="0" smtClean="0"/>
                        <a:t>loathing</a:t>
                      </a:r>
                      <a:endParaRPr lang="en-US" dirty="0"/>
                    </a:p>
                  </a:txBody>
                  <a:tcPr/>
                </a:tc>
                <a:tc>
                  <a:txBody>
                    <a:bodyPr/>
                    <a:lstStyle/>
                    <a:p>
                      <a:r>
                        <a:rPr lang="en-US" dirty="0" smtClean="0"/>
                        <a:t>bitter</a:t>
                      </a:r>
                      <a:endParaRPr lang="en-US" dirty="0"/>
                    </a:p>
                  </a:txBody>
                  <a:tcPr/>
                </a:tc>
                <a:tc>
                  <a:txBody>
                    <a:bodyPr/>
                    <a:lstStyle/>
                    <a:p>
                      <a:r>
                        <a:rPr lang="en-US" dirty="0" smtClean="0"/>
                        <a:t>ugly</a:t>
                      </a:r>
                      <a:endParaRPr lang="en-US" dirty="0"/>
                    </a:p>
                  </a:txBody>
                  <a:tcPr/>
                </a:tc>
                <a:tc>
                  <a:txBody>
                    <a:bodyPr/>
                    <a:lstStyle/>
                    <a:p>
                      <a:r>
                        <a:rPr lang="en-US" dirty="0" smtClean="0"/>
                        <a:t>repugnance</a:t>
                      </a:r>
                      <a:endParaRPr lang="en-US" dirty="0"/>
                    </a:p>
                  </a:txBody>
                  <a:tcPr/>
                </a:tc>
                <a:tc>
                  <a:txBody>
                    <a:bodyPr/>
                    <a:lstStyle/>
                    <a:p>
                      <a:r>
                        <a:rPr lang="en-US" dirty="0" smtClean="0"/>
                        <a:t>revulsion</a:t>
                      </a:r>
                      <a:endParaRPr lang="en-US" dirty="0"/>
                    </a:p>
                  </a:txBody>
                  <a:tcPr/>
                </a:tc>
                <a:extLst>
                  <a:ext uri="{0D108BD9-81ED-4DB2-BD59-A6C34878D82A}">
                    <a16:rowId xmlns:a16="http://schemas.microsoft.com/office/drawing/2014/main" val="2751846203"/>
                  </a:ext>
                </a:extLst>
              </a:tr>
              <a:tr h="370840">
                <a:tc>
                  <a:txBody>
                    <a:bodyPr/>
                    <a:lstStyle/>
                    <a:p>
                      <a:r>
                        <a:rPr lang="en-US" dirty="0" smtClean="0"/>
                        <a:t>Average of entailment probabilities </a:t>
                      </a:r>
                      <a:endParaRPr lang="en-US" dirty="0"/>
                    </a:p>
                  </a:txBody>
                  <a:tcPr/>
                </a:tc>
                <a:tc>
                  <a:txBody>
                    <a:bodyPr/>
                    <a:lstStyle/>
                    <a:p>
                      <a:r>
                        <a:rPr lang="en-US" dirty="0" smtClean="0"/>
                        <a:t>0.6</a:t>
                      </a:r>
                      <a:endParaRPr lang="en-US" dirty="0"/>
                    </a:p>
                  </a:txBody>
                  <a:tcPr/>
                </a:tc>
                <a:tc>
                  <a:txBody>
                    <a:bodyPr/>
                    <a:lstStyle/>
                    <a:p>
                      <a:r>
                        <a:rPr lang="en-US" dirty="0" smtClean="0"/>
                        <a:t>0.48</a:t>
                      </a:r>
                      <a:endParaRPr lang="en-US" dirty="0"/>
                    </a:p>
                  </a:txBody>
                  <a:tcPr/>
                </a:tc>
                <a:tc>
                  <a:txBody>
                    <a:bodyPr/>
                    <a:lstStyle/>
                    <a:p>
                      <a:r>
                        <a:rPr lang="en-US" dirty="0" smtClean="0"/>
                        <a:t>0.54</a:t>
                      </a:r>
                      <a:endParaRPr lang="en-US" dirty="0"/>
                    </a:p>
                  </a:txBody>
                  <a:tcPr/>
                </a:tc>
                <a:tc>
                  <a:txBody>
                    <a:bodyPr/>
                    <a:lstStyle/>
                    <a:p>
                      <a:r>
                        <a:rPr lang="en-US" dirty="0" smtClean="0"/>
                        <a:t>0.28</a:t>
                      </a:r>
                      <a:endParaRPr lang="en-US" dirty="0"/>
                    </a:p>
                  </a:txBody>
                  <a:tcPr/>
                </a:tc>
                <a:tc>
                  <a:txBody>
                    <a:bodyPr/>
                    <a:lstStyle/>
                    <a:p>
                      <a:r>
                        <a:rPr lang="en-US" dirty="0" smtClean="0"/>
                        <a:t>0.69</a:t>
                      </a:r>
                      <a:endParaRPr lang="en-US" dirty="0"/>
                    </a:p>
                  </a:txBody>
                  <a:tcPr/>
                </a:tc>
                <a:tc>
                  <a:txBody>
                    <a:bodyPr/>
                    <a:lstStyle/>
                    <a:p>
                      <a:r>
                        <a:rPr lang="en-US" dirty="0" smtClean="0"/>
                        <a:t>0.55</a:t>
                      </a:r>
                      <a:endParaRPr lang="en-US" dirty="0"/>
                    </a:p>
                  </a:txBody>
                  <a:tcPr/>
                </a:tc>
                <a:extLst>
                  <a:ext uri="{0D108BD9-81ED-4DB2-BD59-A6C34878D82A}">
                    <a16:rowId xmlns:a16="http://schemas.microsoft.com/office/drawing/2014/main" val="2053983885"/>
                  </a:ext>
                </a:extLst>
              </a:tr>
            </a:tbl>
          </a:graphicData>
        </a:graphic>
      </p:graphicFrame>
      <p:sp>
        <p:nvSpPr>
          <p:cNvPr id="3" name="TextBox 2"/>
          <p:cNvSpPr txBox="1"/>
          <p:nvPr/>
        </p:nvSpPr>
        <p:spPr>
          <a:xfrm>
            <a:off x="660400" y="1465943"/>
            <a:ext cx="1284514" cy="307777"/>
          </a:xfrm>
          <a:prstGeom prst="rect">
            <a:avLst/>
          </a:prstGeom>
          <a:noFill/>
        </p:spPr>
        <p:txBody>
          <a:bodyPr wrap="square" rtlCol="0">
            <a:spAutoFit/>
          </a:bodyPr>
          <a:lstStyle/>
          <a:p>
            <a:r>
              <a:rPr lang="en-US" dirty="0"/>
              <a:t>a</a:t>
            </a:r>
            <a:r>
              <a:rPr lang="en-US" dirty="0" smtClean="0"/>
              <a:t>nger</a:t>
            </a:r>
            <a:r>
              <a:rPr lang="en-US" dirty="0" smtClean="0"/>
              <a:t>:</a:t>
            </a:r>
            <a:endParaRPr lang="en-US" dirty="0"/>
          </a:p>
        </p:txBody>
      </p:sp>
      <p:sp>
        <p:nvSpPr>
          <p:cNvPr id="8" name="TextBox 7"/>
          <p:cNvSpPr txBox="1"/>
          <p:nvPr/>
        </p:nvSpPr>
        <p:spPr>
          <a:xfrm>
            <a:off x="660400" y="3156857"/>
            <a:ext cx="1284514" cy="307777"/>
          </a:xfrm>
          <a:prstGeom prst="rect">
            <a:avLst/>
          </a:prstGeom>
          <a:noFill/>
        </p:spPr>
        <p:txBody>
          <a:bodyPr wrap="square" rtlCol="0">
            <a:spAutoFit/>
          </a:bodyPr>
          <a:lstStyle/>
          <a:p>
            <a:r>
              <a:rPr lang="en-US" dirty="0" smtClean="0"/>
              <a:t>Disgust:</a:t>
            </a:r>
            <a:endParaRPr lang="en-US" dirty="0"/>
          </a:p>
        </p:txBody>
      </p:sp>
    </p:spTree>
    <p:extLst>
      <p:ext uri="{BB962C8B-B14F-4D97-AF65-F5344CB8AC3E}">
        <p14:creationId xmlns:p14="http://schemas.microsoft.com/office/powerpoint/2010/main" val="1098830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21</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2844760970"/>
              </p:ext>
            </p:extLst>
          </p:nvPr>
        </p:nvGraphicFramePr>
        <p:xfrm>
          <a:off x="497515" y="1054635"/>
          <a:ext cx="8008658" cy="1102360"/>
        </p:xfrm>
        <a:graphic>
          <a:graphicData uri="http://schemas.openxmlformats.org/drawingml/2006/table">
            <a:tbl>
              <a:tblPr firstRow="1" bandRow="1">
                <a:tableStyleId>{5C22544A-7EE6-4342-B048-85BDC9FD1C3A}</a:tableStyleId>
              </a:tblPr>
              <a:tblGrid>
                <a:gridCol w="1144094">
                  <a:extLst>
                    <a:ext uri="{9D8B030D-6E8A-4147-A177-3AD203B41FA5}">
                      <a16:colId xmlns:a16="http://schemas.microsoft.com/office/drawing/2014/main" val="4049186754"/>
                    </a:ext>
                  </a:extLst>
                </a:gridCol>
                <a:gridCol w="1144094">
                  <a:extLst>
                    <a:ext uri="{9D8B030D-6E8A-4147-A177-3AD203B41FA5}">
                      <a16:colId xmlns:a16="http://schemas.microsoft.com/office/drawing/2014/main" val="1864259392"/>
                    </a:ext>
                  </a:extLst>
                </a:gridCol>
                <a:gridCol w="1144094">
                  <a:extLst>
                    <a:ext uri="{9D8B030D-6E8A-4147-A177-3AD203B41FA5}">
                      <a16:colId xmlns:a16="http://schemas.microsoft.com/office/drawing/2014/main" val="3175270220"/>
                    </a:ext>
                  </a:extLst>
                </a:gridCol>
                <a:gridCol w="1144094">
                  <a:extLst>
                    <a:ext uri="{9D8B030D-6E8A-4147-A177-3AD203B41FA5}">
                      <a16:colId xmlns:a16="http://schemas.microsoft.com/office/drawing/2014/main" val="2053500463"/>
                    </a:ext>
                  </a:extLst>
                </a:gridCol>
                <a:gridCol w="1144094">
                  <a:extLst>
                    <a:ext uri="{9D8B030D-6E8A-4147-A177-3AD203B41FA5}">
                      <a16:colId xmlns:a16="http://schemas.microsoft.com/office/drawing/2014/main" val="1663986125"/>
                    </a:ext>
                  </a:extLst>
                </a:gridCol>
                <a:gridCol w="1144094">
                  <a:extLst>
                    <a:ext uri="{9D8B030D-6E8A-4147-A177-3AD203B41FA5}">
                      <a16:colId xmlns:a16="http://schemas.microsoft.com/office/drawing/2014/main" val="3168953696"/>
                    </a:ext>
                  </a:extLst>
                </a:gridCol>
                <a:gridCol w="1144094">
                  <a:extLst>
                    <a:ext uri="{9D8B030D-6E8A-4147-A177-3AD203B41FA5}">
                      <a16:colId xmlns:a16="http://schemas.microsoft.com/office/drawing/2014/main" val="2105327687"/>
                    </a:ext>
                  </a:extLst>
                </a:gridCol>
              </a:tblGrid>
              <a:tr h="370840">
                <a:tc>
                  <a:txBody>
                    <a:bodyPr/>
                    <a:lstStyle/>
                    <a:p>
                      <a:r>
                        <a:rPr lang="en-US" dirty="0" smtClean="0"/>
                        <a:t>synonym</a:t>
                      </a:r>
                      <a:endParaRPr lang="en-US" dirty="0"/>
                    </a:p>
                  </a:txBody>
                  <a:tcPr/>
                </a:tc>
                <a:tc>
                  <a:txBody>
                    <a:bodyPr/>
                    <a:lstStyle/>
                    <a:p>
                      <a:r>
                        <a:rPr lang="en-US" dirty="0" smtClean="0"/>
                        <a:t>fear</a:t>
                      </a:r>
                      <a:endParaRPr lang="en-US" dirty="0"/>
                    </a:p>
                  </a:txBody>
                  <a:tcPr/>
                </a:tc>
                <a:tc>
                  <a:txBody>
                    <a:bodyPr/>
                    <a:lstStyle/>
                    <a:p>
                      <a:r>
                        <a:rPr lang="en-US" dirty="0" smtClean="0"/>
                        <a:t>horror</a:t>
                      </a:r>
                      <a:endParaRPr lang="en-US" dirty="0"/>
                    </a:p>
                  </a:txBody>
                  <a:tcPr/>
                </a:tc>
                <a:tc>
                  <a:txBody>
                    <a:bodyPr/>
                    <a:lstStyle/>
                    <a:p>
                      <a:r>
                        <a:rPr lang="en-US" dirty="0" smtClean="0"/>
                        <a:t>anxiety</a:t>
                      </a:r>
                      <a:endParaRPr lang="en-US" dirty="0"/>
                    </a:p>
                  </a:txBody>
                  <a:tcPr/>
                </a:tc>
                <a:tc>
                  <a:txBody>
                    <a:bodyPr/>
                    <a:lstStyle/>
                    <a:p>
                      <a:r>
                        <a:rPr lang="en-US" dirty="0" smtClean="0"/>
                        <a:t>terror</a:t>
                      </a:r>
                      <a:endParaRPr lang="en-US" dirty="0"/>
                    </a:p>
                  </a:txBody>
                  <a:tcPr/>
                </a:tc>
                <a:tc>
                  <a:txBody>
                    <a:bodyPr/>
                    <a:lstStyle/>
                    <a:p>
                      <a:r>
                        <a:rPr lang="en-US" dirty="0" smtClean="0"/>
                        <a:t>dread</a:t>
                      </a:r>
                      <a:endParaRPr lang="en-US" dirty="0"/>
                    </a:p>
                  </a:txBody>
                  <a:tcPr/>
                </a:tc>
                <a:tc>
                  <a:txBody>
                    <a:bodyPr/>
                    <a:lstStyle/>
                    <a:p>
                      <a:r>
                        <a:rPr lang="en-US" dirty="0" smtClean="0"/>
                        <a:t>scare</a:t>
                      </a:r>
                      <a:endParaRPr lang="en-US" dirty="0"/>
                    </a:p>
                  </a:txBody>
                  <a:tcPr/>
                </a:tc>
                <a:extLst>
                  <a:ext uri="{0D108BD9-81ED-4DB2-BD59-A6C34878D82A}">
                    <a16:rowId xmlns:a16="http://schemas.microsoft.com/office/drawing/2014/main" val="2373476349"/>
                  </a:ext>
                </a:extLst>
              </a:tr>
              <a:tr h="370840">
                <a:tc>
                  <a:txBody>
                    <a:bodyPr/>
                    <a:lstStyle/>
                    <a:p>
                      <a:r>
                        <a:rPr lang="en-US" dirty="0" smtClean="0"/>
                        <a:t>Average of entailment probabilities </a:t>
                      </a:r>
                      <a:endParaRPr lang="en-US" dirty="0"/>
                    </a:p>
                  </a:txBody>
                  <a:tcPr/>
                </a:tc>
                <a:tc>
                  <a:txBody>
                    <a:bodyPr/>
                    <a:lstStyle/>
                    <a:p>
                      <a:r>
                        <a:rPr lang="en-US" dirty="0" smtClean="0"/>
                        <a:t>0.6</a:t>
                      </a:r>
                      <a:endParaRPr lang="en-US" dirty="0"/>
                    </a:p>
                  </a:txBody>
                  <a:tcPr/>
                </a:tc>
                <a:tc>
                  <a:txBody>
                    <a:bodyPr/>
                    <a:lstStyle/>
                    <a:p>
                      <a:r>
                        <a:rPr lang="en-US" dirty="0" smtClean="0"/>
                        <a:t>0.48</a:t>
                      </a:r>
                      <a:endParaRPr lang="en-US" dirty="0"/>
                    </a:p>
                  </a:txBody>
                  <a:tcPr/>
                </a:tc>
                <a:tc>
                  <a:txBody>
                    <a:bodyPr/>
                    <a:lstStyle/>
                    <a:p>
                      <a:r>
                        <a:rPr lang="en-US" dirty="0" smtClean="0"/>
                        <a:t>0.54</a:t>
                      </a:r>
                      <a:endParaRPr lang="en-US" dirty="0"/>
                    </a:p>
                  </a:txBody>
                  <a:tcPr/>
                </a:tc>
                <a:tc>
                  <a:txBody>
                    <a:bodyPr/>
                    <a:lstStyle/>
                    <a:p>
                      <a:r>
                        <a:rPr lang="en-US" dirty="0" smtClean="0"/>
                        <a:t>0.28</a:t>
                      </a:r>
                      <a:endParaRPr lang="en-US" dirty="0"/>
                    </a:p>
                  </a:txBody>
                  <a:tcPr/>
                </a:tc>
                <a:tc>
                  <a:txBody>
                    <a:bodyPr/>
                    <a:lstStyle/>
                    <a:p>
                      <a:r>
                        <a:rPr lang="en-US" dirty="0" smtClean="0"/>
                        <a:t>0.69</a:t>
                      </a:r>
                      <a:endParaRPr lang="en-US" dirty="0"/>
                    </a:p>
                  </a:txBody>
                  <a:tcPr/>
                </a:tc>
                <a:tc>
                  <a:txBody>
                    <a:bodyPr/>
                    <a:lstStyle/>
                    <a:p>
                      <a:r>
                        <a:rPr lang="en-US" dirty="0" smtClean="0"/>
                        <a:t>0.55</a:t>
                      </a:r>
                      <a:endParaRPr lang="en-US" dirty="0"/>
                    </a:p>
                  </a:txBody>
                  <a:tcPr/>
                </a:tc>
                <a:extLst>
                  <a:ext uri="{0D108BD9-81ED-4DB2-BD59-A6C34878D82A}">
                    <a16:rowId xmlns:a16="http://schemas.microsoft.com/office/drawing/2014/main" val="338429157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679666657"/>
              </p:ext>
            </p:extLst>
          </p:nvPr>
        </p:nvGraphicFramePr>
        <p:xfrm>
          <a:off x="540654" y="2870380"/>
          <a:ext cx="8062691" cy="1259884"/>
        </p:xfrm>
        <a:graphic>
          <a:graphicData uri="http://schemas.openxmlformats.org/drawingml/2006/table">
            <a:tbl>
              <a:tblPr firstRow="1" bandRow="1">
                <a:tableStyleId>{5C22544A-7EE6-4342-B048-85BDC9FD1C3A}</a:tableStyleId>
              </a:tblPr>
              <a:tblGrid>
                <a:gridCol w="1151813">
                  <a:extLst>
                    <a:ext uri="{9D8B030D-6E8A-4147-A177-3AD203B41FA5}">
                      <a16:colId xmlns:a16="http://schemas.microsoft.com/office/drawing/2014/main" val="3564254509"/>
                    </a:ext>
                  </a:extLst>
                </a:gridCol>
                <a:gridCol w="1151813">
                  <a:extLst>
                    <a:ext uri="{9D8B030D-6E8A-4147-A177-3AD203B41FA5}">
                      <a16:colId xmlns:a16="http://schemas.microsoft.com/office/drawing/2014/main" val="2423578708"/>
                    </a:ext>
                  </a:extLst>
                </a:gridCol>
                <a:gridCol w="1151813">
                  <a:extLst>
                    <a:ext uri="{9D8B030D-6E8A-4147-A177-3AD203B41FA5}">
                      <a16:colId xmlns:a16="http://schemas.microsoft.com/office/drawing/2014/main" val="3330058820"/>
                    </a:ext>
                  </a:extLst>
                </a:gridCol>
                <a:gridCol w="1151813">
                  <a:extLst>
                    <a:ext uri="{9D8B030D-6E8A-4147-A177-3AD203B41FA5}">
                      <a16:colId xmlns:a16="http://schemas.microsoft.com/office/drawing/2014/main" val="1201558090"/>
                    </a:ext>
                  </a:extLst>
                </a:gridCol>
                <a:gridCol w="1151813">
                  <a:extLst>
                    <a:ext uri="{9D8B030D-6E8A-4147-A177-3AD203B41FA5}">
                      <a16:colId xmlns:a16="http://schemas.microsoft.com/office/drawing/2014/main" val="678461062"/>
                    </a:ext>
                  </a:extLst>
                </a:gridCol>
                <a:gridCol w="1151813">
                  <a:extLst>
                    <a:ext uri="{9D8B030D-6E8A-4147-A177-3AD203B41FA5}">
                      <a16:colId xmlns:a16="http://schemas.microsoft.com/office/drawing/2014/main" val="1943154136"/>
                    </a:ext>
                  </a:extLst>
                </a:gridCol>
                <a:gridCol w="1151813">
                  <a:extLst>
                    <a:ext uri="{9D8B030D-6E8A-4147-A177-3AD203B41FA5}">
                      <a16:colId xmlns:a16="http://schemas.microsoft.com/office/drawing/2014/main" val="1906479259"/>
                    </a:ext>
                  </a:extLst>
                </a:gridCol>
              </a:tblGrid>
              <a:tr h="528364">
                <a:tc>
                  <a:txBody>
                    <a:bodyPr/>
                    <a:lstStyle/>
                    <a:p>
                      <a:r>
                        <a:rPr lang="en-US" dirty="0" smtClean="0"/>
                        <a:t>synonym</a:t>
                      </a:r>
                      <a:endParaRPr lang="en-US" dirty="0"/>
                    </a:p>
                  </a:txBody>
                  <a:tcPr/>
                </a:tc>
                <a:tc>
                  <a:txBody>
                    <a:bodyPr/>
                    <a:lstStyle/>
                    <a:p>
                      <a:r>
                        <a:rPr lang="en-US" dirty="0" smtClean="0"/>
                        <a:t>joy</a:t>
                      </a:r>
                      <a:endParaRPr lang="en-US" dirty="0"/>
                    </a:p>
                  </a:txBody>
                  <a:tcPr/>
                </a:tc>
                <a:tc>
                  <a:txBody>
                    <a:bodyPr/>
                    <a:lstStyle/>
                    <a:p>
                      <a:r>
                        <a:rPr lang="en-US" dirty="0" smtClean="0"/>
                        <a:t>achievement</a:t>
                      </a:r>
                      <a:endParaRPr lang="en-US" dirty="0"/>
                    </a:p>
                  </a:txBody>
                  <a:tcPr/>
                </a:tc>
                <a:tc>
                  <a:txBody>
                    <a:bodyPr/>
                    <a:lstStyle/>
                    <a:p>
                      <a:r>
                        <a:rPr lang="en-US" dirty="0" smtClean="0"/>
                        <a:t>pleasure</a:t>
                      </a:r>
                      <a:endParaRPr lang="en-US" dirty="0"/>
                    </a:p>
                  </a:txBody>
                  <a:tcPr/>
                </a:tc>
                <a:tc>
                  <a:txBody>
                    <a:bodyPr/>
                    <a:lstStyle/>
                    <a:p>
                      <a:r>
                        <a:rPr lang="en-US" dirty="0" smtClean="0"/>
                        <a:t>awesome</a:t>
                      </a:r>
                      <a:endParaRPr lang="en-US" dirty="0"/>
                    </a:p>
                  </a:txBody>
                  <a:tcPr/>
                </a:tc>
                <a:tc>
                  <a:txBody>
                    <a:bodyPr/>
                    <a:lstStyle/>
                    <a:p>
                      <a:r>
                        <a:rPr lang="en-US" dirty="0" smtClean="0"/>
                        <a:t>happy</a:t>
                      </a:r>
                      <a:endParaRPr lang="en-US" dirty="0"/>
                    </a:p>
                  </a:txBody>
                  <a:tcPr/>
                </a:tc>
                <a:tc>
                  <a:txBody>
                    <a:bodyPr/>
                    <a:lstStyle/>
                    <a:p>
                      <a:r>
                        <a:rPr lang="en-US" dirty="0" smtClean="0"/>
                        <a:t>blessed</a:t>
                      </a:r>
                      <a:endParaRPr lang="en-US" dirty="0"/>
                    </a:p>
                  </a:txBody>
                  <a:tcPr/>
                </a:tc>
                <a:extLst>
                  <a:ext uri="{0D108BD9-81ED-4DB2-BD59-A6C34878D82A}">
                    <a16:rowId xmlns:a16="http://schemas.microsoft.com/office/drawing/2014/main" val="1134613916"/>
                  </a:ext>
                </a:extLst>
              </a:tr>
              <a:tr h="370840">
                <a:tc>
                  <a:txBody>
                    <a:bodyPr/>
                    <a:lstStyle/>
                    <a:p>
                      <a:r>
                        <a:rPr lang="en-US" dirty="0" smtClean="0"/>
                        <a:t>Average of entailment probabilities </a:t>
                      </a:r>
                      <a:endParaRPr lang="en-US" dirty="0"/>
                    </a:p>
                  </a:txBody>
                  <a:tcPr/>
                </a:tc>
                <a:tc>
                  <a:txBody>
                    <a:bodyPr/>
                    <a:lstStyle/>
                    <a:p>
                      <a:r>
                        <a:rPr lang="en-US" dirty="0" smtClean="0"/>
                        <a:t>0.19</a:t>
                      </a:r>
                      <a:endParaRPr lang="en-US" dirty="0"/>
                    </a:p>
                  </a:txBody>
                  <a:tcPr/>
                </a:tc>
                <a:tc>
                  <a:txBody>
                    <a:bodyPr/>
                    <a:lstStyle/>
                    <a:p>
                      <a:r>
                        <a:rPr lang="en-US" dirty="0" smtClean="0"/>
                        <a:t>0.21</a:t>
                      </a:r>
                      <a:endParaRPr lang="en-US" dirty="0"/>
                    </a:p>
                  </a:txBody>
                  <a:tcPr/>
                </a:tc>
                <a:tc>
                  <a:txBody>
                    <a:bodyPr/>
                    <a:lstStyle/>
                    <a:p>
                      <a:r>
                        <a:rPr lang="en-US" dirty="0" smtClean="0"/>
                        <a:t>0.27</a:t>
                      </a:r>
                      <a:endParaRPr lang="en-US" dirty="0"/>
                    </a:p>
                  </a:txBody>
                  <a:tcPr/>
                </a:tc>
                <a:tc>
                  <a:txBody>
                    <a:bodyPr/>
                    <a:lstStyle/>
                    <a:p>
                      <a:r>
                        <a:rPr lang="en-US" dirty="0" smtClean="0"/>
                        <a:t>0.3</a:t>
                      </a:r>
                      <a:endParaRPr lang="en-US" dirty="0"/>
                    </a:p>
                  </a:txBody>
                  <a:tcPr/>
                </a:tc>
                <a:tc>
                  <a:txBody>
                    <a:bodyPr/>
                    <a:lstStyle/>
                    <a:p>
                      <a:r>
                        <a:rPr lang="en-US" dirty="0" smtClean="0"/>
                        <a:t>0.24</a:t>
                      </a:r>
                      <a:endParaRPr lang="en-US" dirty="0"/>
                    </a:p>
                  </a:txBody>
                  <a:tcPr/>
                </a:tc>
                <a:tc>
                  <a:txBody>
                    <a:bodyPr/>
                    <a:lstStyle/>
                    <a:p>
                      <a:r>
                        <a:rPr lang="en-US" dirty="0" smtClean="0"/>
                        <a:t>0.16</a:t>
                      </a:r>
                      <a:endParaRPr lang="en-US" dirty="0"/>
                    </a:p>
                  </a:txBody>
                  <a:tcPr/>
                </a:tc>
                <a:extLst>
                  <a:ext uri="{0D108BD9-81ED-4DB2-BD59-A6C34878D82A}">
                    <a16:rowId xmlns:a16="http://schemas.microsoft.com/office/drawing/2014/main" val="497442349"/>
                  </a:ext>
                </a:extLst>
              </a:tr>
            </a:tbl>
          </a:graphicData>
        </a:graphic>
      </p:graphicFrame>
      <p:sp>
        <p:nvSpPr>
          <p:cNvPr id="3" name="TextBox 2"/>
          <p:cNvSpPr txBox="1"/>
          <p:nvPr/>
        </p:nvSpPr>
        <p:spPr>
          <a:xfrm>
            <a:off x="497515" y="660400"/>
            <a:ext cx="1287742" cy="307777"/>
          </a:xfrm>
          <a:prstGeom prst="rect">
            <a:avLst/>
          </a:prstGeom>
          <a:noFill/>
        </p:spPr>
        <p:txBody>
          <a:bodyPr wrap="square" rtlCol="0">
            <a:spAutoFit/>
          </a:bodyPr>
          <a:lstStyle/>
          <a:p>
            <a:r>
              <a:rPr lang="en-US" dirty="0" smtClean="0"/>
              <a:t>Fear:</a:t>
            </a:r>
            <a:endParaRPr lang="en-US" dirty="0"/>
          </a:p>
        </p:txBody>
      </p:sp>
      <p:sp>
        <p:nvSpPr>
          <p:cNvPr id="7" name="TextBox 6"/>
          <p:cNvSpPr txBox="1"/>
          <p:nvPr/>
        </p:nvSpPr>
        <p:spPr>
          <a:xfrm>
            <a:off x="609600" y="2394857"/>
            <a:ext cx="979714" cy="307777"/>
          </a:xfrm>
          <a:prstGeom prst="rect">
            <a:avLst/>
          </a:prstGeom>
          <a:noFill/>
        </p:spPr>
        <p:txBody>
          <a:bodyPr wrap="square" rtlCol="0">
            <a:spAutoFit/>
          </a:bodyPr>
          <a:lstStyle/>
          <a:p>
            <a:r>
              <a:rPr lang="en-US" dirty="0" smtClean="0"/>
              <a:t>Joy:</a:t>
            </a:r>
            <a:endParaRPr lang="en-US" dirty="0"/>
          </a:p>
        </p:txBody>
      </p:sp>
    </p:spTree>
    <p:extLst>
      <p:ext uri="{BB962C8B-B14F-4D97-AF65-F5344CB8AC3E}">
        <p14:creationId xmlns:p14="http://schemas.microsoft.com/office/powerpoint/2010/main" val="3400413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22</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1026055624"/>
              </p:ext>
            </p:extLst>
          </p:nvPr>
        </p:nvGraphicFramePr>
        <p:xfrm>
          <a:off x="426176" y="1103086"/>
          <a:ext cx="8291647" cy="1463040"/>
        </p:xfrm>
        <a:graphic>
          <a:graphicData uri="http://schemas.openxmlformats.org/drawingml/2006/table">
            <a:tbl>
              <a:tblPr firstRow="1" bandRow="1">
                <a:tableStyleId>{5C22544A-7EE6-4342-B048-85BDC9FD1C3A}</a:tableStyleId>
              </a:tblPr>
              <a:tblGrid>
                <a:gridCol w="1184521">
                  <a:extLst>
                    <a:ext uri="{9D8B030D-6E8A-4147-A177-3AD203B41FA5}">
                      <a16:colId xmlns:a16="http://schemas.microsoft.com/office/drawing/2014/main" val="2659628695"/>
                    </a:ext>
                  </a:extLst>
                </a:gridCol>
                <a:gridCol w="1184521">
                  <a:extLst>
                    <a:ext uri="{9D8B030D-6E8A-4147-A177-3AD203B41FA5}">
                      <a16:colId xmlns:a16="http://schemas.microsoft.com/office/drawing/2014/main" val="3500007172"/>
                    </a:ext>
                  </a:extLst>
                </a:gridCol>
                <a:gridCol w="1184521">
                  <a:extLst>
                    <a:ext uri="{9D8B030D-6E8A-4147-A177-3AD203B41FA5}">
                      <a16:colId xmlns:a16="http://schemas.microsoft.com/office/drawing/2014/main" val="1198418828"/>
                    </a:ext>
                  </a:extLst>
                </a:gridCol>
                <a:gridCol w="1184521">
                  <a:extLst>
                    <a:ext uri="{9D8B030D-6E8A-4147-A177-3AD203B41FA5}">
                      <a16:colId xmlns:a16="http://schemas.microsoft.com/office/drawing/2014/main" val="3945299454"/>
                    </a:ext>
                  </a:extLst>
                </a:gridCol>
                <a:gridCol w="1184521">
                  <a:extLst>
                    <a:ext uri="{9D8B030D-6E8A-4147-A177-3AD203B41FA5}">
                      <a16:colId xmlns:a16="http://schemas.microsoft.com/office/drawing/2014/main" val="2559667161"/>
                    </a:ext>
                  </a:extLst>
                </a:gridCol>
                <a:gridCol w="1184521">
                  <a:extLst>
                    <a:ext uri="{9D8B030D-6E8A-4147-A177-3AD203B41FA5}">
                      <a16:colId xmlns:a16="http://schemas.microsoft.com/office/drawing/2014/main" val="1906041258"/>
                    </a:ext>
                  </a:extLst>
                </a:gridCol>
                <a:gridCol w="1184521">
                  <a:extLst>
                    <a:ext uri="{9D8B030D-6E8A-4147-A177-3AD203B41FA5}">
                      <a16:colId xmlns:a16="http://schemas.microsoft.com/office/drawing/2014/main" val="1451328961"/>
                    </a:ext>
                  </a:extLst>
                </a:gridCol>
              </a:tblGrid>
              <a:tr h="339319">
                <a:tc>
                  <a:txBody>
                    <a:bodyPr/>
                    <a:lstStyle/>
                    <a:p>
                      <a:r>
                        <a:rPr lang="en-US" dirty="0" smtClean="0"/>
                        <a:t>synonym</a:t>
                      </a:r>
                      <a:endParaRPr lang="en-US" dirty="0"/>
                    </a:p>
                  </a:txBody>
                  <a:tcPr/>
                </a:tc>
                <a:tc>
                  <a:txBody>
                    <a:bodyPr/>
                    <a:lstStyle/>
                    <a:p>
                      <a:r>
                        <a:rPr lang="en-US" dirty="0" smtClean="0"/>
                        <a:t>sadness</a:t>
                      </a:r>
                      <a:endParaRPr lang="en-US" dirty="0"/>
                    </a:p>
                  </a:txBody>
                  <a:tcPr/>
                </a:tc>
                <a:tc>
                  <a:txBody>
                    <a:bodyPr/>
                    <a:lstStyle/>
                    <a:p>
                      <a:r>
                        <a:rPr lang="en-US" dirty="0" smtClean="0"/>
                        <a:t>unhappiness</a:t>
                      </a:r>
                      <a:endParaRPr lang="en-US" dirty="0"/>
                    </a:p>
                  </a:txBody>
                  <a:tcPr/>
                </a:tc>
                <a:tc>
                  <a:txBody>
                    <a:bodyPr/>
                    <a:lstStyle/>
                    <a:p>
                      <a:r>
                        <a:rPr lang="en-US" dirty="0" smtClean="0"/>
                        <a:t>grief</a:t>
                      </a:r>
                      <a:endParaRPr lang="en-US" dirty="0"/>
                    </a:p>
                  </a:txBody>
                  <a:tcPr/>
                </a:tc>
                <a:tc>
                  <a:txBody>
                    <a:bodyPr/>
                    <a:lstStyle/>
                    <a:p>
                      <a:r>
                        <a:rPr lang="en-US" dirty="0" smtClean="0"/>
                        <a:t>sorrow</a:t>
                      </a:r>
                      <a:endParaRPr lang="en-US" dirty="0"/>
                    </a:p>
                  </a:txBody>
                  <a:tcPr/>
                </a:tc>
                <a:tc>
                  <a:txBody>
                    <a:bodyPr/>
                    <a:lstStyle/>
                    <a:p>
                      <a:r>
                        <a:rPr lang="en-US" dirty="0" smtClean="0"/>
                        <a:t>loneliness</a:t>
                      </a:r>
                      <a:endParaRPr lang="en-US" dirty="0"/>
                    </a:p>
                  </a:txBody>
                  <a:tcPr/>
                </a:tc>
                <a:tc>
                  <a:txBody>
                    <a:bodyPr/>
                    <a:lstStyle/>
                    <a:p>
                      <a:r>
                        <a:rPr lang="en-US" dirty="0" smtClean="0"/>
                        <a:t>depression</a:t>
                      </a:r>
                      <a:endParaRPr lang="en-US" dirty="0"/>
                    </a:p>
                  </a:txBody>
                  <a:tcPr/>
                </a:tc>
                <a:extLst>
                  <a:ext uri="{0D108BD9-81ED-4DB2-BD59-A6C34878D82A}">
                    <a16:rowId xmlns:a16="http://schemas.microsoft.com/office/drawing/2014/main" val="67134482"/>
                  </a:ext>
                </a:extLst>
              </a:tr>
              <a:tr h="760379">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p>
                      <a:endParaRPr lang="en-US" dirty="0"/>
                    </a:p>
                  </a:txBody>
                  <a:tcPr/>
                </a:tc>
                <a:tc>
                  <a:txBody>
                    <a:bodyPr/>
                    <a:lstStyle/>
                    <a:p>
                      <a:r>
                        <a:rPr lang="en-US" dirty="0" smtClean="0"/>
                        <a:t>0.45</a:t>
                      </a:r>
                      <a:endParaRPr lang="en-US" dirty="0"/>
                    </a:p>
                  </a:txBody>
                  <a:tcPr/>
                </a:tc>
                <a:tc>
                  <a:txBody>
                    <a:bodyPr/>
                    <a:lstStyle/>
                    <a:p>
                      <a:r>
                        <a:rPr lang="en-US" dirty="0" smtClean="0"/>
                        <a:t>0.53</a:t>
                      </a:r>
                      <a:endParaRPr lang="en-US" dirty="0"/>
                    </a:p>
                  </a:txBody>
                  <a:tcPr/>
                </a:tc>
                <a:tc>
                  <a:txBody>
                    <a:bodyPr/>
                    <a:lstStyle/>
                    <a:p>
                      <a:r>
                        <a:rPr lang="en-US" dirty="0" smtClean="0"/>
                        <a:t>0.38</a:t>
                      </a:r>
                      <a:endParaRPr lang="en-US" dirty="0"/>
                    </a:p>
                  </a:txBody>
                  <a:tcPr/>
                </a:tc>
                <a:tc>
                  <a:txBody>
                    <a:bodyPr/>
                    <a:lstStyle/>
                    <a:p>
                      <a:r>
                        <a:rPr lang="en-US" dirty="0" smtClean="0"/>
                        <a:t>0.39</a:t>
                      </a:r>
                      <a:endParaRPr lang="en-US" dirty="0"/>
                    </a:p>
                  </a:txBody>
                  <a:tcPr/>
                </a:tc>
                <a:tc>
                  <a:txBody>
                    <a:bodyPr/>
                    <a:lstStyle/>
                    <a:p>
                      <a:r>
                        <a:rPr lang="en-US" dirty="0" smtClean="0"/>
                        <a:t>0.3</a:t>
                      </a:r>
                      <a:endParaRPr lang="en-US" dirty="0"/>
                    </a:p>
                  </a:txBody>
                  <a:tcPr/>
                </a:tc>
                <a:tc>
                  <a:txBody>
                    <a:bodyPr/>
                    <a:lstStyle/>
                    <a:p>
                      <a:r>
                        <a:rPr lang="en-US" dirty="0" smtClean="0"/>
                        <a:t>0.29</a:t>
                      </a:r>
                      <a:endParaRPr lang="en-US" dirty="0"/>
                    </a:p>
                  </a:txBody>
                  <a:tcPr/>
                </a:tc>
                <a:extLst>
                  <a:ext uri="{0D108BD9-81ED-4DB2-BD59-A6C34878D82A}">
                    <a16:rowId xmlns:a16="http://schemas.microsoft.com/office/drawing/2014/main" val="399774058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10656791"/>
              </p:ext>
            </p:extLst>
          </p:nvPr>
        </p:nvGraphicFramePr>
        <p:xfrm>
          <a:off x="232230" y="2999283"/>
          <a:ext cx="8485596" cy="1411209"/>
        </p:xfrm>
        <a:graphic>
          <a:graphicData uri="http://schemas.openxmlformats.org/drawingml/2006/table">
            <a:tbl>
              <a:tblPr firstRow="1" bandRow="1">
                <a:tableStyleId>{5C22544A-7EE6-4342-B048-85BDC9FD1C3A}</a:tableStyleId>
              </a:tblPr>
              <a:tblGrid>
                <a:gridCol w="1212228">
                  <a:extLst>
                    <a:ext uri="{9D8B030D-6E8A-4147-A177-3AD203B41FA5}">
                      <a16:colId xmlns:a16="http://schemas.microsoft.com/office/drawing/2014/main" val="286882485"/>
                    </a:ext>
                  </a:extLst>
                </a:gridCol>
                <a:gridCol w="1212228">
                  <a:extLst>
                    <a:ext uri="{9D8B030D-6E8A-4147-A177-3AD203B41FA5}">
                      <a16:colId xmlns:a16="http://schemas.microsoft.com/office/drawing/2014/main" val="2812343128"/>
                    </a:ext>
                  </a:extLst>
                </a:gridCol>
                <a:gridCol w="1212228">
                  <a:extLst>
                    <a:ext uri="{9D8B030D-6E8A-4147-A177-3AD203B41FA5}">
                      <a16:colId xmlns:a16="http://schemas.microsoft.com/office/drawing/2014/main" val="2645869493"/>
                    </a:ext>
                  </a:extLst>
                </a:gridCol>
                <a:gridCol w="1212228">
                  <a:extLst>
                    <a:ext uri="{9D8B030D-6E8A-4147-A177-3AD203B41FA5}">
                      <a16:colId xmlns:a16="http://schemas.microsoft.com/office/drawing/2014/main" val="3739022664"/>
                    </a:ext>
                  </a:extLst>
                </a:gridCol>
                <a:gridCol w="1212228">
                  <a:extLst>
                    <a:ext uri="{9D8B030D-6E8A-4147-A177-3AD203B41FA5}">
                      <a16:colId xmlns:a16="http://schemas.microsoft.com/office/drawing/2014/main" val="2168483665"/>
                    </a:ext>
                  </a:extLst>
                </a:gridCol>
                <a:gridCol w="1212228">
                  <a:extLst>
                    <a:ext uri="{9D8B030D-6E8A-4147-A177-3AD203B41FA5}">
                      <a16:colId xmlns:a16="http://schemas.microsoft.com/office/drawing/2014/main" val="3782156861"/>
                    </a:ext>
                  </a:extLst>
                </a:gridCol>
                <a:gridCol w="1212228">
                  <a:extLst>
                    <a:ext uri="{9D8B030D-6E8A-4147-A177-3AD203B41FA5}">
                      <a16:colId xmlns:a16="http://schemas.microsoft.com/office/drawing/2014/main" val="2038626982"/>
                    </a:ext>
                  </a:extLst>
                </a:gridCol>
              </a:tblGrid>
              <a:tr h="679689">
                <a:tc>
                  <a:txBody>
                    <a:bodyPr/>
                    <a:lstStyle/>
                    <a:p>
                      <a:r>
                        <a:rPr lang="en-US" dirty="0" smtClean="0"/>
                        <a:t>synonym</a:t>
                      </a:r>
                      <a:endParaRPr lang="en-US" dirty="0"/>
                    </a:p>
                  </a:txBody>
                  <a:tcPr/>
                </a:tc>
                <a:tc>
                  <a:txBody>
                    <a:bodyPr/>
                    <a:lstStyle/>
                    <a:p>
                      <a:r>
                        <a:rPr lang="en-US" dirty="0" smtClean="0"/>
                        <a:t>surprise</a:t>
                      </a:r>
                      <a:endParaRPr lang="en-US" dirty="0"/>
                    </a:p>
                  </a:txBody>
                  <a:tcPr/>
                </a:tc>
                <a:tc>
                  <a:txBody>
                    <a:bodyPr/>
                    <a:lstStyle/>
                    <a:p>
                      <a:r>
                        <a:rPr lang="en-US" dirty="0" smtClean="0"/>
                        <a:t>astonishment</a:t>
                      </a:r>
                      <a:endParaRPr lang="en-US" dirty="0"/>
                    </a:p>
                  </a:txBody>
                  <a:tcPr/>
                </a:tc>
                <a:tc>
                  <a:txBody>
                    <a:bodyPr/>
                    <a:lstStyle/>
                    <a:p>
                      <a:r>
                        <a:rPr lang="en-US" dirty="0" smtClean="0"/>
                        <a:t>amazement</a:t>
                      </a:r>
                      <a:endParaRPr lang="en-US" dirty="0"/>
                    </a:p>
                  </a:txBody>
                  <a:tcPr/>
                </a:tc>
                <a:tc>
                  <a:txBody>
                    <a:bodyPr/>
                    <a:lstStyle/>
                    <a:p>
                      <a:r>
                        <a:rPr lang="en-US" dirty="0" smtClean="0"/>
                        <a:t>impression</a:t>
                      </a:r>
                      <a:endParaRPr lang="en-US" dirty="0"/>
                    </a:p>
                  </a:txBody>
                  <a:tcPr/>
                </a:tc>
                <a:tc>
                  <a:txBody>
                    <a:bodyPr/>
                    <a:lstStyle/>
                    <a:p>
                      <a:r>
                        <a:rPr lang="en-US" dirty="0" smtClean="0"/>
                        <a:t>perplexity</a:t>
                      </a:r>
                      <a:endParaRPr lang="en-US" dirty="0"/>
                    </a:p>
                  </a:txBody>
                  <a:tcPr/>
                </a:tc>
                <a:tc>
                  <a:txBody>
                    <a:bodyPr/>
                    <a:lstStyle/>
                    <a:p>
                      <a:r>
                        <a:rPr lang="en-US" dirty="0" smtClean="0"/>
                        <a:t>shock</a:t>
                      </a:r>
                      <a:endParaRPr lang="en-US" dirty="0"/>
                    </a:p>
                  </a:txBody>
                  <a:tcPr/>
                </a:tc>
                <a:extLst>
                  <a:ext uri="{0D108BD9-81ED-4DB2-BD59-A6C34878D82A}">
                    <a16:rowId xmlns:a16="http://schemas.microsoft.com/office/drawing/2014/main" val="692467817"/>
                  </a:ext>
                </a:extLst>
              </a:tr>
              <a:tr h="554025">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txBody>
                  <a:tcPr/>
                </a:tc>
                <a:tc>
                  <a:txBody>
                    <a:bodyPr/>
                    <a:lstStyle/>
                    <a:p>
                      <a:r>
                        <a:rPr lang="en-US" dirty="0" smtClean="0"/>
                        <a:t>0.72</a:t>
                      </a:r>
                      <a:endParaRPr lang="en-US" dirty="0"/>
                    </a:p>
                  </a:txBody>
                  <a:tcPr/>
                </a:tc>
                <a:tc>
                  <a:txBody>
                    <a:bodyPr/>
                    <a:lstStyle/>
                    <a:p>
                      <a:r>
                        <a:rPr lang="en-US" dirty="0" smtClean="0"/>
                        <a:t>0.55</a:t>
                      </a:r>
                      <a:endParaRPr lang="en-US" dirty="0"/>
                    </a:p>
                  </a:txBody>
                  <a:tcPr/>
                </a:tc>
                <a:tc>
                  <a:txBody>
                    <a:bodyPr/>
                    <a:lstStyle/>
                    <a:p>
                      <a:r>
                        <a:rPr lang="en-US" dirty="0" smtClean="0"/>
                        <a:t>0.53</a:t>
                      </a:r>
                      <a:endParaRPr lang="en-US" dirty="0"/>
                    </a:p>
                  </a:txBody>
                  <a:tcPr/>
                </a:tc>
                <a:tc>
                  <a:txBody>
                    <a:bodyPr/>
                    <a:lstStyle/>
                    <a:p>
                      <a:r>
                        <a:rPr lang="en-US" dirty="0" smtClean="0"/>
                        <a:t>0.79</a:t>
                      </a:r>
                      <a:endParaRPr lang="en-US" dirty="0"/>
                    </a:p>
                  </a:txBody>
                  <a:tcPr/>
                </a:tc>
                <a:tc>
                  <a:txBody>
                    <a:bodyPr/>
                    <a:lstStyle/>
                    <a:p>
                      <a:r>
                        <a:rPr lang="en-US" dirty="0" smtClean="0"/>
                        <a:t>0.44</a:t>
                      </a:r>
                      <a:endParaRPr lang="en-US" dirty="0"/>
                    </a:p>
                  </a:txBody>
                  <a:tcPr/>
                </a:tc>
                <a:tc>
                  <a:txBody>
                    <a:bodyPr/>
                    <a:lstStyle/>
                    <a:p>
                      <a:r>
                        <a:rPr lang="en-US" dirty="0" smtClean="0"/>
                        <a:t>0.38</a:t>
                      </a:r>
                      <a:endParaRPr lang="en-US" dirty="0"/>
                    </a:p>
                  </a:txBody>
                  <a:tcPr/>
                </a:tc>
                <a:extLst>
                  <a:ext uri="{0D108BD9-81ED-4DB2-BD59-A6C34878D82A}">
                    <a16:rowId xmlns:a16="http://schemas.microsoft.com/office/drawing/2014/main" val="832399350"/>
                  </a:ext>
                </a:extLst>
              </a:tr>
            </a:tbl>
          </a:graphicData>
        </a:graphic>
      </p:graphicFrame>
      <p:sp>
        <p:nvSpPr>
          <p:cNvPr id="3" name="TextBox 2"/>
          <p:cNvSpPr txBox="1"/>
          <p:nvPr/>
        </p:nvSpPr>
        <p:spPr>
          <a:xfrm>
            <a:off x="522514" y="572700"/>
            <a:ext cx="1320800" cy="307777"/>
          </a:xfrm>
          <a:prstGeom prst="rect">
            <a:avLst/>
          </a:prstGeom>
          <a:noFill/>
        </p:spPr>
        <p:txBody>
          <a:bodyPr wrap="square" rtlCol="0">
            <a:spAutoFit/>
          </a:bodyPr>
          <a:lstStyle/>
          <a:p>
            <a:r>
              <a:rPr lang="en-US" dirty="0" smtClean="0"/>
              <a:t>Sadness:</a:t>
            </a:r>
            <a:endParaRPr lang="en-US" dirty="0"/>
          </a:p>
        </p:txBody>
      </p:sp>
      <p:sp>
        <p:nvSpPr>
          <p:cNvPr id="7" name="TextBox 6"/>
          <p:cNvSpPr txBox="1"/>
          <p:nvPr/>
        </p:nvSpPr>
        <p:spPr>
          <a:xfrm>
            <a:off x="311700" y="2625912"/>
            <a:ext cx="1473557" cy="307777"/>
          </a:xfrm>
          <a:prstGeom prst="rect">
            <a:avLst/>
          </a:prstGeom>
          <a:noFill/>
        </p:spPr>
        <p:txBody>
          <a:bodyPr wrap="square" rtlCol="0">
            <a:spAutoFit/>
          </a:bodyPr>
          <a:lstStyle/>
          <a:p>
            <a:r>
              <a:rPr lang="en-US" dirty="0" smtClean="0"/>
              <a:t>Surprise:</a:t>
            </a:r>
            <a:endParaRPr lang="en-US" dirty="0"/>
          </a:p>
        </p:txBody>
      </p:sp>
    </p:spTree>
    <p:extLst>
      <p:ext uri="{BB962C8B-B14F-4D97-AF65-F5344CB8AC3E}">
        <p14:creationId xmlns:p14="http://schemas.microsoft.com/office/powerpoint/2010/main" val="1766700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23</a:t>
            </a:fld>
            <a:endParaRPr lang="ja" altLang="en-US"/>
          </a:p>
        </p:txBody>
      </p:sp>
      <p:sp>
        <p:nvSpPr>
          <p:cNvPr id="8" name="TextBox 7"/>
          <p:cNvSpPr txBox="1"/>
          <p:nvPr/>
        </p:nvSpPr>
        <p:spPr>
          <a:xfrm>
            <a:off x="391886" y="1016000"/>
            <a:ext cx="8251371" cy="3142343"/>
          </a:xfrm>
          <a:prstGeom prst="rect">
            <a:avLst/>
          </a:prstGeom>
          <a:noFill/>
        </p:spPr>
        <p:txBody>
          <a:bodyPr wrap="square" rtlCol="0">
            <a:spAutoFit/>
          </a:bodyPr>
          <a:lstStyle/>
          <a:p>
            <a:r>
              <a:rPr lang="en-US" dirty="0"/>
              <a:t>The synonyms that had highest average of entailment </a:t>
            </a:r>
            <a:r>
              <a:rPr lang="en-US" dirty="0" smtClean="0"/>
              <a:t>probabilities when the prediction is wrong.</a:t>
            </a:r>
            <a:endParaRPr lang="en-US" dirty="0"/>
          </a:p>
          <a:p>
            <a:endParaRPr lang="en-US" dirty="0"/>
          </a:p>
          <a:p>
            <a:r>
              <a:rPr lang="en-US" dirty="0"/>
              <a:t>anger: irritation</a:t>
            </a:r>
          </a:p>
          <a:p>
            <a:endParaRPr lang="en-US" dirty="0"/>
          </a:p>
          <a:p>
            <a:r>
              <a:rPr lang="en-US" dirty="0"/>
              <a:t>Disgust: repugnance</a:t>
            </a:r>
          </a:p>
          <a:p>
            <a:endParaRPr lang="en-US" dirty="0"/>
          </a:p>
          <a:p>
            <a:r>
              <a:rPr lang="en-US" dirty="0"/>
              <a:t>Fear: dread</a:t>
            </a:r>
          </a:p>
          <a:p>
            <a:endParaRPr lang="en-US" dirty="0"/>
          </a:p>
          <a:p>
            <a:r>
              <a:rPr lang="en-US" dirty="0"/>
              <a:t>Joy: the awesome</a:t>
            </a:r>
          </a:p>
          <a:p>
            <a:endParaRPr lang="en-US" dirty="0"/>
          </a:p>
          <a:p>
            <a:r>
              <a:rPr lang="en-US" dirty="0"/>
              <a:t>Sadness: unhappiness</a:t>
            </a:r>
          </a:p>
          <a:p>
            <a:endParaRPr lang="en-US" dirty="0"/>
          </a:p>
          <a:p>
            <a:r>
              <a:rPr lang="en-US" dirty="0" smtClean="0"/>
              <a:t>Surprise : impression</a:t>
            </a:r>
            <a:endParaRPr lang="en-US" dirty="0"/>
          </a:p>
          <a:p>
            <a:endParaRPr lang="en-US" dirty="0"/>
          </a:p>
        </p:txBody>
      </p:sp>
    </p:spTree>
    <p:extLst>
      <p:ext uri="{BB962C8B-B14F-4D97-AF65-F5344CB8AC3E}">
        <p14:creationId xmlns:p14="http://schemas.microsoft.com/office/powerpoint/2010/main" val="2291826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The comparison </a:t>
            </a:r>
            <a:r>
              <a:rPr lang="en-US" b="1" dirty="0"/>
              <a:t>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24</a:t>
            </a:fld>
            <a:endParaRPr lang="ja" altLang="en-US"/>
          </a:p>
        </p:txBody>
      </p:sp>
      <p:sp>
        <p:nvSpPr>
          <p:cNvPr id="6" name="TextBox 5"/>
          <p:cNvSpPr txBox="1"/>
          <p:nvPr/>
        </p:nvSpPr>
        <p:spPr>
          <a:xfrm>
            <a:off x="413656" y="660401"/>
            <a:ext cx="8171543" cy="5155257"/>
          </a:xfrm>
          <a:prstGeom prst="rect">
            <a:avLst/>
          </a:prstGeom>
          <a:noFill/>
        </p:spPr>
        <p:txBody>
          <a:bodyPr wrap="square" rtlCol="0">
            <a:spAutoFit/>
          </a:bodyPr>
          <a:lstStyle/>
          <a:p>
            <a:r>
              <a:rPr lang="en-US" dirty="0" smtClean="0"/>
              <a:t>The synonyms that had lowest average of entailment probabilities of true emotions for two datasets when the prediction is wrong:</a:t>
            </a:r>
          </a:p>
          <a:p>
            <a:endParaRPr lang="en-US" dirty="0" smtClean="0"/>
          </a:p>
          <a:p>
            <a:pPr>
              <a:lnSpc>
                <a:spcPct val="150000"/>
              </a:lnSpc>
            </a:pPr>
            <a:r>
              <a:rPr lang="en-US" dirty="0"/>
              <a:t>a</a:t>
            </a:r>
            <a:r>
              <a:rPr lang="en-US" dirty="0" smtClean="0"/>
              <a:t>nger: rage</a:t>
            </a:r>
          </a:p>
          <a:p>
            <a:pPr>
              <a:lnSpc>
                <a:spcPct val="150000"/>
              </a:lnSpc>
            </a:pPr>
            <a:r>
              <a:rPr lang="en-US" dirty="0" smtClean="0"/>
              <a:t>Disgust: ugly</a:t>
            </a:r>
          </a:p>
          <a:p>
            <a:pPr>
              <a:lnSpc>
                <a:spcPct val="150000"/>
              </a:lnSpc>
            </a:pPr>
            <a:r>
              <a:rPr lang="en-US" dirty="0" smtClean="0"/>
              <a:t>Fear: terror</a:t>
            </a:r>
          </a:p>
          <a:p>
            <a:pPr>
              <a:lnSpc>
                <a:spcPct val="150000"/>
              </a:lnSpc>
            </a:pPr>
            <a:r>
              <a:rPr lang="en-US" dirty="0" smtClean="0"/>
              <a:t>Guilt</a:t>
            </a:r>
            <a:r>
              <a:rPr lang="en-US" dirty="0"/>
              <a:t>: </a:t>
            </a:r>
            <a:r>
              <a:rPr lang="en-US" dirty="0" smtClean="0"/>
              <a:t>responsibility</a:t>
            </a:r>
          </a:p>
          <a:p>
            <a:pPr>
              <a:lnSpc>
                <a:spcPct val="150000"/>
              </a:lnSpc>
            </a:pPr>
            <a:r>
              <a:rPr lang="en-US" dirty="0" smtClean="0"/>
              <a:t>Joy: blessed</a:t>
            </a:r>
          </a:p>
          <a:p>
            <a:pPr>
              <a:lnSpc>
                <a:spcPct val="150000"/>
              </a:lnSpc>
            </a:pPr>
            <a:r>
              <a:rPr lang="en-US" dirty="0" smtClean="0"/>
              <a:t>Sadness</a:t>
            </a:r>
            <a:r>
              <a:rPr lang="en-US" dirty="0"/>
              <a:t>: </a:t>
            </a:r>
            <a:r>
              <a:rPr lang="en-US" dirty="0" smtClean="0"/>
              <a:t>loneliness, depression</a:t>
            </a:r>
          </a:p>
          <a:p>
            <a:pPr>
              <a:lnSpc>
                <a:spcPct val="150000"/>
              </a:lnSpc>
            </a:pPr>
            <a:r>
              <a:rPr lang="en-US" dirty="0" smtClean="0"/>
              <a:t>shame</a:t>
            </a:r>
            <a:r>
              <a:rPr lang="en-US" dirty="0"/>
              <a:t>: disgrace</a:t>
            </a:r>
          </a:p>
          <a:p>
            <a:endParaRPr lang="en-US" dirty="0" smtClean="0"/>
          </a:p>
          <a:p>
            <a:r>
              <a:rPr lang="en-US" dirty="0" smtClean="0"/>
              <a:t>One idea: removing these synonyms and getting average of </a:t>
            </a:r>
            <a:r>
              <a:rPr lang="en-US" dirty="0" smtClean="0"/>
              <a:t>entailment probabilities of others</a:t>
            </a:r>
            <a:r>
              <a:rPr lang="en-US" dirty="0" smtClean="0"/>
              <a:t>.</a:t>
            </a:r>
          </a:p>
          <a:p>
            <a:endParaRPr lang="en-US" dirty="0" smtClean="0"/>
          </a:p>
          <a:p>
            <a:r>
              <a:rPr lang="en-US" dirty="0"/>
              <a:t> </a:t>
            </a:r>
            <a:r>
              <a:rPr lang="en-US" dirty="0" smtClean="0"/>
              <a:t>For </a:t>
            </a:r>
            <a:r>
              <a:rPr lang="en-US" dirty="0" err="1" smtClean="0"/>
              <a:t>Isear</a:t>
            </a:r>
            <a:r>
              <a:rPr lang="en-US" dirty="0" smtClean="0"/>
              <a:t> dataset: Macro average F1: 0.62</a:t>
            </a:r>
          </a:p>
          <a:p>
            <a:endParaRPr lang="en-US" dirty="0"/>
          </a:p>
          <a:p>
            <a:r>
              <a:rPr lang="en-US" dirty="0" smtClean="0"/>
              <a:t>For Tec dataset:  Macro average F1: 0.38</a:t>
            </a:r>
          </a:p>
          <a:p>
            <a:endParaRPr lang="en-US" dirty="0" smtClean="0"/>
          </a:p>
          <a:p>
            <a:endParaRPr lang="en-US" dirty="0"/>
          </a:p>
          <a:p>
            <a:r>
              <a:rPr lang="en-US" dirty="0" smtClean="0"/>
              <a:t>  </a:t>
            </a:r>
            <a:endParaRPr lang="en-US" dirty="0"/>
          </a:p>
          <a:p>
            <a:endParaRPr lang="en-US" dirty="0"/>
          </a:p>
        </p:txBody>
      </p:sp>
    </p:spTree>
    <p:extLst>
      <p:ext uri="{BB962C8B-B14F-4D97-AF65-F5344CB8AC3E}">
        <p14:creationId xmlns:p14="http://schemas.microsoft.com/office/powerpoint/2010/main" val="3614418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Analyzing the result when using average of entailment probabilities</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25</a:t>
            </a:fld>
            <a:endParaRPr lang="ja" altLang="en-US"/>
          </a:p>
        </p:txBody>
      </p:sp>
      <p:sp>
        <p:nvSpPr>
          <p:cNvPr id="5" name="TextBox 4"/>
          <p:cNvSpPr txBox="1"/>
          <p:nvPr/>
        </p:nvSpPr>
        <p:spPr>
          <a:xfrm>
            <a:off x="420914" y="676849"/>
            <a:ext cx="8411386" cy="1384995"/>
          </a:xfrm>
          <a:prstGeom prst="rect">
            <a:avLst/>
          </a:prstGeom>
          <a:noFill/>
        </p:spPr>
        <p:txBody>
          <a:bodyPr wrap="square" rtlCol="0">
            <a:spAutoFit/>
          </a:bodyPr>
          <a:lstStyle/>
          <a:p>
            <a:r>
              <a:rPr lang="en-US" dirty="0" smtClean="0"/>
              <a:t>The number of data for each label  that are predicted when the true emotion is:</a:t>
            </a:r>
          </a:p>
          <a:p>
            <a:r>
              <a:rPr lang="en-US" dirty="0" smtClean="0"/>
              <a:t>Joy</a:t>
            </a:r>
          </a:p>
          <a:p>
            <a:r>
              <a:rPr lang="en-US" dirty="0" smtClean="0"/>
              <a:t>Mostly mistaken with guilt</a:t>
            </a:r>
            <a:endParaRPr lang="en-US" dirty="0"/>
          </a:p>
          <a:p>
            <a:endParaRPr lang="en-US" dirty="0" smtClean="0"/>
          </a:p>
          <a:p>
            <a:endParaRPr lang="en-US" dirty="0" smtClean="0"/>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705817334"/>
              </p:ext>
            </p:extLst>
          </p:nvPr>
        </p:nvGraphicFramePr>
        <p:xfrm>
          <a:off x="562823" y="1453581"/>
          <a:ext cx="8055432" cy="1315720"/>
        </p:xfrm>
        <a:graphic>
          <a:graphicData uri="http://schemas.openxmlformats.org/drawingml/2006/table">
            <a:tbl>
              <a:tblPr firstRow="1" bandRow="1">
                <a:tableStyleId>{5C22544A-7EE6-4342-B048-85BDC9FD1C3A}</a:tableStyleId>
              </a:tblPr>
              <a:tblGrid>
                <a:gridCol w="1006929">
                  <a:extLst>
                    <a:ext uri="{9D8B030D-6E8A-4147-A177-3AD203B41FA5}">
                      <a16:colId xmlns:a16="http://schemas.microsoft.com/office/drawing/2014/main" val="1271723579"/>
                    </a:ext>
                  </a:extLst>
                </a:gridCol>
                <a:gridCol w="1006929">
                  <a:extLst>
                    <a:ext uri="{9D8B030D-6E8A-4147-A177-3AD203B41FA5}">
                      <a16:colId xmlns:a16="http://schemas.microsoft.com/office/drawing/2014/main" val="783665758"/>
                    </a:ext>
                  </a:extLst>
                </a:gridCol>
                <a:gridCol w="1006929">
                  <a:extLst>
                    <a:ext uri="{9D8B030D-6E8A-4147-A177-3AD203B41FA5}">
                      <a16:colId xmlns:a16="http://schemas.microsoft.com/office/drawing/2014/main" val="2617707919"/>
                    </a:ext>
                  </a:extLst>
                </a:gridCol>
                <a:gridCol w="1006929">
                  <a:extLst>
                    <a:ext uri="{9D8B030D-6E8A-4147-A177-3AD203B41FA5}">
                      <a16:colId xmlns:a16="http://schemas.microsoft.com/office/drawing/2014/main" val="3724189586"/>
                    </a:ext>
                  </a:extLst>
                </a:gridCol>
                <a:gridCol w="1006929">
                  <a:extLst>
                    <a:ext uri="{9D8B030D-6E8A-4147-A177-3AD203B41FA5}">
                      <a16:colId xmlns:a16="http://schemas.microsoft.com/office/drawing/2014/main" val="2184548120"/>
                    </a:ext>
                  </a:extLst>
                </a:gridCol>
                <a:gridCol w="1006929">
                  <a:extLst>
                    <a:ext uri="{9D8B030D-6E8A-4147-A177-3AD203B41FA5}">
                      <a16:colId xmlns:a16="http://schemas.microsoft.com/office/drawing/2014/main" val="88286680"/>
                    </a:ext>
                  </a:extLst>
                </a:gridCol>
                <a:gridCol w="1006929">
                  <a:extLst>
                    <a:ext uri="{9D8B030D-6E8A-4147-A177-3AD203B41FA5}">
                      <a16:colId xmlns:a16="http://schemas.microsoft.com/office/drawing/2014/main" val="2081763754"/>
                    </a:ext>
                  </a:extLst>
                </a:gridCol>
                <a:gridCol w="1006929">
                  <a:extLst>
                    <a:ext uri="{9D8B030D-6E8A-4147-A177-3AD203B41FA5}">
                      <a16:colId xmlns:a16="http://schemas.microsoft.com/office/drawing/2014/main" val="4157813244"/>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tc>
                  <a:txBody>
                    <a:bodyPr/>
                    <a:lstStyle/>
                    <a:p>
                      <a:r>
                        <a:rPr lang="en-US" dirty="0" smtClean="0"/>
                        <a:t>joy</a:t>
                      </a:r>
                      <a:endParaRPr lang="en-US" dirty="0"/>
                    </a:p>
                  </a:txBody>
                  <a:tcPr/>
                </a:tc>
                <a:extLst>
                  <a:ext uri="{0D108BD9-81ED-4DB2-BD59-A6C34878D82A}">
                    <a16:rowId xmlns:a16="http://schemas.microsoft.com/office/drawing/2014/main" val="2328156091"/>
                  </a:ext>
                </a:extLst>
              </a:tr>
              <a:tr h="370840">
                <a:tc>
                  <a:txBody>
                    <a:bodyPr/>
                    <a:lstStyle/>
                    <a:p>
                      <a:r>
                        <a:rPr lang="en-US" dirty="0" smtClean="0"/>
                        <a:t>Number of predicted data</a:t>
                      </a:r>
                      <a:endParaRPr lang="en-US" dirty="0"/>
                    </a:p>
                  </a:txBody>
                  <a:tcPr/>
                </a:tc>
                <a:tc>
                  <a:txBody>
                    <a:bodyPr/>
                    <a:lstStyle/>
                    <a:p>
                      <a:r>
                        <a:rPr lang="en-US" dirty="0" smtClean="0"/>
                        <a:t>4</a:t>
                      </a:r>
                      <a:endParaRPr lang="en-US" dirty="0"/>
                    </a:p>
                  </a:txBody>
                  <a:tcPr/>
                </a:tc>
                <a:tc>
                  <a:txBody>
                    <a:bodyPr/>
                    <a:lstStyle/>
                    <a:p>
                      <a:r>
                        <a:rPr lang="en-US" dirty="0" smtClean="0"/>
                        <a:t>1</a:t>
                      </a:r>
                      <a:endParaRPr lang="en-US" dirty="0"/>
                    </a:p>
                  </a:txBody>
                  <a:tcPr/>
                </a:tc>
                <a:tc>
                  <a:txBody>
                    <a:bodyPr/>
                    <a:lstStyle/>
                    <a:p>
                      <a:r>
                        <a:rPr lang="en-US" dirty="0" smtClean="0"/>
                        <a:t>21</a:t>
                      </a:r>
                      <a:endParaRPr lang="en-US" dirty="0"/>
                    </a:p>
                  </a:txBody>
                  <a:tcPr/>
                </a:tc>
                <a:tc>
                  <a:txBody>
                    <a:bodyPr/>
                    <a:lstStyle/>
                    <a:p>
                      <a:r>
                        <a:rPr lang="en-US" dirty="0" smtClean="0"/>
                        <a:t>49</a:t>
                      </a:r>
                      <a:endParaRPr lang="en-US" dirty="0"/>
                    </a:p>
                  </a:txBody>
                  <a:tcPr/>
                </a:tc>
                <a:tc>
                  <a:txBody>
                    <a:bodyPr/>
                    <a:lstStyle/>
                    <a:p>
                      <a:r>
                        <a:rPr lang="en-US" dirty="0" smtClean="0"/>
                        <a:t>17</a:t>
                      </a:r>
                      <a:endParaRPr lang="en-US" dirty="0"/>
                    </a:p>
                  </a:txBody>
                  <a:tcPr/>
                </a:tc>
                <a:tc>
                  <a:txBody>
                    <a:bodyPr/>
                    <a:lstStyle/>
                    <a:p>
                      <a:r>
                        <a:rPr lang="en-US" dirty="0" smtClean="0"/>
                        <a:t>6</a:t>
                      </a:r>
                      <a:endParaRPr lang="en-US" dirty="0"/>
                    </a:p>
                  </a:txBody>
                  <a:tcPr/>
                </a:tc>
                <a:tc>
                  <a:txBody>
                    <a:bodyPr/>
                    <a:lstStyle/>
                    <a:p>
                      <a:r>
                        <a:rPr lang="en-US" dirty="0" smtClean="0"/>
                        <a:t>994</a:t>
                      </a:r>
                      <a:endParaRPr lang="en-US" dirty="0"/>
                    </a:p>
                  </a:txBody>
                  <a:tcPr/>
                </a:tc>
                <a:extLst>
                  <a:ext uri="{0D108BD9-81ED-4DB2-BD59-A6C34878D82A}">
                    <a16:rowId xmlns:a16="http://schemas.microsoft.com/office/drawing/2014/main" val="644520938"/>
                  </a:ext>
                </a:extLst>
              </a:tr>
            </a:tbl>
          </a:graphicData>
        </a:graphic>
      </p:graphicFrame>
      <p:sp>
        <p:nvSpPr>
          <p:cNvPr id="7" name="TextBox 6"/>
          <p:cNvSpPr txBox="1"/>
          <p:nvPr/>
        </p:nvSpPr>
        <p:spPr>
          <a:xfrm>
            <a:off x="362856" y="3016312"/>
            <a:ext cx="2786744" cy="523220"/>
          </a:xfrm>
          <a:prstGeom prst="rect">
            <a:avLst/>
          </a:prstGeom>
          <a:noFill/>
        </p:spPr>
        <p:txBody>
          <a:bodyPr wrap="square" rtlCol="0">
            <a:spAutoFit/>
          </a:bodyPr>
          <a:lstStyle/>
          <a:p>
            <a:r>
              <a:rPr lang="en-US" dirty="0"/>
              <a:t>a</a:t>
            </a:r>
            <a:r>
              <a:rPr lang="en-US" dirty="0" smtClean="0"/>
              <a:t>nger</a:t>
            </a:r>
            <a:endParaRPr lang="en-US" dirty="0" smtClean="0"/>
          </a:p>
          <a:p>
            <a:r>
              <a:rPr lang="en-US" dirty="0" smtClean="0"/>
              <a:t>Mostly mistaken with guilt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1221870166"/>
              </p:ext>
            </p:extLst>
          </p:nvPr>
        </p:nvGraphicFramePr>
        <p:xfrm>
          <a:off x="544284" y="3506167"/>
          <a:ext cx="8055432" cy="1315720"/>
        </p:xfrm>
        <a:graphic>
          <a:graphicData uri="http://schemas.openxmlformats.org/drawingml/2006/table">
            <a:tbl>
              <a:tblPr firstRow="1" bandRow="1">
                <a:tableStyleId>{5C22544A-7EE6-4342-B048-85BDC9FD1C3A}</a:tableStyleId>
              </a:tblPr>
              <a:tblGrid>
                <a:gridCol w="1006929">
                  <a:extLst>
                    <a:ext uri="{9D8B030D-6E8A-4147-A177-3AD203B41FA5}">
                      <a16:colId xmlns:a16="http://schemas.microsoft.com/office/drawing/2014/main" val="1271723579"/>
                    </a:ext>
                  </a:extLst>
                </a:gridCol>
                <a:gridCol w="1006929">
                  <a:extLst>
                    <a:ext uri="{9D8B030D-6E8A-4147-A177-3AD203B41FA5}">
                      <a16:colId xmlns:a16="http://schemas.microsoft.com/office/drawing/2014/main" val="783665758"/>
                    </a:ext>
                  </a:extLst>
                </a:gridCol>
                <a:gridCol w="1006929">
                  <a:extLst>
                    <a:ext uri="{9D8B030D-6E8A-4147-A177-3AD203B41FA5}">
                      <a16:colId xmlns:a16="http://schemas.microsoft.com/office/drawing/2014/main" val="2617707919"/>
                    </a:ext>
                  </a:extLst>
                </a:gridCol>
                <a:gridCol w="1006929">
                  <a:extLst>
                    <a:ext uri="{9D8B030D-6E8A-4147-A177-3AD203B41FA5}">
                      <a16:colId xmlns:a16="http://schemas.microsoft.com/office/drawing/2014/main" val="3724189586"/>
                    </a:ext>
                  </a:extLst>
                </a:gridCol>
                <a:gridCol w="1006929">
                  <a:extLst>
                    <a:ext uri="{9D8B030D-6E8A-4147-A177-3AD203B41FA5}">
                      <a16:colId xmlns:a16="http://schemas.microsoft.com/office/drawing/2014/main" val="2184548120"/>
                    </a:ext>
                  </a:extLst>
                </a:gridCol>
                <a:gridCol w="1006929">
                  <a:extLst>
                    <a:ext uri="{9D8B030D-6E8A-4147-A177-3AD203B41FA5}">
                      <a16:colId xmlns:a16="http://schemas.microsoft.com/office/drawing/2014/main" val="88286680"/>
                    </a:ext>
                  </a:extLst>
                </a:gridCol>
                <a:gridCol w="1006929">
                  <a:extLst>
                    <a:ext uri="{9D8B030D-6E8A-4147-A177-3AD203B41FA5}">
                      <a16:colId xmlns:a16="http://schemas.microsoft.com/office/drawing/2014/main" val="2081763754"/>
                    </a:ext>
                  </a:extLst>
                </a:gridCol>
                <a:gridCol w="1006929">
                  <a:extLst>
                    <a:ext uri="{9D8B030D-6E8A-4147-A177-3AD203B41FA5}">
                      <a16:colId xmlns:a16="http://schemas.microsoft.com/office/drawing/2014/main" val="4157813244"/>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tc>
                  <a:txBody>
                    <a:bodyPr/>
                    <a:lstStyle/>
                    <a:p>
                      <a:r>
                        <a:rPr lang="en-US" dirty="0" smtClean="0"/>
                        <a:t>joy</a:t>
                      </a:r>
                      <a:endParaRPr lang="en-US" dirty="0"/>
                    </a:p>
                  </a:txBody>
                  <a:tcPr/>
                </a:tc>
                <a:extLst>
                  <a:ext uri="{0D108BD9-81ED-4DB2-BD59-A6C34878D82A}">
                    <a16:rowId xmlns:a16="http://schemas.microsoft.com/office/drawing/2014/main" val="2328156091"/>
                  </a:ext>
                </a:extLst>
              </a:tr>
              <a:tr h="370840">
                <a:tc>
                  <a:txBody>
                    <a:bodyPr/>
                    <a:lstStyle/>
                    <a:p>
                      <a:r>
                        <a:rPr lang="en-US" dirty="0" smtClean="0"/>
                        <a:t>Number of predicted data</a:t>
                      </a:r>
                      <a:endParaRPr lang="en-US" dirty="0"/>
                    </a:p>
                  </a:txBody>
                  <a:tcPr/>
                </a:tc>
                <a:tc>
                  <a:txBody>
                    <a:bodyPr/>
                    <a:lstStyle/>
                    <a:p>
                      <a:r>
                        <a:rPr lang="en-US" dirty="0" smtClean="0"/>
                        <a:t>503</a:t>
                      </a:r>
                      <a:endParaRPr lang="en-US" dirty="0"/>
                    </a:p>
                  </a:txBody>
                  <a:tcPr/>
                </a:tc>
                <a:tc>
                  <a:txBody>
                    <a:bodyPr/>
                    <a:lstStyle/>
                    <a:p>
                      <a:r>
                        <a:rPr lang="en-US" dirty="0" smtClean="0"/>
                        <a:t>40</a:t>
                      </a:r>
                      <a:endParaRPr lang="en-US" dirty="0"/>
                    </a:p>
                  </a:txBody>
                  <a:tcPr/>
                </a:tc>
                <a:tc>
                  <a:txBody>
                    <a:bodyPr/>
                    <a:lstStyle/>
                    <a:p>
                      <a:r>
                        <a:rPr lang="en-US" dirty="0" smtClean="0"/>
                        <a:t>45</a:t>
                      </a:r>
                      <a:endParaRPr lang="en-US" dirty="0"/>
                    </a:p>
                  </a:txBody>
                  <a:tcPr/>
                </a:tc>
                <a:tc>
                  <a:txBody>
                    <a:bodyPr/>
                    <a:lstStyle/>
                    <a:p>
                      <a:r>
                        <a:rPr lang="en-US" dirty="0" smtClean="0"/>
                        <a:t>258</a:t>
                      </a:r>
                      <a:endParaRPr lang="en-US" dirty="0"/>
                    </a:p>
                  </a:txBody>
                  <a:tcPr/>
                </a:tc>
                <a:tc>
                  <a:txBody>
                    <a:bodyPr/>
                    <a:lstStyle/>
                    <a:p>
                      <a:r>
                        <a:rPr lang="en-US" dirty="0" smtClean="0"/>
                        <a:t>53</a:t>
                      </a:r>
                      <a:endParaRPr lang="en-US" dirty="0"/>
                    </a:p>
                  </a:txBody>
                  <a:tcPr/>
                </a:tc>
                <a:tc>
                  <a:txBody>
                    <a:bodyPr/>
                    <a:lstStyle/>
                    <a:p>
                      <a:r>
                        <a:rPr lang="en-US" dirty="0" smtClean="0"/>
                        <a:t>171</a:t>
                      </a:r>
                      <a:endParaRPr lang="en-US" dirty="0"/>
                    </a:p>
                  </a:txBody>
                  <a:tcPr/>
                </a:tc>
                <a:tc>
                  <a:txBody>
                    <a:bodyPr/>
                    <a:lstStyle/>
                    <a:p>
                      <a:r>
                        <a:rPr lang="en-US" dirty="0" smtClean="0"/>
                        <a:t>9</a:t>
                      </a:r>
                      <a:endParaRPr lang="en-US" dirty="0"/>
                    </a:p>
                  </a:txBody>
                  <a:tcPr/>
                </a:tc>
                <a:extLst>
                  <a:ext uri="{0D108BD9-81ED-4DB2-BD59-A6C34878D82A}">
                    <a16:rowId xmlns:a16="http://schemas.microsoft.com/office/drawing/2014/main" val="644520938"/>
                  </a:ext>
                </a:extLst>
              </a:tr>
            </a:tbl>
          </a:graphicData>
        </a:graphic>
      </p:graphicFrame>
    </p:spTree>
    <p:extLst>
      <p:ext uri="{BB962C8B-B14F-4D97-AF65-F5344CB8AC3E}">
        <p14:creationId xmlns:p14="http://schemas.microsoft.com/office/powerpoint/2010/main" val="2603073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Analyzing the result when using average of entailment probabilities</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26</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2045397859"/>
              </p:ext>
            </p:extLst>
          </p:nvPr>
        </p:nvGraphicFramePr>
        <p:xfrm>
          <a:off x="457200" y="1186505"/>
          <a:ext cx="8055432" cy="1315720"/>
        </p:xfrm>
        <a:graphic>
          <a:graphicData uri="http://schemas.openxmlformats.org/drawingml/2006/table">
            <a:tbl>
              <a:tblPr firstRow="1" bandRow="1">
                <a:tableStyleId>{5C22544A-7EE6-4342-B048-85BDC9FD1C3A}</a:tableStyleId>
              </a:tblPr>
              <a:tblGrid>
                <a:gridCol w="1006929">
                  <a:extLst>
                    <a:ext uri="{9D8B030D-6E8A-4147-A177-3AD203B41FA5}">
                      <a16:colId xmlns:a16="http://schemas.microsoft.com/office/drawing/2014/main" val="1271723579"/>
                    </a:ext>
                  </a:extLst>
                </a:gridCol>
                <a:gridCol w="1006929">
                  <a:extLst>
                    <a:ext uri="{9D8B030D-6E8A-4147-A177-3AD203B41FA5}">
                      <a16:colId xmlns:a16="http://schemas.microsoft.com/office/drawing/2014/main" val="783665758"/>
                    </a:ext>
                  </a:extLst>
                </a:gridCol>
                <a:gridCol w="1006929">
                  <a:extLst>
                    <a:ext uri="{9D8B030D-6E8A-4147-A177-3AD203B41FA5}">
                      <a16:colId xmlns:a16="http://schemas.microsoft.com/office/drawing/2014/main" val="2617707919"/>
                    </a:ext>
                  </a:extLst>
                </a:gridCol>
                <a:gridCol w="1006929">
                  <a:extLst>
                    <a:ext uri="{9D8B030D-6E8A-4147-A177-3AD203B41FA5}">
                      <a16:colId xmlns:a16="http://schemas.microsoft.com/office/drawing/2014/main" val="3724189586"/>
                    </a:ext>
                  </a:extLst>
                </a:gridCol>
                <a:gridCol w="1006929">
                  <a:extLst>
                    <a:ext uri="{9D8B030D-6E8A-4147-A177-3AD203B41FA5}">
                      <a16:colId xmlns:a16="http://schemas.microsoft.com/office/drawing/2014/main" val="2184548120"/>
                    </a:ext>
                  </a:extLst>
                </a:gridCol>
                <a:gridCol w="1006929">
                  <a:extLst>
                    <a:ext uri="{9D8B030D-6E8A-4147-A177-3AD203B41FA5}">
                      <a16:colId xmlns:a16="http://schemas.microsoft.com/office/drawing/2014/main" val="88286680"/>
                    </a:ext>
                  </a:extLst>
                </a:gridCol>
                <a:gridCol w="1006929">
                  <a:extLst>
                    <a:ext uri="{9D8B030D-6E8A-4147-A177-3AD203B41FA5}">
                      <a16:colId xmlns:a16="http://schemas.microsoft.com/office/drawing/2014/main" val="2081763754"/>
                    </a:ext>
                  </a:extLst>
                </a:gridCol>
                <a:gridCol w="1006929">
                  <a:extLst>
                    <a:ext uri="{9D8B030D-6E8A-4147-A177-3AD203B41FA5}">
                      <a16:colId xmlns:a16="http://schemas.microsoft.com/office/drawing/2014/main" val="4157813244"/>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tc>
                  <a:txBody>
                    <a:bodyPr/>
                    <a:lstStyle/>
                    <a:p>
                      <a:r>
                        <a:rPr lang="en-US" dirty="0" smtClean="0"/>
                        <a:t>joy</a:t>
                      </a:r>
                      <a:endParaRPr lang="en-US" dirty="0"/>
                    </a:p>
                  </a:txBody>
                  <a:tcPr/>
                </a:tc>
                <a:extLst>
                  <a:ext uri="{0D108BD9-81ED-4DB2-BD59-A6C34878D82A}">
                    <a16:rowId xmlns:a16="http://schemas.microsoft.com/office/drawing/2014/main" val="2328156091"/>
                  </a:ext>
                </a:extLst>
              </a:tr>
              <a:tr h="370840">
                <a:tc>
                  <a:txBody>
                    <a:bodyPr/>
                    <a:lstStyle/>
                    <a:p>
                      <a:r>
                        <a:rPr lang="en-US" dirty="0" smtClean="0"/>
                        <a:t>Number of predicted data</a:t>
                      </a:r>
                      <a:endParaRPr lang="en-US" dirty="0"/>
                    </a:p>
                  </a:txBody>
                  <a:tcPr/>
                </a:tc>
                <a:tc>
                  <a:txBody>
                    <a:bodyPr/>
                    <a:lstStyle/>
                    <a:p>
                      <a:r>
                        <a:rPr lang="en-US" dirty="0" smtClean="0"/>
                        <a:t>157</a:t>
                      </a:r>
                      <a:endParaRPr lang="en-US" dirty="0"/>
                    </a:p>
                  </a:txBody>
                  <a:tcPr/>
                </a:tc>
                <a:tc>
                  <a:txBody>
                    <a:bodyPr/>
                    <a:lstStyle/>
                    <a:p>
                      <a:r>
                        <a:rPr lang="en-US" dirty="0" smtClean="0"/>
                        <a:t>415</a:t>
                      </a:r>
                      <a:endParaRPr lang="en-US" dirty="0"/>
                    </a:p>
                  </a:txBody>
                  <a:tcPr/>
                </a:tc>
                <a:tc>
                  <a:txBody>
                    <a:bodyPr/>
                    <a:lstStyle/>
                    <a:p>
                      <a:r>
                        <a:rPr lang="en-US" dirty="0" smtClean="0"/>
                        <a:t>119</a:t>
                      </a:r>
                      <a:endParaRPr lang="en-US" dirty="0"/>
                    </a:p>
                  </a:txBody>
                  <a:tcPr/>
                </a:tc>
                <a:tc>
                  <a:txBody>
                    <a:bodyPr/>
                    <a:lstStyle/>
                    <a:p>
                      <a:r>
                        <a:rPr lang="en-US" dirty="0" smtClean="0"/>
                        <a:t>191</a:t>
                      </a:r>
                      <a:endParaRPr lang="en-US" dirty="0"/>
                    </a:p>
                  </a:txBody>
                  <a:tcPr/>
                </a:tc>
                <a:tc>
                  <a:txBody>
                    <a:bodyPr/>
                    <a:lstStyle/>
                    <a:p>
                      <a:r>
                        <a:rPr lang="en-US" dirty="0" smtClean="0"/>
                        <a:t>38</a:t>
                      </a:r>
                      <a:endParaRPr lang="en-US" dirty="0"/>
                    </a:p>
                  </a:txBody>
                  <a:tcPr/>
                </a:tc>
                <a:tc>
                  <a:txBody>
                    <a:bodyPr/>
                    <a:lstStyle/>
                    <a:p>
                      <a:r>
                        <a:rPr lang="en-US" dirty="0" smtClean="0"/>
                        <a:t>122</a:t>
                      </a:r>
                      <a:endParaRPr lang="en-US" dirty="0"/>
                    </a:p>
                  </a:txBody>
                  <a:tcPr/>
                </a:tc>
                <a:tc>
                  <a:txBody>
                    <a:bodyPr/>
                    <a:lstStyle/>
                    <a:p>
                      <a:r>
                        <a:rPr lang="en-US" dirty="0" smtClean="0"/>
                        <a:t>24</a:t>
                      </a:r>
                      <a:endParaRPr lang="en-US" dirty="0"/>
                    </a:p>
                  </a:txBody>
                  <a:tcPr/>
                </a:tc>
                <a:extLst>
                  <a:ext uri="{0D108BD9-81ED-4DB2-BD59-A6C34878D82A}">
                    <a16:rowId xmlns:a16="http://schemas.microsoft.com/office/drawing/2014/main" val="644520938"/>
                  </a:ext>
                </a:extLst>
              </a:tr>
            </a:tbl>
          </a:graphicData>
        </a:graphic>
      </p:graphicFrame>
      <p:sp>
        <p:nvSpPr>
          <p:cNvPr id="6" name="TextBox 5"/>
          <p:cNvSpPr txBox="1"/>
          <p:nvPr/>
        </p:nvSpPr>
        <p:spPr>
          <a:xfrm>
            <a:off x="420914" y="584524"/>
            <a:ext cx="1364343" cy="307777"/>
          </a:xfrm>
          <a:prstGeom prst="rect">
            <a:avLst/>
          </a:prstGeom>
          <a:noFill/>
        </p:spPr>
        <p:txBody>
          <a:bodyPr wrap="square" rtlCol="0">
            <a:spAutoFit/>
          </a:bodyPr>
          <a:lstStyle/>
          <a:p>
            <a:r>
              <a:rPr lang="en-US" dirty="0" smtClean="0"/>
              <a:t>disgust</a:t>
            </a:r>
            <a:endParaRPr lang="en-US" dirty="0"/>
          </a:p>
        </p:txBody>
      </p:sp>
      <p:sp>
        <p:nvSpPr>
          <p:cNvPr id="7" name="TextBox 6"/>
          <p:cNvSpPr txBox="1"/>
          <p:nvPr/>
        </p:nvSpPr>
        <p:spPr>
          <a:xfrm>
            <a:off x="508000" y="2641600"/>
            <a:ext cx="1052286" cy="312057"/>
          </a:xfrm>
          <a:prstGeom prst="rect">
            <a:avLst/>
          </a:prstGeom>
          <a:noFill/>
        </p:spPr>
        <p:txBody>
          <a:bodyPr wrap="square" rtlCol="0">
            <a:spAutoFit/>
          </a:bodyPr>
          <a:lstStyle/>
          <a:p>
            <a:r>
              <a:rPr lang="en-US" dirty="0"/>
              <a:t>f</a:t>
            </a:r>
            <a:r>
              <a:rPr lang="en-US" dirty="0" smtClean="0"/>
              <a:t>ear </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419288544"/>
              </p:ext>
            </p:extLst>
          </p:nvPr>
        </p:nvGraphicFramePr>
        <p:xfrm>
          <a:off x="420914" y="3007179"/>
          <a:ext cx="8026400" cy="1529080"/>
        </p:xfrm>
        <a:graphic>
          <a:graphicData uri="http://schemas.openxmlformats.org/drawingml/2006/table">
            <a:tbl>
              <a:tblPr firstRow="1" bandRow="1">
                <a:tableStyleId>{5C22544A-7EE6-4342-B048-85BDC9FD1C3A}</a:tableStyleId>
              </a:tblPr>
              <a:tblGrid>
                <a:gridCol w="1003300">
                  <a:extLst>
                    <a:ext uri="{9D8B030D-6E8A-4147-A177-3AD203B41FA5}">
                      <a16:colId xmlns:a16="http://schemas.microsoft.com/office/drawing/2014/main" val="2084169110"/>
                    </a:ext>
                  </a:extLst>
                </a:gridCol>
                <a:gridCol w="1003300">
                  <a:extLst>
                    <a:ext uri="{9D8B030D-6E8A-4147-A177-3AD203B41FA5}">
                      <a16:colId xmlns:a16="http://schemas.microsoft.com/office/drawing/2014/main" val="2801134706"/>
                    </a:ext>
                  </a:extLst>
                </a:gridCol>
                <a:gridCol w="1003300">
                  <a:extLst>
                    <a:ext uri="{9D8B030D-6E8A-4147-A177-3AD203B41FA5}">
                      <a16:colId xmlns:a16="http://schemas.microsoft.com/office/drawing/2014/main" val="1702290982"/>
                    </a:ext>
                  </a:extLst>
                </a:gridCol>
                <a:gridCol w="1003300">
                  <a:extLst>
                    <a:ext uri="{9D8B030D-6E8A-4147-A177-3AD203B41FA5}">
                      <a16:colId xmlns:a16="http://schemas.microsoft.com/office/drawing/2014/main" val="2213943610"/>
                    </a:ext>
                  </a:extLst>
                </a:gridCol>
                <a:gridCol w="1003300">
                  <a:extLst>
                    <a:ext uri="{9D8B030D-6E8A-4147-A177-3AD203B41FA5}">
                      <a16:colId xmlns:a16="http://schemas.microsoft.com/office/drawing/2014/main" val="2574991947"/>
                    </a:ext>
                  </a:extLst>
                </a:gridCol>
                <a:gridCol w="1003300">
                  <a:extLst>
                    <a:ext uri="{9D8B030D-6E8A-4147-A177-3AD203B41FA5}">
                      <a16:colId xmlns:a16="http://schemas.microsoft.com/office/drawing/2014/main" val="1289156040"/>
                    </a:ext>
                  </a:extLst>
                </a:gridCol>
                <a:gridCol w="1003300">
                  <a:extLst>
                    <a:ext uri="{9D8B030D-6E8A-4147-A177-3AD203B41FA5}">
                      <a16:colId xmlns:a16="http://schemas.microsoft.com/office/drawing/2014/main" val="2690493862"/>
                    </a:ext>
                  </a:extLst>
                </a:gridCol>
                <a:gridCol w="1003300">
                  <a:extLst>
                    <a:ext uri="{9D8B030D-6E8A-4147-A177-3AD203B41FA5}">
                      <a16:colId xmlns:a16="http://schemas.microsoft.com/office/drawing/2014/main" val="1674758114"/>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tc>
                  <a:txBody>
                    <a:bodyPr/>
                    <a:lstStyle/>
                    <a:p>
                      <a:r>
                        <a:rPr lang="en-US" dirty="0" smtClean="0"/>
                        <a:t>joy</a:t>
                      </a:r>
                      <a:endParaRPr lang="en-US" dirty="0"/>
                    </a:p>
                  </a:txBody>
                  <a:tcPr/>
                </a:tc>
                <a:extLst>
                  <a:ext uri="{0D108BD9-81ED-4DB2-BD59-A6C34878D82A}">
                    <a16:rowId xmlns:a16="http://schemas.microsoft.com/office/drawing/2014/main" val="208524080"/>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Number of predicted data</a:t>
                      </a:r>
                    </a:p>
                    <a:p>
                      <a:endParaRPr lang="en-US" dirty="0"/>
                    </a:p>
                  </a:txBody>
                  <a:tcPr/>
                </a:tc>
                <a:tc>
                  <a:txBody>
                    <a:bodyPr/>
                    <a:lstStyle/>
                    <a:p>
                      <a:r>
                        <a:rPr lang="en-US" dirty="0" smtClean="0"/>
                        <a:t>43</a:t>
                      </a:r>
                      <a:endParaRPr lang="en-US" dirty="0"/>
                    </a:p>
                  </a:txBody>
                  <a:tcPr/>
                </a:tc>
                <a:tc>
                  <a:txBody>
                    <a:bodyPr/>
                    <a:lstStyle/>
                    <a:p>
                      <a:r>
                        <a:rPr lang="en-US" dirty="0" smtClean="0"/>
                        <a:t>10</a:t>
                      </a:r>
                      <a:endParaRPr lang="en-US" dirty="0"/>
                    </a:p>
                  </a:txBody>
                  <a:tcPr/>
                </a:tc>
                <a:tc>
                  <a:txBody>
                    <a:bodyPr/>
                    <a:lstStyle/>
                    <a:p>
                      <a:r>
                        <a:rPr lang="en-US" dirty="0" smtClean="0"/>
                        <a:t>843</a:t>
                      </a:r>
                      <a:endParaRPr lang="en-US" dirty="0"/>
                    </a:p>
                  </a:txBody>
                  <a:tcPr/>
                </a:tc>
                <a:tc>
                  <a:txBody>
                    <a:bodyPr/>
                    <a:lstStyle/>
                    <a:p>
                      <a:r>
                        <a:rPr lang="en-US" dirty="0" smtClean="0"/>
                        <a:t>103</a:t>
                      </a:r>
                      <a:endParaRPr lang="en-US" dirty="0"/>
                    </a:p>
                  </a:txBody>
                  <a:tcPr/>
                </a:tc>
                <a:tc>
                  <a:txBody>
                    <a:bodyPr/>
                    <a:lstStyle/>
                    <a:p>
                      <a:r>
                        <a:rPr lang="en-US" dirty="0" smtClean="0"/>
                        <a:t>45</a:t>
                      </a:r>
                      <a:endParaRPr lang="en-US" dirty="0"/>
                    </a:p>
                  </a:txBody>
                  <a:tcPr/>
                </a:tc>
                <a:tc>
                  <a:txBody>
                    <a:bodyPr/>
                    <a:lstStyle/>
                    <a:p>
                      <a:r>
                        <a:rPr lang="en-US" dirty="0" smtClean="0"/>
                        <a:t>20</a:t>
                      </a:r>
                      <a:endParaRPr lang="en-US" dirty="0"/>
                    </a:p>
                  </a:txBody>
                  <a:tcPr/>
                </a:tc>
                <a:tc>
                  <a:txBody>
                    <a:bodyPr/>
                    <a:lstStyle/>
                    <a:p>
                      <a:r>
                        <a:rPr lang="en-US" dirty="0" smtClean="0"/>
                        <a:t>12</a:t>
                      </a:r>
                      <a:endParaRPr lang="en-US" dirty="0"/>
                    </a:p>
                  </a:txBody>
                  <a:tcPr/>
                </a:tc>
                <a:extLst>
                  <a:ext uri="{0D108BD9-81ED-4DB2-BD59-A6C34878D82A}">
                    <a16:rowId xmlns:a16="http://schemas.microsoft.com/office/drawing/2014/main" val="720129190"/>
                  </a:ext>
                </a:extLst>
              </a:tr>
            </a:tbl>
          </a:graphicData>
        </a:graphic>
      </p:graphicFrame>
      <p:sp>
        <p:nvSpPr>
          <p:cNvPr id="9" name="TextBox 8"/>
          <p:cNvSpPr txBox="1"/>
          <p:nvPr/>
        </p:nvSpPr>
        <p:spPr>
          <a:xfrm>
            <a:off x="457200" y="851967"/>
            <a:ext cx="2924630" cy="307777"/>
          </a:xfrm>
          <a:prstGeom prst="rect">
            <a:avLst/>
          </a:prstGeom>
          <a:noFill/>
        </p:spPr>
        <p:txBody>
          <a:bodyPr wrap="square" rtlCol="0">
            <a:spAutoFit/>
          </a:bodyPr>
          <a:lstStyle/>
          <a:p>
            <a:r>
              <a:rPr lang="en-US" dirty="0" smtClean="0"/>
              <a:t>Mostly mistaken with guilt</a:t>
            </a:r>
            <a:endParaRPr lang="en-US" dirty="0"/>
          </a:p>
        </p:txBody>
      </p:sp>
      <p:sp>
        <p:nvSpPr>
          <p:cNvPr id="10" name="TextBox 9"/>
          <p:cNvSpPr txBox="1"/>
          <p:nvPr/>
        </p:nvSpPr>
        <p:spPr>
          <a:xfrm>
            <a:off x="1219199" y="2641600"/>
            <a:ext cx="2344057" cy="307777"/>
          </a:xfrm>
          <a:prstGeom prst="rect">
            <a:avLst/>
          </a:prstGeom>
          <a:noFill/>
        </p:spPr>
        <p:txBody>
          <a:bodyPr wrap="square" rtlCol="0">
            <a:spAutoFit/>
          </a:bodyPr>
          <a:lstStyle/>
          <a:p>
            <a:r>
              <a:rPr lang="en-US" dirty="0" smtClean="0"/>
              <a:t>Mostly mistaken with guilt</a:t>
            </a:r>
            <a:endParaRPr lang="en-US" dirty="0"/>
          </a:p>
        </p:txBody>
      </p:sp>
    </p:spTree>
    <p:extLst>
      <p:ext uri="{BB962C8B-B14F-4D97-AF65-F5344CB8AC3E}">
        <p14:creationId xmlns:p14="http://schemas.microsoft.com/office/powerpoint/2010/main" val="2925327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Analyzing the result when using average of entailment probabilities</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27</a:t>
            </a:fld>
            <a:endParaRPr lang="ja" altLang="en-US"/>
          </a:p>
        </p:txBody>
      </p:sp>
      <p:sp>
        <p:nvSpPr>
          <p:cNvPr id="5" name="TextBox 4"/>
          <p:cNvSpPr txBox="1"/>
          <p:nvPr/>
        </p:nvSpPr>
        <p:spPr>
          <a:xfrm>
            <a:off x="428170" y="683496"/>
            <a:ext cx="3178629" cy="523220"/>
          </a:xfrm>
          <a:prstGeom prst="rect">
            <a:avLst/>
          </a:prstGeom>
          <a:noFill/>
        </p:spPr>
        <p:txBody>
          <a:bodyPr wrap="square" rtlCol="0">
            <a:spAutoFit/>
          </a:bodyPr>
          <a:lstStyle/>
          <a:p>
            <a:r>
              <a:rPr lang="en-US" dirty="0" smtClean="0"/>
              <a:t>Guilt</a:t>
            </a:r>
          </a:p>
          <a:p>
            <a:r>
              <a:rPr lang="en-US" dirty="0" smtClean="0"/>
              <a:t>Mostly mistaken with anger</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030325480"/>
              </p:ext>
            </p:extLst>
          </p:nvPr>
        </p:nvGraphicFramePr>
        <p:xfrm>
          <a:off x="428171" y="1264105"/>
          <a:ext cx="8055432" cy="1315720"/>
        </p:xfrm>
        <a:graphic>
          <a:graphicData uri="http://schemas.openxmlformats.org/drawingml/2006/table">
            <a:tbl>
              <a:tblPr firstRow="1" bandRow="1">
                <a:tableStyleId>{5C22544A-7EE6-4342-B048-85BDC9FD1C3A}</a:tableStyleId>
              </a:tblPr>
              <a:tblGrid>
                <a:gridCol w="1006929">
                  <a:extLst>
                    <a:ext uri="{9D8B030D-6E8A-4147-A177-3AD203B41FA5}">
                      <a16:colId xmlns:a16="http://schemas.microsoft.com/office/drawing/2014/main" val="1271723579"/>
                    </a:ext>
                  </a:extLst>
                </a:gridCol>
                <a:gridCol w="1006929">
                  <a:extLst>
                    <a:ext uri="{9D8B030D-6E8A-4147-A177-3AD203B41FA5}">
                      <a16:colId xmlns:a16="http://schemas.microsoft.com/office/drawing/2014/main" val="783665758"/>
                    </a:ext>
                  </a:extLst>
                </a:gridCol>
                <a:gridCol w="1006929">
                  <a:extLst>
                    <a:ext uri="{9D8B030D-6E8A-4147-A177-3AD203B41FA5}">
                      <a16:colId xmlns:a16="http://schemas.microsoft.com/office/drawing/2014/main" val="2617707919"/>
                    </a:ext>
                  </a:extLst>
                </a:gridCol>
                <a:gridCol w="1006929">
                  <a:extLst>
                    <a:ext uri="{9D8B030D-6E8A-4147-A177-3AD203B41FA5}">
                      <a16:colId xmlns:a16="http://schemas.microsoft.com/office/drawing/2014/main" val="3724189586"/>
                    </a:ext>
                  </a:extLst>
                </a:gridCol>
                <a:gridCol w="1006929">
                  <a:extLst>
                    <a:ext uri="{9D8B030D-6E8A-4147-A177-3AD203B41FA5}">
                      <a16:colId xmlns:a16="http://schemas.microsoft.com/office/drawing/2014/main" val="2184548120"/>
                    </a:ext>
                  </a:extLst>
                </a:gridCol>
                <a:gridCol w="1006929">
                  <a:extLst>
                    <a:ext uri="{9D8B030D-6E8A-4147-A177-3AD203B41FA5}">
                      <a16:colId xmlns:a16="http://schemas.microsoft.com/office/drawing/2014/main" val="88286680"/>
                    </a:ext>
                  </a:extLst>
                </a:gridCol>
                <a:gridCol w="1006929">
                  <a:extLst>
                    <a:ext uri="{9D8B030D-6E8A-4147-A177-3AD203B41FA5}">
                      <a16:colId xmlns:a16="http://schemas.microsoft.com/office/drawing/2014/main" val="2081763754"/>
                    </a:ext>
                  </a:extLst>
                </a:gridCol>
                <a:gridCol w="1006929">
                  <a:extLst>
                    <a:ext uri="{9D8B030D-6E8A-4147-A177-3AD203B41FA5}">
                      <a16:colId xmlns:a16="http://schemas.microsoft.com/office/drawing/2014/main" val="4157813244"/>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tc>
                  <a:txBody>
                    <a:bodyPr/>
                    <a:lstStyle/>
                    <a:p>
                      <a:r>
                        <a:rPr lang="en-US" dirty="0" smtClean="0"/>
                        <a:t>joy</a:t>
                      </a:r>
                      <a:endParaRPr lang="en-US" dirty="0"/>
                    </a:p>
                  </a:txBody>
                  <a:tcPr/>
                </a:tc>
                <a:extLst>
                  <a:ext uri="{0D108BD9-81ED-4DB2-BD59-A6C34878D82A}">
                    <a16:rowId xmlns:a16="http://schemas.microsoft.com/office/drawing/2014/main" val="2328156091"/>
                  </a:ext>
                </a:extLst>
              </a:tr>
              <a:tr h="370840">
                <a:tc>
                  <a:txBody>
                    <a:bodyPr/>
                    <a:lstStyle/>
                    <a:p>
                      <a:r>
                        <a:rPr lang="en-US" dirty="0" smtClean="0"/>
                        <a:t>Number of predicted data</a:t>
                      </a:r>
                      <a:endParaRPr lang="en-US" dirty="0"/>
                    </a:p>
                  </a:txBody>
                  <a:tcPr/>
                </a:tc>
                <a:tc>
                  <a:txBody>
                    <a:bodyPr/>
                    <a:lstStyle/>
                    <a:p>
                      <a:r>
                        <a:rPr lang="en-US" dirty="0" smtClean="0"/>
                        <a:t>98</a:t>
                      </a:r>
                      <a:endParaRPr lang="en-US" dirty="0"/>
                    </a:p>
                  </a:txBody>
                  <a:tcPr/>
                </a:tc>
                <a:tc>
                  <a:txBody>
                    <a:bodyPr/>
                    <a:lstStyle/>
                    <a:p>
                      <a:r>
                        <a:rPr lang="en-US" dirty="0" smtClean="0"/>
                        <a:t>17</a:t>
                      </a:r>
                      <a:endParaRPr lang="en-US" dirty="0"/>
                    </a:p>
                  </a:txBody>
                  <a:tcPr/>
                </a:tc>
                <a:tc>
                  <a:txBody>
                    <a:bodyPr/>
                    <a:lstStyle/>
                    <a:p>
                      <a:r>
                        <a:rPr lang="en-US" dirty="0" smtClean="0"/>
                        <a:t>28</a:t>
                      </a:r>
                      <a:endParaRPr lang="en-US" dirty="0"/>
                    </a:p>
                  </a:txBody>
                  <a:tcPr/>
                </a:tc>
                <a:tc>
                  <a:txBody>
                    <a:bodyPr/>
                    <a:lstStyle/>
                    <a:p>
                      <a:r>
                        <a:rPr lang="en-US" dirty="0" smtClean="0"/>
                        <a:t>719</a:t>
                      </a:r>
                      <a:endParaRPr lang="en-US" dirty="0"/>
                    </a:p>
                  </a:txBody>
                  <a:tcPr/>
                </a:tc>
                <a:tc>
                  <a:txBody>
                    <a:bodyPr/>
                    <a:lstStyle/>
                    <a:p>
                      <a:r>
                        <a:rPr lang="en-US" dirty="0" smtClean="0"/>
                        <a:t>62</a:t>
                      </a:r>
                      <a:endParaRPr lang="en-US" dirty="0"/>
                    </a:p>
                  </a:txBody>
                  <a:tcPr/>
                </a:tc>
                <a:tc>
                  <a:txBody>
                    <a:bodyPr/>
                    <a:lstStyle/>
                    <a:p>
                      <a:r>
                        <a:rPr lang="en-US" dirty="0" smtClean="0"/>
                        <a:t>116</a:t>
                      </a:r>
                      <a:endParaRPr lang="en-US" dirty="0"/>
                    </a:p>
                  </a:txBody>
                  <a:tcPr/>
                </a:tc>
                <a:tc>
                  <a:txBody>
                    <a:bodyPr/>
                    <a:lstStyle/>
                    <a:p>
                      <a:r>
                        <a:rPr lang="en-US" dirty="0" smtClean="0"/>
                        <a:t>9</a:t>
                      </a:r>
                      <a:endParaRPr lang="en-US" dirty="0"/>
                    </a:p>
                  </a:txBody>
                  <a:tcPr/>
                </a:tc>
                <a:extLst>
                  <a:ext uri="{0D108BD9-81ED-4DB2-BD59-A6C34878D82A}">
                    <a16:rowId xmlns:a16="http://schemas.microsoft.com/office/drawing/2014/main" val="644520938"/>
                  </a:ext>
                </a:extLst>
              </a:tr>
            </a:tbl>
          </a:graphicData>
        </a:graphic>
      </p:graphicFrame>
      <p:sp>
        <p:nvSpPr>
          <p:cNvPr id="7" name="TextBox 6"/>
          <p:cNvSpPr txBox="1"/>
          <p:nvPr/>
        </p:nvSpPr>
        <p:spPr>
          <a:xfrm>
            <a:off x="551545" y="2733961"/>
            <a:ext cx="2830284" cy="523220"/>
          </a:xfrm>
          <a:prstGeom prst="rect">
            <a:avLst/>
          </a:prstGeom>
          <a:noFill/>
        </p:spPr>
        <p:txBody>
          <a:bodyPr wrap="square" rtlCol="0">
            <a:spAutoFit/>
          </a:bodyPr>
          <a:lstStyle/>
          <a:p>
            <a:r>
              <a:rPr lang="en-US" dirty="0" smtClean="0"/>
              <a:t>Sadness</a:t>
            </a:r>
          </a:p>
          <a:p>
            <a:r>
              <a:rPr lang="en-US" dirty="0" smtClean="0"/>
              <a:t>Mostly mistaken with shame </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414760619"/>
              </p:ext>
            </p:extLst>
          </p:nvPr>
        </p:nvGraphicFramePr>
        <p:xfrm>
          <a:off x="551545" y="3314570"/>
          <a:ext cx="8149768" cy="1102360"/>
        </p:xfrm>
        <a:graphic>
          <a:graphicData uri="http://schemas.openxmlformats.org/drawingml/2006/table">
            <a:tbl>
              <a:tblPr firstRow="1" bandRow="1">
                <a:tableStyleId>{5C22544A-7EE6-4342-B048-85BDC9FD1C3A}</a:tableStyleId>
              </a:tblPr>
              <a:tblGrid>
                <a:gridCol w="1018721">
                  <a:extLst>
                    <a:ext uri="{9D8B030D-6E8A-4147-A177-3AD203B41FA5}">
                      <a16:colId xmlns:a16="http://schemas.microsoft.com/office/drawing/2014/main" val="647228524"/>
                    </a:ext>
                  </a:extLst>
                </a:gridCol>
                <a:gridCol w="1018721">
                  <a:extLst>
                    <a:ext uri="{9D8B030D-6E8A-4147-A177-3AD203B41FA5}">
                      <a16:colId xmlns:a16="http://schemas.microsoft.com/office/drawing/2014/main" val="3527665026"/>
                    </a:ext>
                  </a:extLst>
                </a:gridCol>
                <a:gridCol w="1018721">
                  <a:extLst>
                    <a:ext uri="{9D8B030D-6E8A-4147-A177-3AD203B41FA5}">
                      <a16:colId xmlns:a16="http://schemas.microsoft.com/office/drawing/2014/main" val="2913931706"/>
                    </a:ext>
                  </a:extLst>
                </a:gridCol>
                <a:gridCol w="1018721">
                  <a:extLst>
                    <a:ext uri="{9D8B030D-6E8A-4147-A177-3AD203B41FA5}">
                      <a16:colId xmlns:a16="http://schemas.microsoft.com/office/drawing/2014/main" val="579171210"/>
                    </a:ext>
                  </a:extLst>
                </a:gridCol>
                <a:gridCol w="1018721">
                  <a:extLst>
                    <a:ext uri="{9D8B030D-6E8A-4147-A177-3AD203B41FA5}">
                      <a16:colId xmlns:a16="http://schemas.microsoft.com/office/drawing/2014/main" val="3493546954"/>
                    </a:ext>
                  </a:extLst>
                </a:gridCol>
                <a:gridCol w="1018721">
                  <a:extLst>
                    <a:ext uri="{9D8B030D-6E8A-4147-A177-3AD203B41FA5}">
                      <a16:colId xmlns:a16="http://schemas.microsoft.com/office/drawing/2014/main" val="1839693157"/>
                    </a:ext>
                  </a:extLst>
                </a:gridCol>
                <a:gridCol w="1018721">
                  <a:extLst>
                    <a:ext uri="{9D8B030D-6E8A-4147-A177-3AD203B41FA5}">
                      <a16:colId xmlns:a16="http://schemas.microsoft.com/office/drawing/2014/main" val="2284480267"/>
                    </a:ext>
                  </a:extLst>
                </a:gridCol>
                <a:gridCol w="1018721">
                  <a:extLst>
                    <a:ext uri="{9D8B030D-6E8A-4147-A177-3AD203B41FA5}">
                      <a16:colId xmlns:a16="http://schemas.microsoft.com/office/drawing/2014/main" val="186719065"/>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tc>
                  <a:txBody>
                    <a:bodyPr/>
                    <a:lstStyle/>
                    <a:p>
                      <a:r>
                        <a:rPr lang="en-US" dirty="0" smtClean="0"/>
                        <a:t>joy</a:t>
                      </a:r>
                      <a:endParaRPr lang="en-US" dirty="0"/>
                    </a:p>
                  </a:txBody>
                  <a:tcPr/>
                </a:tc>
                <a:extLst>
                  <a:ext uri="{0D108BD9-81ED-4DB2-BD59-A6C34878D82A}">
                    <a16:rowId xmlns:a16="http://schemas.microsoft.com/office/drawing/2014/main" val="658004287"/>
                  </a:ext>
                </a:extLst>
              </a:tr>
              <a:tr h="370840">
                <a:tc>
                  <a:txBody>
                    <a:bodyPr/>
                    <a:lstStyle/>
                    <a:p>
                      <a:r>
                        <a:rPr lang="en-US" dirty="0" smtClean="0"/>
                        <a:t>Number of predicted data</a:t>
                      </a:r>
                      <a:endParaRPr lang="en-US" dirty="0"/>
                    </a:p>
                  </a:txBody>
                  <a:tcPr/>
                </a:tc>
                <a:tc>
                  <a:txBody>
                    <a:bodyPr/>
                    <a:lstStyle/>
                    <a:p>
                      <a:r>
                        <a:rPr lang="en-US" dirty="0" smtClean="0"/>
                        <a:t>40</a:t>
                      </a:r>
                      <a:endParaRPr lang="en-US" dirty="0"/>
                    </a:p>
                  </a:txBody>
                  <a:tcPr/>
                </a:tc>
                <a:tc>
                  <a:txBody>
                    <a:bodyPr/>
                    <a:lstStyle/>
                    <a:p>
                      <a:r>
                        <a:rPr lang="en-US" dirty="0" smtClean="0"/>
                        <a:t>13</a:t>
                      </a:r>
                      <a:endParaRPr lang="en-US" dirty="0"/>
                    </a:p>
                  </a:txBody>
                  <a:tcPr/>
                </a:tc>
                <a:tc>
                  <a:txBody>
                    <a:bodyPr/>
                    <a:lstStyle/>
                    <a:p>
                      <a:r>
                        <a:rPr lang="en-US" dirty="0" smtClean="0"/>
                        <a:t>59</a:t>
                      </a:r>
                      <a:endParaRPr lang="en-US" dirty="0"/>
                    </a:p>
                  </a:txBody>
                  <a:tcPr/>
                </a:tc>
                <a:tc>
                  <a:txBody>
                    <a:bodyPr/>
                    <a:lstStyle/>
                    <a:p>
                      <a:r>
                        <a:rPr lang="en-US" dirty="0" smtClean="0"/>
                        <a:t>101</a:t>
                      </a:r>
                      <a:endParaRPr lang="en-US" dirty="0"/>
                    </a:p>
                  </a:txBody>
                  <a:tcPr/>
                </a:tc>
                <a:tc>
                  <a:txBody>
                    <a:bodyPr/>
                    <a:lstStyle/>
                    <a:p>
                      <a:r>
                        <a:rPr lang="en-US" dirty="0" smtClean="0"/>
                        <a:t>774</a:t>
                      </a:r>
                      <a:endParaRPr lang="en-US" dirty="0"/>
                    </a:p>
                  </a:txBody>
                  <a:tcPr/>
                </a:tc>
                <a:tc>
                  <a:txBody>
                    <a:bodyPr/>
                    <a:lstStyle/>
                    <a:p>
                      <a:r>
                        <a:rPr lang="en-US" dirty="0" smtClean="0"/>
                        <a:t>80</a:t>
                      </a:r>
                      <a:endParaRPr lang="en-US" dirty="0"/>
                    </a:p>
                  </a:txBody>
                  <a:tcPr/>
                </a:tc>
                <a:tc>
                  <a:txBody>
                    <a:bodyPr/>
                    <a:lstStyle/>
                    <a:p>
                      <a:r>
                        <a:rPr lang="en-US" dirty="0" smtClean="0"/>
                        <a:t>15</a:t>
                      </a:r>
                      <a:endParaRPr lang="en-US" dirty="0"/>
                    </a:p>
                  </a:txBody>
                  <a:tcPr/>
                </a:tc>
                <a:extLst>
                  <a:ext uri="{0D108BD9-81ED-4DB2-BD59-A6C34878D82A}">
                    <a16:rowId xmlns:a16="http://schemas.microsoft.com/office/drawing/2014/main" val="647599838"/>
                  </a:ext>
                </a:extLst>
              </a:tr>
            </a:tbl>
          </a:graphicData>
        </a:graphic>
      </p:graphicFrame>
    </p:spTree>
    <p:extLst>
      <p:ext uri="{BB962C8B-B14F-4D97-AF65-F5344CB8AC3E}">
        <p14:creationId xmlns:p14="http://schemas.microsoft.com/office/powerpoint/2010/main" val="293899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Analyzing the result when using average of entailment probabilities</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28</a:t>
            </a:fld>
            <a:endParaRPr lang="ja" altLang="en-US"/>
          </a:p>
        </p:txBody>
      </p:sp>
      <p:sp>
        <p:nvSpPr>
          <p:cNvPr id="5" name="TextBox 4"/>
          <p:cNvSpPr txBox="1"/>
          <p:nvPr/>
        </p:nvSpPr>
        <p:spPr>
          <a:xfrm>
            <a:off x="377371" y="572700"/>
            <a:ext cx="3367315" cy="1169551"/>
          </a:xfrm>
          <a:prstGeom prst="rect">
            <a:avLst/>
          </a:prstGeom>
          <a:noFill/>
        </p:spPr>
        <p:txBody>
          <a:bodyPr wrap="square" rtlCol="0">
            <a:spAutoFit/>
          </a:bodyPr>
          <a:lstStyle/>
          <a:p>
            <a:r>
              <a:rPr lang="en-US" dirty="0" smtClean="0"/>
              <a:t>Shame</a:t>
            </a:r>
          </a:p>
          <a:p>
            <a:endParaRPr lang="en-US" dirty="0"/>
          </a:p>
          <a:p>
            <a:r>
              <a:rPr lang="en-US" dirty="0" smtClean="0"/>
              <a:t>Mostly mistaken with guilt</a:t>
            </a:r>
            <a:endParaRPr lang="en-US" dirty="0"/>
          </a:p>
          <a:p>
            <a:endParaRPr lang="en-US" dirty="0" smtClean="0"/>
          </a:p>
          <a:p>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464142012"/>
              </p:ext>
            </p:extLst>
          </p:nvPr>
        </p:nvGraphicFramePr>
        <p:xfrm>
          <a:off x="377371" y="1407004"/>
          <a:ext cx="8055432" cy="1315720"/>
        </p:xfrm>
        <a:graphic>
          <a:graphicData uri="http://schemas.openxmlformats.org/drawingml/2006/table">
            <a:tbl>
              <a:tblPr firstRow="1" bandRow="1">
                <a:tableStyleId>{5C22544A-7EE6-4342-B048-85BDC9FD1C3A}</a:tableStyleId>
              </a:tblPr>
              <a:tblGrid>
                <a:gridCol w="1006929">
                  <a:extLst>
                    <a:ext uri="{9D8B030D-6E8A-4147-A177-3AD203B41FA5}">
                      <a16:colId xmlns:a16="http://schemas.microsoft.com/office/drawing/2014/main" val="1271723579"/>
                    </a:ext>
                  </a:extLst>
                </a:gridCol>
                <a:gridCol w="1006929">
                  <a:extLst>
                    <a:ext uri="{9D8B030D-6E8A-4147-A177-3AD203B41FA5}">
                      <a16:colId xmlns:a16="http://schemas.microsoft.com/office/drawing/2014/main" val="783665758"/>
                    </a:ext>
                  </a:extLst>
                </a:gridCol>
                <a:gridCol w="1006929">
                  <a:extLst>
                    <a:ext uri="{9D8B030D-6E8A-4147-A177-3AD203B41FA5}">
                      <a16:colId xmlns:a16="http://schemas.microsoft.com/office/drawing/2014/main" val="2617707919"/>
                    </a:ext>
                  </a:extLst>
                </a:gridCol>
                <a:gridCol w="1006929">
                  <a:extLst>
                    <a:ext uri="{9D8B030D-6E8A-4147-A177-3AD203B41FA5}">
                      <a16:colId xmlns:a16="http://schemas.microsoft.com/office/drawing/2014/main" val="3724189586"/>
                    </a:ext>
                  </a:extLst>
                </a:gridCol>
                <a:gridCol w="1006929">
                  <a:extLst>
                    <a:ext uri="{9D8B030D-6E8A-4147-A177-3AD203B41FA5}">
                      <a16:colId xmlns:a16="http://schemas.microsoft.com/office/drawing/2014/main" val="2184548120"/>
                    </a:ext>
                  </a:extLst>
                </a:gridCol>
                <a:gridCol w="1006929">
                  <a:extLst>
                    <a:ext uri="{9D8B030D-6E8A-4147-A177-3AD203B41FA5}">
                      <a16:colId xmlns:a16="http://schemas.microsoft.com/office/drawing/2014/main" val="88286680"/>
                    </a:ext>
                  </a:extLst>
                </a:gridCol>
                <a:gridCol w="1006929">
                  <a:extLst>
                    <a:ext uri="{9D8B030D-6E8A-4147-A177-3AD203B41FA5}">
                      <a16:colId xmlns:a16="http://schemas.microsoft.com/office/drawing/2014/main" val="2081763754"/>
                    </a:ext>
                  </a:extLst>
                </a:gridCol>
                <a:gridCol w="1006929">
                  <a:extLst>
                    <a:ext uri="{9D8B030D-6E8A-4147-A177-3AD203B41FA5}">
                      <a16:colId xmlns:a16="http://schemas.microsoft.com/office/drawing/2014/main" val="4157813244"/>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guilt</a:t>
                      </a:r>
                      <a:endParaRPr lang="en-US" dirty="0"/>
                    </a:p>
                  </a:txBody>
                  <a:tcPr/>
                </a:tc>
                <a:tc>
                  <a:txBody>
                    <a:bodyPr/>
                    <a:lstStyle/>
                    <a:p>
                      <a:r>
                        <a:rPr lang="en-US" dirty="0" smtClean="0"/>
                        <a:t>sadness</a:t>
                      </a:r>
                      <a:endParaRPr lang="en-US" dirty="0"/>
                    </a:p>
                  </a:txBody>
                  <a:tcPr/>
                </a:tc>
                <a:tc>
                  <a:txBody>
                    <a:bodyPr/>
                    <a:lstStyle/>
                    <a:p>
                      <a:r>
                        <a:rPr lang="en-US" dirty="0" smtClean="0"/>
                        <a:t>shame</a:t>
                      </a:r>
                      <a:endParaRPr lang="en-US" dirty="0"/>
                    </a:p>
                  </a:txBody>
                  <a:tcPr/>
                </a:tc>
                <a:tc>
                  <a:txBody>
                    <a:bodyPr/>
                    <a:lstStyle/>
                    <a:p>
                      <a:r>
                        <a:rPr lang="en-US" dirty="0" smtClean="0"/>
                        <a:t>joy</a:t>
                      </a:r>
                      <a:endParaRPr lang="en-US" dirty="0"/>
                    </a:p>
                  </a:txBody>
                  <a:tcPr/>
                </a:tc>
                <a:extLst>
                  <a:ext uri="{0D108BD9-81ED-4DB2-BD59-A6C34878D82A}">
                    <a16:rowId xmlns:a16="http://schemas.microsoft.com/office/drawing/2014/main" val="2328156091"/>
                  </a:ext>
                </a:extLst>
              </a:tr>
              <a:tr h="370840">
                <a:tc>
                  <a:txBody>
                    <a:bodyPr/>
                    <a:lstStyle/>
                    <a:p>
                      <a:r>
                        <a:rPr lang="en-US" dirty="0" smtClean="0"/>
                        <a:t>Number of predicted data</a:t>
                      </a:r>
                      <a:endParaRPr lang="en-US" dirty="0"/>
                    </a:p>
                  </a:txBody>
                  <a:tcPr/>
                </a:tc>
                <a:tc>
                  <a:txBody>
                    <a:bodyPr/>
                    <a:lstStyle/>
                    <a:p>
                      <a:r>
                        <a:rPr lang="en-US" dirty="0" smtClean="0"/>
                        <a:t>63</a:t>
                      </a:r>
                      <a:endParaRPr lang="en-US" dirty="0"/>
                    </a:p>
                  </a:txBody>
                  <a:tcPr/>
                </a:tc>
                <a:tc>
                  <a:txBody>
                    <a:bodyPr/>
                    <a:lstStyle/>
                    <a:p>
                      <a:r>
                        <a:rPr lang="en-US" dirty="0" smtClean="0"/>
                        <a:t>27</a:t>
                      </a:r>
                      <a:endParaRPr lang="en-US" dirty="0"/>
                    </a:p>
                  </a:txBody>
                  <a:tcPr/>
                </a:tc>
                <a:tc>
                  <a:txBody>
                    <a:bodyPr/>
                    <a:lstStyle/>
                    <a:p>
                      <a:r>
                        <a:rPr lang="en-US" dirty="0" smtClean="0"/>
                        <a:t>59</a:t>
                      </a:r>
                      <a:endParaRPr lang="en-US" dirty="0"/>
                    </a:p>
                  </a:txBody>
                  <a:tcPr/>
                </a:tc>
                <a:tc>
                  <a:txBody>
                    <a:bodyPr/>
                    <a:lstStyle/>
                    <a:p>
                      <a:r>
                        <a:rPr lang="en-US" dirty="0" smtClean="0"/>
                        <a:t>347</a:t>
                      </a:r>
                      <a:endParaRPr lang="en-US" dirty="0"/>
                    </a:p>
                  </a:txBody>
                  <a:tcPr/>
                </a:tc>
                <a:tc>
                  <a:txBody>
                    <a:bodyPr/>
                    <a:lstStyle/>
                    <a:p>
                      <a:r>
                        <a:rPr lang="en-US" dirty="0" smtClean="0"/>
                        <a:t>39</a:t>
                      </a:r>
                      <a:endParaRPr lang="en-US" dirty="0"/>
                    </a:p>
                  </a:txBody>
                  <a:tcPr/>
                </a:tc>
                <a:tc>
                  <a:txBody>
                    <a:bodyPr/>
                    <a:lstStyle/>
                    <a:p>
                      <a:r>
                        <a:rPr lang="en-US" dirty="0" smtClean="0"/>
                        <a:t>510</a:t>
                      </a:r>
                      <a:endParaRPr lang="en-US" dirty="0"/>
                    </a:p>
                  </a:txBody>
                  <a:tcPr/>
                </a:tc>
                <a:tc>
                  <a:txBody>
                    <a:bodyPr/>
                    <a:lstStyle/>
                    <a:p>
                      <a:r>
                        <a:rPr lang="en-US" dirty="0" smtClean="0"/>
                        <a:t>26</a:t>
                      </a:r>
                      <a:endParaRPr lang="en-US" dirty="0"/>
                    </a:p>
                  </a:txBody>
                  <a:tcPr/>
                </a:tc>
                <a:extLst>
                  <a:ext uri="{0D108BD9-81ED-4DB2-BD59-A6C34878D82A}">
                    <a16:rowId xmlns:a16="http://schemas.microsoft.com/office/drawing/2014/main" val="644520938"/>
                  </a:ext>
                </a:extLst>
              </a:tr>
            </a:tbl>
          </a:graphicData>
        </a:graphic>
      </p:graphicFrame>
      <p:sp>
        <p:nvSpPr>
          <p:cNvPr id="8" name="TextBox 7"/>
          <p:cNvSpPr txBox="1"/>
          <p:nvPr/>
        </p:nvSpPr>
        <p:spPr>
          <a:xfrm flipH="1">
            <a:off x="377371" y="3629298"/>
            <a:ext cx="3880396" cy="307777"/>
          </a:xfrm>
          <a:prstGeom prst="rect">
            <a:avLst/>
          </a:prstGeom>
          <a:noFill/>
        </p:spPr>
        <p:txBody>
          <a:bodyPr wrap="square" rtlCol="0">
            <a:spAutoFit/>
          </a:bodyPr>
          <a:lstStyle/>
          <a:p>
            <a:r>
              <a:rPr lang="en-US" dirty="0" smtClean="0"/>
              <a:t>Many labels are mistaken with guilt.</a:t>
            </a:r>
            <a:endParaRPr lang="en-US" dirty="0"/>
          </a:p>
        </p:txBody>
      </p:sp>
    </p:spTree>
    <p:extLst>
      <p:ext uri="{BB962C8B-B14F-4D97-AF65-F5344CB8AC3E}">
        <p14:creationId xmlns:p14="http://schemas.microsoft.com/office/powerpoint/2010/main" val="1991097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Analyzing the result when using average of entailment probabilities</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29</a:t>
            </a:fld>
            <a:endParaRPr lang="ja" altLang="en-US"/>
          </a:p>
        </p:txBody>
      </p:sp>
      <p:sp>
        <p:nvSpPr>
          <p:cNvPr id="5" name="TextBox 4"/>
          <p:cNvSpPr txBox="1"/>
          <p:nvPr/>
        </p:nvSpPr>
        <p:spPr>
          <a:xfrm>
            <a:off x="377372" y="751869"/>
            <a:ext cx="3331030" cy="523220"/>
          </a:xfrm>
          <a:prstGeom prst="rect">
            <a:avLst/>
          </a:prstGeom>
          <a:noFill/>
        </p:spPr>
        <p:txBody>
          <a:bodyPr wrap="square" rtlCol="0">
            <a:spAutoFit/>
          </a:bodyPr>
          <a:lstStyle/>
          <a:p>
            <a:r>
              <a:rPr lang="en-US" dirty="0" smtClean="0"/>
              <a:t>Anger</a:t>
            </a:r>
          </a:p>
          <a:p>
            <a:r>
              <a:rPr lang="en-US" dirty="0" smtClean="0"/>
              <a:t>Mostly mistaken with surprise </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74339381"/>
              </p:ext>
            </p:extLst>
          </p:nvPr>
        </p:nvGraphicFramePr>
        <p:xfrm>
          <a:off x="377372" y="1239737"/>
          <a:ext cx="6432552" cy="1529080"/>
        </p:xfrm>
        <a:graphic>
          <a:graphicData uri="http://schemas.openxmlformats.org/drawingml/2006/table">
            <a:tbl>
              <a:tblPr firstRow="1" bandRow="1">
                <a:tableStyleId>{5C22544A-7EE6-4342-B048-85BDC9FD1C3A}</a:tableStyleId>
              </a:tblPr>
              <a:tblGrid>
                <a:gridCol w="918936">
                  <a:extLst>
                    <a:ext uri="{9D8B030D-6E8A-4147-A177-3AD203B41FA5}">
                      <a16:colId xmlns:a16="http://schemas.microsoft.com/office/drawing/2014/main" val="3089465254"/>
                    </a:ext>
                  </a:extLst>
                </a:gridCol>
                <a:gridCol w="918936">
                  <a:extLst>
                    <a:ext uri="{9D8B030D-6E8A-4147-A177-3AD203B41FA5}">
                      <a16:colId xmlns:a16="http://schemas.microsoft.com/office/drawing/2014/main" val="282072973"/>
                    </a:ext>
                  </a:extLst>
                </a:gridCol>
                <a:gridCol w="918936">
                  <a:extLst>
                    <a:ext uri="{9D8B030D-6E8A-4147-A177-3AD203B41FA5}">
                      <a16:colId xmlns:a16="http://schemas.microsoft.com/office/drawing/2014/main" val="1497865021"/>
                    </a:ext>
                  </a:extLst>
                </a:gridCol>
                <a:gridCol w="918936">
                  <a:extLst>
                    <a:ext uri="{9D8B030D-6E8A-4147-A177-3AD203B41FA5}">
                      <a16:colId xmlns:a16="http://schemas.microsoft.com/office/drawing/2014/main" val="1854048717"/>
                    </a:ext>
                  </a:extLst>
                </a:gridCol>
                <a:gridCol w="918936">
                  <a:extLst>
                    <a:ext uri="{9D8B030D-6E8A-4147-A177-3AD203B41FA5}">
                      <a16:colId xmlns:a16="http://schemas.microsoft.com/office/drawing/2014/main" val="3027406714"/>
                    </a:ext>
                  </a:extLst>
                </a:gridCol>
                <a:gridCol w="918936">
                  <a:extLst>
                    <a:ext uri="{9D8B030D-6E8A-4147-A177-3AD203B41FA5}">
                      <a16:colId xmlns:a16="http://schemas.microsoft.com/office/drawing/2014/main" val="3931845456"/>
                    </a:ext>
                  </a:extLst>
                </a:gridCol>
                <a:gridCol w="918936">
                  <a:extLst>
                    <a:ext uri="{9D8B030D-6E8A-4147-A177-3AD203B41FA5}">
                      <a16:colId xmlns:a16="http://schemas.microsoft.com/office/drawing/2014/main" val="4002331163"/>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2736269539"/>
                  </a:ext>
                </a:extLst>
              </a:tr>
              <a:tr h="370840">
                <a:tc>
                  <a:txBody>
                    <a:bodyPr/>
                    <a:lstStyle/>
                    <a:p>
                      <a:r>
                        <a:rPr lang="en-US" dirty="0" smtClean="0"/>
                        <a:t>The</a:t>
                      </a:r>
                      <a:r>
                        <a:rPr lang="en-US" baseline="0" dirty="0" smtClean="0"/>
                        <a:t> number of predicted data</a:t>
                      </a:r>
                      <a:endParaRPr lang="en-US" dirty="0"/>
                    </a:p>
                  </a:txBody>
                  <a:tcPr/>
                </a:tc>
                <a:tc>
                  <a:txBody>
                    <a:bodyPr/>
                    <a:lstStyle/>
                    <a:p>
                      <a:r>
                        <a:rPr lang="en-US" dirty="0" smtClean="0"/>
                        <a:t>800</a:t>
                      </a:r>
                      <a:endParaRPr lang="en-US" dirty="0"/>
                    </a:p>
                  </a:txBody>
                  <a:tcPr/>
                </a:tc>
                <a:tc>
                  <a:txBody>
                    <a:bodyPr/>
                    <a:lstStyle/>
                    <a:p>
                      <a:r>
                        <a:rPr lang="en-US" dirty="0" smtClean="0"/>
                        <a:t>170</a:t>
                      </a:r>
                      <a:endParaRPr lang="en-US" dirty="0"/>
                    </a:p>
                  </a:txBody>
                  <a:tcPr/>
                </a:tc>
                <a:tc>
                  <a:txBody>
                    <a:bodyPr/>
                    <a:lstStyle/>
                    <a:p>
                      <a:r>
                        <a:rPr lang="en-US" dirty="0" smtClean="0"/>
                        <a:t>89</a:t>
                      </a:r>
                      <a:endParaRPr lang="en-US" dirty="0"/>
                    </a:p>
                  </a:txBody>
                  <a:tcPr/>
                </a:tc>
                <a:tc>
                  <a:txBody>
                    <a:bodyPr/>
                    <a:lstStyle/>
                    <a:p>
                      <a:r>
                        <a:rPr lang="en-US" dirty="0" smtClean="0"/>
                        <a:t>70</a:t>
                      </a:r>
                      <a:endParaRPr lang="en-US" dirty="0"/>
                    </a:p>
                  </a:txBody>
                  <a:tcPr/>
                </a:tc>
                <a:tc>
                  <a:txBody>
                    <a:bodyPr/>
                    <a:lstStyle/>
                    <a:p>
                      <a:r>
                        <a:rPr lang="en-US" dirty="0" smtClean="0"/>
                        <a:t>80</a:t>
                      </a:r>
                      <a:endParaRPr lang="en-US" dirty="0"/>
                    </a:p>
                  </a:txBody>
                  <a:tcPr/>
                </a:tc>
                <a:tc>
                  <a:txBody>
                    <a:bodyPr/>
                    <a:lstStyle/>
                    <a:p>
                      <a:r>
                        <a:rPr lang="en-US" dirty="0" smtClean="0"/>
                        <a:t>346</a:t>
                      </a:r>
                      <a:endParaRPr lang="en-US" dirty="0"/>
                    </a:p>
                  </a:txBody>
                  <a:tcPr/>
                </a:tc>
                <a:extLst>
                  <a:ext uri="{0D108BD9-81ED-4DB2-BD59-A6C34878D82A}">
                    <a16:rowId xmlns:a16="http://schemas.microsoft.com/office/drawing/2014/main" val="295447642"/>
                  </a:ext>
                </a:extLst>
              </a:tr>
            </a:tbl>
          </a:graphicData>
        </a:graphic>
      </p:graphicFrame>
      <p:sp>
        <p:nvSpPr>
          <p:cNvPr id="7" name="TextBox 6"/>
          <p:cNvSpPr txBox="1"/>
          <p:nvPr/>
        </p:nvSpPr>
        <p:spPr>
          <a:xfrm>
            <a:off x="377372" y="517630"/>
            <a:ext cx="2220686" cy="307777"/>
          </a:xfrm>
          <a:prstGeom prst="rect">
            <a:avLst/>
          </a:prstGeom>
          <a:noFill/>
        </p:spPr>
        <p:txBody>
          <a:bodyPr wrap="square" rtlCol="0">
            <a:spAutoFit/>
          </a:bodyPr>
          <a:lstStyle/>
          <a:p>
            <a:r>
              <a:rPr lang="en-US" dirty="0" smtClean="0"/>
              <a:t>Tec</a:t>
            </a:r>
            <a:endParaRPr lang="en-US" dirty="0"/>
          </a:p>
        </p:txBody>
      </p:sp>
      <p:sp>
        <p:nvSpPr>
          <p:cNvPr id="8" name="TextBox 7"/>
          <p:cNvSpPr txBox="1"/>
          <p:nvPr/>
        </p:nvSpPr>
        <p:spPr>
          <a:xfrm>
            <a:off x="377372" y="2768817"/>
            <a:ext cx="2786742" cy="954107"/>
          </a:xfrm>
          <a:prstGeom prst="rect">
            <a:avLst/>
          </a:prstGeom>
          <a:noFill/>
        </p:spPr>
        <p:txBody>
          <a:bodyPr wrap="square" rtlCol="0">
            <a:spAutoFit/>
          </a:bodyPr>
          <a:lstStyle/>
          <a:p>
            <a:r>
              <a:rPr lang="en-US" dirty="0" smtClean="0"/>
              <a:t>Disgust</a:t>
            </a:r>
          </a:p>
          <a:p>
            <a:r>
              <a:rPr lang="en-US" dirty="0"/>
              <a:t>Mostly mistaken </a:t>
            </a:r>
            <a:r>
              <a:rPr lang="en-US" dirty="0" smtClean="0"/>
              <a:t>with surprise</a:t>
            </a:r>
          </a:p>
          <a:p>
            <a:endParaRPr lang="en-US" dirty="0" smtClean="0"/>
          </a:p>
          <a:p>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3895603959"/>
              </p:ext>
            </p:extLst>
          </p:nvPr>
        </p:nvGraphicFramePr>
        <p:xfrm>
          <a:off x="377372" y="3314570"/>
          <a:ext cx="6432552" cy="1529080"/>
        </p:xfrm>
        <a:graphic>
          <a:graphicData uri="http://schemas.openxmlformats.org/drawingml/2006/table">
            <a:tbl>
              <a:tblPr firstRow="1" bandRow="1">
                <a:tableStyleId>{5C22544A-7EE6-4342-B048-85BDC9FD1C3A}</a:tableStyleId>
              </a:tblPr>
              <a:tblGrid>
                <a:gridCol w="918936">
                  <a:extLst>
                    <a:ext uri="{9D8B030D-6E8A-4147-A177-3AD203B41FA5}">
                      <a16:colId xmlns:a16="http://schemas.microsoft.com/office/drawing/2014/main" val="3089465254"/>
                    </a:ext>
                  </a:extLst>
                </a:gridCol>
                <a:gridCol w="918936">
                  <a:extLst>
                    <a:ext uri="{9D8B030D-6E8A-4147-A177-3AD203B41FA5}">
                      <a16:colId xmlns:a16="http://schemas.microsoft.com/office/drawing/2014/main" val="282072973"/>
                    </a:ext>
                  </a:extLst>
                </a:gridCol>
                <a:gridCol w="918936">
                  <a:extLst>
                    <a:ext uri="{9D8B030D-6E8A-4147-A177-3AD203B41FA5}">
                      <a16:colId xmlns:a16="http://schemas.microsoft.com/office/drawing/2014/main" val="1497865021"/>
                    </a:ext>
                  </a:extLst>
                </a:gridCol>
                <a:gridCol w="918936">
                  <a:extLst>
                    <a:ext uri="{9D8B030D-6E8A-4147-A177-3AD203B41FA5}">
                      <a16:colId xmlns:a16="http://schemas.microsoft.com/office/drawing/2014/main" val="1854048717"/>
                    </a:ext>
                  </a:extLst>
                </a:gridCol>
                <a:gridCol w="918936">
                  <a:extLst>
                    <a:ext uri="{9D8B030D-6E8A-4147-A177-3AD203B41FA5}">
                      <a16:colId xmlns:a16="http://schemas.microsoft.com/office/drawing/2014/main" val="3027406714"/>
                    </a:ext>
                  </a:extLst>
                </a:gridCol>
                <a:gridCol w="918936">
                  <a:extLst>
                    <a:ext uri="{9D8B030D-6E8A-4147-A177-3AD203B41FA5}">
                      <a16:colId xmlns:a16="http://schemas.microsoft.com/office/drawing/2014/main" val="3931845456"/>
                    </a:ext>
                  </a:extLst>
                </a:gridCol>
                <a:gridCol w="918936">
                  <a:extLst>
                    <a:ext uri="{9D8B030D-6E8A-4147-A177-3AD203B41FA5}">
                      <a16:colId xmlns:a16="http://schemas.microsoft.com/office/drawing/2014/main" val="4002331163"/>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2736269539"/>
                  </a:ext>
                </a:extLst>
              </a:tr>
              <a:tr h="370840">
                <a:tc>
                  <a:txBody>
                    <a:bodyPr/>
                    <a:lstStyle/>
                    <a:p>
                      <a:r>
                        <a:rPr lang="en-US" dirty="0" smtClean="0"/>
                        <a:t>The</a:t>
                      </a:r>
                      <a:r>
                        <a:rPr lang="en-US" baseline="0" dirty="0" smtClean="0"/>
                        <a:t> number of predicted data</a:t>
                      </a:r>
                      <a:endParaRPr lang="en-US" dirty="0"/>
                    </a:p>
                  </a:txBody>
                  <a:tcPr/>
                </a:tc>
                <a:tc>
                  <a:txBody>
                    <a:bodyPr/>
                    <a:lstStyle/>
                    <a:p>
                      <a:r>
                        <a:rPr lang="en-US" dirty="0" smtClean="0"/>
                        <a:t>182</a:t>
                      </a:r>
                      <a:endParaRPr lang="en-US" dirty="0"/>
                    </a:p>
                  </a:txBody>
                  <a:tcPr/>
                </a:tc>
                <a:tc>
                  <a:txBody>
                    <a:bodyPr/>
                    <a:lstStyle/>
                    <a:p>
                      <a:r>
                        <a:rPr lang="en-US" dirty="0" smtClean="0"/>
                        <a:t>265</a:t>
                      </a:r>
                      <a:endParaRPr lang="en-US" dirty="0"/>
                    </a:p>
                  </a:txBody>
                  <a:tcPr/>
                </a:tc>
                <a:tc>
                  <a:txBody>
                    <a:bodyPr/>
                    <a:lstStyle/>
                    <a:p>
                      <a:r>
                        <a:rPr lang="en-US" dirty="0" smtClean="0"/>
                        <a:t>31</a:t>
                      </a:r>
                      <a:endParaRPr lang="en-US" dirty="0"/>
                    </a:p>
                  </a:txBody>
                  <a:tcPr/>
                </a:tc>
                <a:tc>
                  <a:txBody>
                    <a:bodyPr/>
                    <a:lstStyle/>
                    <a:p>
                      <a:r>
                        <a:rPr lang="en-US" dirty="0" smtClean="0"/>
                        <a:t>24</a:t>
                      </a:r>
                      <a:endParaRPr lang="en-US" dirty="0"/>
                    </a:p>
                  </a:txBody>
                  <a:tcPr/>
                </a:tc>
                <a:tc>
                  <a:txBody>
                    <a:bodyPr/>
                    <a:lstStyle/>
                    <a:p>
                      <a:r>
                        <a:rPr lang="en-US" dirty="0" smtClean="0"/>
                        <a:t>23</a:t>
                      </a:r>
                      <a:endParaRPr lang="en-US" dirty="0"/>
                    </a:p>
                  </a:txBody>
                  <a:tcPr/>
                </a:tc>
                <a:tc>
                  <a:txBody>
                    <a:bodyPr/>
                    <a:lstStyle/>
                    <a:p>
                      <a:r>
                        <a:rPr lang="en-US" dirty="0" smtClean="0"/>
                        <a:t>236</a:t>
                      </a:r>
                      <a:endParaRPr lang="en-US" dirty="0"/>
                    </a:p>
                  </a:txBody>
                  <a:tcPr/>
                </a:tc>
                <a:extLst>
                  <a:ext uri="{0D108BD9-81ED-4DB2-BD59-A6C34878D82A}">
                    <a16:rowId xmlns:a16="http://schemas.microsoft.com/office/drawing/2014/main" val="295447642"/>
                  </a:ext>
                </a:extLst>
              </a:tr>
            </a:tbl>
          </a:graphicData>
        </a:graphic>
      </p:graphicFrame>
    </p:spTree>
    <p:extLst>
      <p:ext uri="{BB962C8B-B14F-4D97-AF65-F5344CB8AC3E}">
        <p14:creationId xmlns:p14="http://schemas.microsoft.com/office/powerpoint/2010/main" val="23810576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Analyzing the result when using average of entailment probabilities</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30</a:t>
            </a:fld>
            <a:endParaRPr lang="ja" altLang="en-US"/>
          </a:p>
        </p:txBody>
      </p:sp>
      <p:sp>
        <p:nvSpPr>
          <p:cNvPr id="5" name="TextBox 4"/>
          <p:cNvSpPr txBox="1"/>
          <p:nvPr/>
        </p:nvSpPr>
        <p:spPr>
          <a:xfrm>
            <a:off x="311700" y="619129"/>
            <a:ext cx="2808871" cy="523220"/>
          </a:xfrm>
          <a:prstGeom prst="rect">
            <a:avLst/>
          </a:prstGeom>
          <a:noFill/>
        </p:spPr>
        <p:txBody>
          <a:bodyPr wrap="square" rtlCol="0">
            <a:spAutoFit/>
          </a:bodyPr>
          <a:lstStyle/>
          <a:p>
            <a:r>
              <a:rPr lang="en-US" dirty="0" smtClean="0"/>
              <a:t>Fear</a:t>
            </a:r>
          </a:p>
          <a:p>
            <a:r>
              <a:rPr lang="en-US" dirty="0" smtClean="0"/>
              <a:t>Mostly mistaken with surprise </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267891566"/>
              </p:ext>
            </p:extLst>
          </p:nvPr>
        </p:nvGraphicFramePr>
        <p:xfrm>
          <a:off x="551543" y="1142349"/>
          <a:ext cx="7351484" cy="1315720"/>
        </p:xfrm>
        <a:graphic>
          <a:graphicData uri="http://schemas.openxmlformats.org/drawingml/2006/table">
            <a:tbl>
              <a:tblPr firstRow="1" bandRow="1">
                <a:tableStyleId>{5C22544A-7EE6-4342-B048-85BDC9FD1C3A}</a:tableStyleId>
              </a:tblPr>
              <a:tblGrid>
                <a:gridCol w="1050212">
                  <a:extLst>
                    <a:ext uri="{9D8B030D-6E8A-4147-A177-3AD203B41FA5}">
                      <a16:colId xmlns:a16="http://schemas.microsoft.com/office/drawing/2014/main" val="1934448306"/>
                    </a:ext>
                  </a:extLst>
                </a:gridCol>
                <a:gridCol w="1050212">
                  <a:extLst>
                    <a:ext uri="{9D8B030D-6E8A-4147-A177-3AD203B41FA5}">
                      <a16:colId xmlns:a16="http://schemas.microsoft.com/office/drawing/2014/main" val="1997647850"/>
                    </a:ext>
                  </a:extLst>
                </a:gridCol>
                <a:gridCol w="1050212">
                  <a:extLst>
                    <a:ext uri="{9D8B030D-6E8A-4147-A177-3AD203B41FA5}">
                      <a16:colId xmlns:a16="http://schemas.microsoft.com/office/drawing/2014/main" val="3867447366"/>
                    </a:ext>
                  </a:extLst>
                </a:gridCol>
                <a:gridCol w="1050212">
                  <a:extLst>
                    <a:ext uri="{9D8B030D-6E8A-4147-A177-3AD203B41FA5}">
                      <a16:colId xmlns:a16="http://schemas.microsoft.com/office/drawing/2014/main" val="3617165250"/>
                    </a:ext>
                  </a:extLst>
                </a:gridCol>
                <a:gridCol w="1050212">
                  <a:extLst>
                    <a:ext uri="{9D8B030D-6E8A-4147-A177-3AD203B41FA5}">
                      <a16:colId xmlns:a16="http://schemas.microsoft.com/office/drawing/2014/main" val="4086460020"/>
                    </a:ext>
                  </a:extLst>
                </a:gridCol>
                <a:gridCol w="1050212">
                  <a:extLst>
                    <a:ext uri="{9D8B030D-6E8A-4147-A177-3AD203B41FA5}">
                      <a16:colId xmlns:a16="http://schemas.microsoft.com/office/drawing/2014/main" val="3215899374"/>
                    </a:ext>
                  </a:extLst>
                </a:gridCol>
                <a:gridCol w="1050212">
                  <a:extLst>
                    <a:ext uri="{9D8B030D-6E8A-4147-A177-3AD203B41FA5}">
                      <a16:colId xmlns:a16="http://schemas.microsoft.com/office/drawing/2014/main" val="99646279"/>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1559298557"/>
                  </a:ext>
                </a:extLst>
              </a:tr>
              <a:tr h="370840">
                <a:tc>
                  <a:txBody>
                    <a:bodyPr/>
                    <a:lstStyle/>
                    <a:p>
                      <a:r>
                        <a:rPr lang="en-US" dirty="0" smtClean="0"/>
                        <a:t>The</a:t>
                      </a:r>
                      <a:r>
                        <a:rPr lang="en-US" baseline="0" dirty="0" smtClean="0"/>
                        <a:t> number of predicted data</a:t>
                      </a:r>
                      <a:endParaRPr lang="en-US" dirty="0"/>
                    </a:p>
                  </a:txBody>
                  <a:tcPr/>
                </a:tc>
                <a:tc>
                  <a:txBody>
                    <a:bodyPr/>
                    <a:lstStyle/>
                    <a:p>
                      <a:r>
                        <a:rPr lang="en-US" dirty="0" smtClean="0"/>
                        <a:t>241</a:t>
                      </a:r>
                      <a:endParaRPr lang="en-US" dirty="0"/>
                    </a:p>
                  </a:txBody>
                  <a:tcPr/>
                </a:tc>
                <a:tc>
                  <a:txBody>
                    <a:bodyPr/>
                    <a:lstStyle/>
                    <a:p>
                      <a:r>
                        <a:rPr lang="en-US" dirty="0" smtClean="0"/>
                        <a:t>435</a:t>
                      </a:r>
                      <a:endParaRPr lang="en-US" dirty="0"/>
                    </a:p>
                  </a:txBody>
                  <a:tcPr/>
                </a:tc>
                <a:tc>
                  <a:txBody>
                    <a:bodyPr/>
                    <a:lstStyle/>
                    <a:p>
                      <a:r>
                        <a:rPr lang="en-US" dirty="0" smtClean="0"/>
                        <a:t>928</a:t>
                      </a:r>
                      <a:endParaRPr lang="en-US" dirty="0"/>
                    </a:p>
                  </a:txBody>
                  <a:tcPr/>
                </a:tc>
                <a:tc>
                  <a:txBody>
                    <a:bodyPr/>
                    <a:lstStyle/>
                    <a:p>
                      <a:r>
                        <a:rPr lang="en-US" dirty="0" smtClean="0"/>
                        <a:t>289</a:t>
                      </a:r>
                      <a:endParaRPr lang="en-US" dirty="0"/>
                    </a:p>
                  </a:txBody>
                  <a:tcPr/>
                </a:tc>
                <a:tc>
                  <a:txBody>
                    <a:bodyPr/>
                    <a:lstStyle/>
                    <a:p>
                      <a:r>
                        <a:rPr lang="en-US" dirty="0" smtClean="0"/>
                        <a:t>125</a:t>
                      </a:r>
                      <a:endParaRPr lang="en-US" dirty="0"/>
                    </a:p>
                  </a:txBody>
                  <a:tcPr/>
                </a:tc>
                <a:tc>
                  <a:txBody>
                    <a:bodyPr/>
                    <a:lstStyle/>
                    <a:p>
                      <a:r>
                        <a:rPr lang="en-US" dirty="0" smtClean="0"/>
                        <a:t>798</a:t>
                      </a:r>
                      <a:endParaRPr lang="en-US" dirty="0"/>
                    </a:p>
                  </a:txBody>
                  <a:tcPr/>
                </a:tc>
                <a:extLst>
                  <a:ext uri="{0D108BD9-81ED-4DB2-BD59-A6C34878D82A}">
                    <a16:rowId xmlns:a16="http://schemas.microsoft.com/office/drawing/2014/main" val="3942325766"/>
                  </a:ext>
                </a:extLst>
              </a:tr>
            </a:tbl>
          </a:graphicData>
        </a:graphic>
      </p:graphicFrame>
      <p:sp>
        <p:nvSpPr>
          <p:cNvPr id="7" name="TextBox 6"/>
          <p:cNvSpPr txBox="1"/>
          <p:nvPr/>
        </p:nvSpPr>
        <p:spPr>
          <a:xfrm>
            <a:off x="311699" y="2467426"/>
            <a:ext cx="2808871" cy="523220"/>
          </a:xfrm>
          <a:prstGeom prst="rect">
            <a:avLst/>
          </a:prstGeom>
          <a:noFill/>
        </p:spPr>
        <p:txBody>
          <a:bodyPr wrap="square" rtlCol="0">
            <a:spAutoFit/>
          </a:bodyPr>
          <a:lstStyle/>
          <a:p>
            <a:r>
              <a:rPr lang="en-US" dirty="0" smtClean="0"/>
              <a:t>Joy</a:t>
            </a:r>
          </a:p>
          <a:p>
            <a:r>
              <a:rPr lang="en-US" dirty="0" smtClean="0"/>
              <a:t>Mostly mistaken with surprise</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2979389214"/>
              </p:ext>
            </p:extLst>
          </p:nvPr>
        </p:nvGraphicFramePr>
        <p:xfrm>
          <a:off x="500743" y="3190964"/>
          <a:ext cx="7482111" cy="1315720"/>
        </p:xfrm>
        <a:graphic>
          <a:graphicData uri="http://schemas.openxmlformats.org/drawingml/2006/table">
            <a:tbl>
              <a:tblPr firstRow="1" bandRow="1">
                <a:tableStyleId>{5C22544A-7EE6-4342-B048-85BDC9FD1C3A}</a:tableStyleId>
              </a:tblPr>
              <a:tblGrid>
                <a:gridCol w="1068873">
                  <a:extLst>
                    <a:ext uri="{9D8B030D-6E8A-4147-A177-3AD203B41FA5}">
                      <a16:colId xmlns:a16="http://schemas.microsoft.com/office/drawing/2014/main" val="2847196214"/>
                    </a:ext>
                  </a:extLst>
                </a:gridCol>
                <a:gridCol w="1068873">
                  <a:extLst>
                    <a:ext uri="{9D8B030D-6E8A-4147-A177-3AD203B41FA5}">
                      <a16:colId xmlns:a16="http://schemas.microsoft.com/office/drawing/2014/main" val="1657017502"/>
                    </a:ext>
                  </a:extLst>
                </a:gridCol>
                <a:gridCol w="1068873">
                  <a:extLst>
                    <a:ext uri="{9D8B030D-6E8A-4147-A177-3AD203B41FA5}">
                      <a16:colId xmlns:a16="http://schemas.microsoft.com/office/drawing/2014/main" val="1149774079"/>
                    </a:ext>
                  </a:extLst>
                </a:gridCol>
                <a:gridCol w="1068873">
                  <a:extLst>
                    <a:ext uri="{9D8B030D-6E8A-4147-A177-3AD203B41FA5}">
                      <a16:colId xmlns:a16="http://schemas.microsoft.com/office/drawing/2014/main" val="1878248773"/>
                    </a:ext>
                  </a:extLst>
                </a:gridCol>
                <a:gridCol w="1068873">
                  <a:extLst>
                    <a:ext uri="{9D8B030D-6E8A-4147-A177-3AD203B41FA5}">
                      <a16:colId xmlns:a16="http://schemas.microsoft.com/office/drawing/2014/main" val="1674327711"/>
                    </a:ext>
                  </a:extLst>
                </a:gridCol>
                <a:gridCol w="1068873">
                  <a:extLst>
                    <a:ext uri="{9D8B030D-6E8A-4147-A177-3AD203B41FA5}">
                      <a16:colId xmlns:a16="http://schemas.microsoft.com/office/drawing/2014/main" val="283305263"/>
                    </a:ext>
                  </a:extLst>
                </a:gridCol>
                <a:gridCol w="1068873">
                  <a:extLst>
                    <a:ext uri="{9D8B030D-6E8A-4147-A177-3AD203B41FA5}">
                      <a16:colId xmlns:a16="http://schemas.microsoft.com/office/drawing/2014/main" val="1679908446"/>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3420846393"/>
                  </a:ext>
                </a:extLst>
              </a:tr>
              <a:tr h="370840">
                <a:tc>
                  <a:txBody>
                    <a:bodyPr/>
                    <a:lstStyle/>
                    <a:p>
                      <a:r>
                        <a:rPr lang="en-US" dirty="0" smtClean="0"/>
                        <a:t>The</a:t>
                      </a:r>
                      <a:r>
                        <a:rPr lang="en-US" baseline="0" dirty="0" smtClean="0"/>
                        <a:t> number of predicted data</a:t>
                      </a:r>
                      <a:endParaRPr lang="en-US" dirty="0"/>
                    </a:p>
                  </a:txBody>
                  <a:tcPr/>
                </a:tc>
                <a:tc>
                  <a:txBody>
                    <a:bodyPr/>
                    <a:lstStyle/>
                    <a:p>
                      <a:r>
                        <a:rPr lang="en-US" dirty="0" smtClean="0"/>
                        <a:t>729</a:t>
                      </a:r>
                      <a:endParaRPr lang="en-US" dirty="0"/>
                    </a:p>
                  </a:txBody>
                  <a:tcPr/>
                </a:tc>
                <a:tc>
                  <a:txBody>
                    <a:bodyPr/>
                    <a:lstStyle/>
                    <a:p>
                      <a:r>
                        <a:rPr lang="en-US" dirty="0" smtClean="0"/>
                        <a:t>375</a:t>
                      </a:r>
                      <a:endParaRPr lang="en-US" dirty="0"/>
                    </a:p>
                  </a:txBody>
                  <a:tcPr/>
                </a:tc>
                <a:tc>
                  <a:txBody>
                    <a:bodyPr/>
                    <a:lstStyle/>
                    <a:p>
                      <a:r>
                        <a:rPr lang="en-US" dirty="0" smtClean="0"/>
                        <a:t>539</a:t>
                      </a:r>
                      <a:endParaRPr lang="en-US" dirty="0"/>
                    </a:p>
                  </a:txBody>
                  <a:tcPr/>
                </a:tc>
                <a:tc>
                  <a:txBody>
                    <a:bodyPr/>
                    <a:lstStyle/>
                    <a:p>
                      <a:r>
                        <a:rPr lang="en-US" dirty="0" smtClean="0"/>
                        <a:t>3360</a:t>
                      </a:r>
                      <a:endParaRPr lang="en-US" dirty="0"/>
                    </a:p>
                  </a:txBody>
                  <a:tcPr/>
                </a:tc>
                <a:tc>
                  <a:txBody>
                    <a:bodyPr/>
                    <a:lstStyle/>
                    <a:p>
                      <a:r>
                        <a:rPr lang="en-US" dirty="0" smtClean="0"/>
                        <a:t>407</a:t>
                      </a:r>
                      <a:endParaRPr lang="en-US" dirty="0"/>
                    </a:p>
                  </a:txBody>
                  <a:tcPr/>
                </a:tc>
                <a:tc>
                  <a:txBody>
                    <a:bodyPr/>
                    <a:lstStyle/>
                    <a:p>
                      <a:r>
                        <a:rPr lang="en-US" dirty="0" smtClean="0"/>
                        <a:t>2830</a:t>
                      </a:r>
                      <a:endParaRPr lang="en-US" dirty="0"/>
                    </a:p>
                  </a:txBody>
                  <a:tcPr/>
                </a:tc>
                <a:extLst>
                  <a:ext uri="{0D108BD9-81ED-4DB2-BD59-A6C34878D82A}">
                    <a16:rowId xmlns:a16="http://schemas.microsoft.com/office/drawing/2014/main" val="1011726491"/>
                  </a:ext>
                </a:extLst>
              </a:tr>
            </a:tbl>
          </a:graphicData>
        </a:graphic>
      </p:graphicFrame>
      <p:sp>
        <p:nvSpPr>
          <p:cNvPr id="9" name="TextBox 8"/>
          <p:cNvSpPr txBox="1"/>
          <p:nvPr/>
        </p:nvSpPr>
        <p:spPr>
          <a:xfrm>
            <a:off x="311700" y="4666343"/>
            <a:ext cx="3541843" cy="307777"/>
          </a:xfrm>
          <a:prstGeom prst="rect">
            <a:avLst/>
          </a:prstGeom>
          <a:noFill/>
        </p:spPr>
        <p:txBody>
          <a:bodyPr wrap="square" rtlCol="0">
            <a:spAutoFit/>
          </a:bodyPr>
          <a:lstStyle/>
          <a:p>
            <a:r>
              <a:rPr lang="en-US" dirty="0" smtClean="0"/>
              <a:t>Many labels are mistaken with surprise.</a:t>
            </a:r>
            <a:endParaRPr lang="en-US" dirty="0"/>
          </a:p>
        </p:txBody>
      </p:sp>
    </p:spTree>
    <p:extLst>
      <p:ext uri="{BB962C8B-B14F-4D97-AF65-F5344CB8AC3E}">
        <p14:creationId xmlns:p14="http://schemas.microsoft.com/office/powerpoint/2010/main" val="2998966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None/>
            </a:pPr>
            <a:r>
              <a:rPr lang="en-US" dirty="0"/>
              <a:t>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31</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3858154702"/>
              </p:ext>
            </p:extLst>
          </p:nvPr>
        </p:nvGraphicFramePr>
        <p:xfrm>
          <a:off x="689429" y="1071980"/>
          <a:ext cx="7257145" cy="1529080"/>
        </p:xfrm>
        <a:graphic>
          <a:graphicData uri="http://schemas.openxmlformats.org/drawingml/2006/table">
            <a:tbl>
              <a:tblPr firstRow="1" bandRow="1">
                <a:tableStyleId>{5C22544A-7EE6-4342-B048-85BDC9FD1C3A}</a:tableStyleId>
              </a:tblPr>
              <a:tblGrid>
                <a:gridCol w="1036735">
                  <a:extLst>
                    <a:ext uri="{9D8B030D-6E8A-4147-A177-3AD203B41FA5}">
                      <a16:colId xmlns:a16="http://schemas.microsoft.com/office/drawing/2014/main" val="4186413033"/>
                    </a:ext>
                  </a:extLst>
                </a:gridCol>
                <a:gridCol w="1036735">
                  <a:extLst>
                    <a:ext uri="{9D8B030D-6E8A-4147-A177-3AD203B41FA5}">
                      <a16:colId xmlns:a16="http://schemas.microsoft.com/office/drawing/2014/main" val="2221943150"/>
                    </a:ext>
                  </a:extLst>
                </a:gridCol>
                <a:gridCol w="1036735">
                  <a:extLst>
                    <a:ext uri="{9D8B030D-6E8A-4147-A177-3AD203B41FA5}">
                      <a16:colId xmlns:a16="http://schemas.microsoft.com/office/drawing/2014/main" val="3614719554"/>
                    </a:ext>
                  </a:extLst>
                </a:gridCol>
                <a:gridCol w="1036735">
                  <a:extLst>
                    <a:ext uri="{9D8B030D-6E8A-4147-A177-3AD203B41FA5}">
                      <a16:colId xmlns:a16="http://schemas.microsoft.com/office/drawing/2014/main" val="1109738634"/>
                    </a:ext>
                  </a:extLst>
                </a:gridCol>
                <a:gridCol w="1036735">
                  <a:extLst>
                    <a:ext uri="{9D8B030D-6E8A-4147-A177-3AD203B41FA5}">
                      <a16:colId xmlns:a16="http://schemas.microsoft.com/office/drawing/2014/main" val="1747675356"/>
                    </a:ext>
                  </a:extLst>
                </a:gridCol>
                <a:gridCol w="1036735">
                  <a:extLst>
                    <a:ext uri="{9D8B030D-6E8A-4147-A177-3AD203B41FA5}">
                      <a16:colId xmlns:a16="http://schemas.microsoft.com/office/drawing/2014/main" val="2359810947"/>
                    </a:ext>
                  </a:extLst>
                </a:gridCol>
                <a:gridCol w="1036735">
                  <a:extLst>
                    <a:ext uri="{9D8B030D-6E8A-4147-A177-3AD203B41FA5}">
                      <a16:colId xmlns:a16="http://schemas.microsoft.com/office/drawing/2014/main" val="1259945498"/>
                    </a:ext>
                  </a:extLst>
                </a:gridCol>
              </a:tblGrid>
              <a:tr h="37084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3875411231"/>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The</a:t>
                      </a:r>
                      <a:r>
                        <a:rPr lang="en-US" baseline="0" dirty="0" smtClean="0"/>
                        <a:t> number of predicted data</a:t>
                      </a:r>
                      <a:endParaRPr lang="en-US" dirty="0" smtClean="0"/>
                    </a:p>
                    <a:p>
                      <a:endParaRPr lang="en-US" dirty="0"/>
                    </a:p>
                  </a:txBody>
                  <a:tcPr/>
                </a:tc>
                <a:tc>
                  <a:txBody>
                    <a:bodyPr/>
                    <a:lstStyle/>
                    <a:p>
                      <a:r>
                        <a:rPr lang="en-US" dirty="0" smtClean="0"/>
                        <a:t>729</a:t>
                      </a:r>
                      <a:endParaRPr lang="en-US" dirty="0"/>
                    </a:p>
                  </a:txBody>
                  <a:tcPr/>
                </a:tc>
                <a:tc>
                  <a:txBody>
                    <a:bodyPr/>
                    <a:lstStyle/>
                    <a:p>
                      <a:r>
                        <a:rPr lang="en-US" dirty="0" smtClean="0"/>
                        <a:t>375</a:t>
                      </a:r>
                      <a:endParaRPr lang="en-US" dirty="0"/>
                    </a:p>
                  </a:txBody>
                  <a:tcPr/>
                </a:tc>
                <a:tc>
                  <a:txBody>
                    <a:bodyPr/>
                    <a:lstStyle/>
                    <a:p>
                      <a:r>
                        <a:rPr lang="en-US" dirty="0" smtClean="0"/>
                        <a:t>539</a:t>
                      </a:r>
                      <a:endParaRPr lang="en-US" dirty="0"/>
                    </a:p>
                  </a:txBody>
                  <a:tcPr/>
                </a:tc>
                <a:tc>
                  <a:txBody>
                    <a:bodyPr/>
                    <a:lstStyle/>
                    <a:p>
                      <a:r>
                        <a:rPr lang="en-US" dirty="0" smtClean="0"/>
                        <a:t>3360</a:t>
                      </a:r>
                      <a:endParaRPr lang="en-US" dirty="0"/>
                    </a:p>
                  </a:txBody>
                  <a:tcPr/>
                </a:tc>
                <a:tc>
                  <a:txBody>
                    <a:bodyPr/>
                    <a:lstStyle/>
                    <a:p>
                      <a:r>
                        <a:rPr lang="en-US" dirty="0" smtClean="0"/>
                        <a:t>407</a:t>
                      </a:r>
                      <a:endParaRPr lang="en-US" dirty="0"/>
                    </a:p>
                  </a:txBody>
                  <a:tcPr/>
                </a:tc>
                <a:tc>
                  <a:txBody>
                    <a:bodyPr/>
                    <a:lstStyle/>
                    <a:p>
                      <a:r>
                        <a:rPr lang="en-US" dirty="0" smtClean="0"/>
                        <a:t>2830</a:t>
                      </a:r>
                      <a:endParaRPr lang="en-US" dirty="0"/>
                    </a:p>
                  </a:txBody>
                  <a:tcPr/>
                </a:tc>
                <a:extLst>
                  <a:ext uri="{0D108BD9-81ED-4DB2-BD59-A6C34878D82A}">
                    <a16:rowId xmlns:a16="http://schemas.microsoft.com/office/drawing/2014/main" val="3164149753"/>
                  </a:ext>
                </a:extLst>
              </a:tr>
            </a:tbl>
          </a:graphicData>
        </a:graphic>
      </p:graphicFrame>
      <p:sp>
        <p:nvSpPr>
          <p:cNvPr id="6" name="TextBox 5"/>
          <p:cNvSpPr txBox="1"/>
          <p:nvPr/>
        </p:nvSpPr>
        <p:spPr>
          <a:xfrm>
            <a:off x="580571" y="717429"/>
            <a:ext cx="3389086" cy="307777"/>
          </a:xfrm>
          <a:prstGeom prst="rect">
            <a:avLst/>
          </a:prstGeom>
          <a:noFill/>
        </p:spPr>
        <p:txBody>
          <a:bodyPr wrap="square" rtlCol="0">
            <a:spAutoFit/>
          </a:bodyPr>
          <a:lstStyle/>
          <a:p>
            <a:r>
              <a:rPr lang="en-US" dirty="0" smtClean="0"/>
              <a:t>Sadness  mostly mistaken with joy </a:t>
            </a:r>
            <a:endParaRPr lang="en-US" dirty="0"/>
          </a:p>
        </p:txBody>
      </p:sp>
      <p:sp>
        <p:nvSpPr>
          <p:cNvPr id="7" name="TextBox 6"/>
          <p:cNvSpPr txBox="1"/>
          <p:nvPr/>
        </p:nvSpPr>
        <p:spPr>
          <a:xfrm>
            <a:off x="580570" y="2792563"/>
            <a:ext cx="3483429" cy="307777"/>
          </a:xfrm>
          <a:prstGeom prst="rect">
            <a:avLst/>
          </a:prstGeom>
          <a:noFill/>
        </p:spPr>
        <p:txBody>
          <a:bodyPr wrap="square" rtlCol="0">
            <a:spAutoFit/>
          </a:bodyPr>
          <a:lstStyle/>
          <a:p>
            <a:r>
              <a:rPr lang="en-US" dirty="0" smtClean="0"/>
              <a:t>Surprise mostly mistaken with  joy </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717855246"/>
              </p:ext>
            </p:extLst>
          </p:nvPr>
        </p:nvGraphicFramePr>
        <p:xfrm>
          <a:off x="689428" y="3178628"/>
          <a:ext cx="7257145" cy="1512620"/>
        </p:xfrm>
        <a:graphic>
          <a:graphicData uri="http://schemas.openxmlformats.org/drawingml/2006/table">
            <a:tbl>
              <a:tblPr firstRow="1" bandRow="1">
                <a:tableStyleId>{5C22544A-7EE6-4342-B048-85BDC9FD1C3A}</a:tableStyleId>
              </a:tblPr>
              <a:tblGrid>
                <a:gridCol w="1036735">
                  <a:extLst>
                    <a:ext uri="{9D8B030D-6E8A-4147-A177-3AD203B41FA5}">
                      <a16:colId xmlns:a16="http://schemas.microsoft.com/office/drawing/2014/main" val="4186413033"/>
                    </a:ext>
                  </a:extLst>
                </a:gridCol>
                <a:gridCol w="1036735">
                  <a:extLst>
                    <a:ext uri="{9D8B030D-6E8A-4147-A177-3AD203B41FA5}">
                      <a16:colId xmlns:a16="http://schemas.microsoft.com/office/drawing/2014/main" val="2221943150"/>
                    </a:ext>
                  </a:extLst>
                </a:gridCol>
                <a:gridCol w="1036735">
                  <a:extLst>
                    <a:ext uri="{9D8B030D-6E8A-4147-A177-3AD203B41FA5}">
                      <a16:colId xmlns:a16="http://schemas.microsoft.com/office/drawing/2014/main" val="3614719554"/>
                    </a:ext>
                  </a:extLst>
                </a:gridCol>
                <a:gridCol w="1036735">
                  <a:extLst>
                    <a:ext uri="{9D8B030D-6E8A-4147-A177-3AD203B41FA5}">
                      <a16:colId xmlns:a16="http://schemas.microsoft.com/office/drawing/2014/main" val="1109738634"/>
                    </a:ext>
                  </a:extLst>
                </a:gridCol>
                <a:gridCol w="1036735">
                  <a:extLst>
                    <a:ext uri="{9D8B030D-6E8A-4147-A177-3AD203B41FA5}">
                      <a16:colId xmlns:a16="http://schemas.microsoft.com/office/drawing/2014/main" val="1747675356"/>
                    </a:ext>
                  </a:extLst>
                </a:gridCol>
                <a:gridCol w="1036735">
                  <a:extLst>
                    <a:ext uri="{9D8B030D-6E8A-4147-A177-3AD203B41FA5}">
                      <a16:colId xmlns:a16="http://schemas.microsoft.com/office/drawing/2014/main" val="2359810947"/>
                    </a:ext>
                  </a:extLst>
                </a:gridCol>
                <a:gridCol w="1036735">
                  <a:extLst>
                    <a:ext uri="{9D8B030D-6E8A-4147-A177-3AD203B41FA5}">
                      <a16:colId xmlns:a16="http://schemas.microsoft.com/office/drawing/2014/main" val="1259945498"/>
                    </a:ext>
                  </a:extLst>
                </a:gridCol>
              </a:tblGrid>
              <a:tr h="354380">
                <a:tc>
                  <a:txBody>
                    <a:bodyPr/>
                    <a:lstStyle/>
                    <a:p>
                      <a:r>
                        <a:rPr lang="en-US" dirty="0" smtClean="0"/>
                        <a:t>label</a:t>
                      </a:r>
                      <a:endParaRPr lang="en-US" dirty="0"/>
                    </a:p>
                  </a:txBody>
                  <a:tcPr/>
                </a:tc>
                <a:tc>
                  <a:txBody>
                    <a:bodyPr/>
                    <a:lstStyle/>
                    <a:p>
                      <a:r>
                        <a:rPr lang="en-US" dirty="0" smtClean="0"/>
                        <a:t>anger</a:t>
                      </a:r>
                      <a:endParaRPr lang="en-US" dirty="0"/>
                    </a:p>
                  </a:txBody>
                  <a:tcPr/>
                </a:tc>
                <a:tc>
                  <a:txBody>
                    <a:bodyPr/>
                    <a:lstStyle/>
                    <a:p>
                      <a:r>
                        <a:rPr lang="en-US" dirty="0" smtClean="0"/>
                        <a:t>disgust</a:t>
                      </a:r>
                      <a:endParaRPr lang="en-US" dirty="0"/>
                    </a:p>
                  </a:txBody>
                  <a:tcPr/>
                </a:tc>
                <a:tc>
                  <a:txBody>
                    <a:bodyPr/>
                    <a:lstStyle/>
                    <a:p>
                      <a:r>
                        <a:rPr lang="en-US" dirty="0" smtClean="0"/>
                        <a:t>fear</a:t>
                      </a:r>
                      <a:endParaRPr lang="en-US" dirty="0"/>
                    </a:p>
                  </a:txBody>
                  <a:tcPr/>
                </a:tc>
                <a:tc>
                  <a:txBody>
                    <a:bodyPr/>
                    <a:lstStyle/>
                    <a:p>
                      <a:r>
                        <a:rPr lang="en-US" dirty="0" smtClean="0"/>
                        <a:t>joy</a:t>
                      </a:r>
                      <a:endParaRPr lang="en-US" dirty="0"/>
                    </a:p>
                  </a:txBody>
                  <a:tcPr/>
                </a:tc>
                <a:tc>
                  <a:txBody>
                    <a:bodyPr/>
                    <a:lstStyle/>
                    <a:p>
                      <a:r>
                        <a:rPr lang="en-US" dirty="0" smtClean="0"/>
                        <a:t>sadness</a:t>
                      </a:r>
                      <a:endParaRPr lang="en-US" dirty="0"/>
                    </a:p>
                  </a:txBody>
                  <a:tcPr/>
                </a:tc>
                <a:tc>
                  <a:txBody>
                    <a:bodyPr/>
                    <a:lstStyle/>
                    <a:p>
                      <a:r>
                        <a:rPr lang="en-US" dirty="0" smtClean="0"/>
                        <a:t>surprise</a:t>
                      </a:r>
                      <a:endParaRPr lang="en-US" dirty="0"/>
                    </a:p>
                  </a:txBody>
                  <a:tcPr/>
                </a:tc>
                <a:extLst>
                  <a:ext uri="{0D108BD9-81ED-4DB2-BD59-A6C34878D82A}">
                    <a16:rowId xmlns:a16="http://schemas.microsoft.com/office/drawing/2014/main" val="3875411231"/>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The</a:t>
                      </a:r>
                      <a:r>
                        <a:rPr lang="en-US" baseline="0" dirty="0" smtClean="0"/>
                        <a:t> number of predicted data</a:t>
                      </a:r>
                      <a:endParaRPr lang="en-US" dirty="0" smtClean="0"/>
                    </a:p>
                    <a:p>
                      <a:endParaRPr lang="en-US" dirty="0"/>
                    </a:p>
                  </a:txBody>
                  <a:tcPr/>
                </a:tc>
                <a:tc>
                  <a:txBody>
                    <a:bodyPr/>
                    <a:lstStyle/>
                    <a:p>
                      <a:r>
                        <a:rPr lang="en-US" dirty="0" smtClean="0"/>
                        <a:t>322</a:t>
                      </a:r>
                      <a:endParaRPr lang="en-US" dirty="0"/>
                    </a:p>
                  </a:txBody>
                  <a:tcPr/>
                </a:tc>
                <a:tc>
                  <a:txBody>
                    <a:bodyPr/>
                    <a:lstStyle/>
                    <a:p>
                      <a:r>
                        <a:rPr lang="en-US" dirty="0" smtClean="0"/>
                        <a:t>101</a:t>
                      </a:r>
                      <a:endParaRPr lang="en-US" dirty="0"/>
                    </a:p>
                  </a:txBody>
                  <a:tcPr/>
                </a:tc>
                <a:tc>
                  <a:txBody>
                    <a:bodyPr/>
                    <a:lstStyle/>
                    <a:p>
                      <a:r>
                        <a:rPr lang="en-US" dirty="0" smtClean="0"/>
                        <a:t>142</a:t>
                      </a:r>
                      <a:endParaRPr lang="en-US" dirty="0"/>
                    </a:p>
                  </a:txBody>
                  <a:tcPr/>
                </a:tc>
                <a:tc>
                  <a:txBody>
                    <a:bodyPr/>
                    <a:lstStyle/>
                    <a:p>
                      <a:r>
                        <a:rPr lang="en-US" dirty="0" smtClean="0"/>
                        <a:t>947</a:t>
                      </a:r>
                      <a:endParaRPr lang="en-US" dirty="0"/>
                    </a:p>
                  </a:txBody>
                  <a:tcPr/>
                </a:tc>
                <a:tc>
                  <a:txBody>
                    <a:bodyPr/>
                    <a:lstStyle/>
                    <a:p>
                      <a:r>
                        <a:rPr lang="en-US" dirty="0" smtClean="0"/>
                        <a:t>99</a:t>
                      </a:r>
                      <a:endParaRPr lang="en-US" dirty="0"/>
                    </a:p>
                  </a:txBody>
                  <a:tcPr/>
                </a:tc>
                <a:tc>
                  <a:txBody>
                    <a:bodyPr/>
                    <a:lstStyle/>
                    <a:p>
                      <a:r>
                        <a:rPr lang="en-US" dirty="0" smtClean="0"/>
                        <a:t>2239</a:t>
                      </a:r>
                      <a:endParaRPr lang="en-US" dirty="0"/>
                    </a:p>
                  </a:txBody>
                  <a:tcPr/>
                </a:tc>
                <a:extLst>
                  <a:ext uri="{0D108BD9-81ED-4DB2-BD59-A6C34878D82A}">
                    <a16:rowId xmlns:a16="http://schemas.microsoft.com/office/drawing/2014/main" val="3164149753"/>
                  </a:ext>
                </a:extLst>
              </a:tr>
            </a:tbl>
          </a:graphicData>
        </a:graphic>
      </p:graphicFrame>
      <p:sp>
        <p:nvSpPr>
          <p:cNvPr id="3" name="TextBox 2"/>
          <p:cNvSpPr txBox="1"/>
          <p:nvPr/>
        </p:nvSpPr>
        <p:spPr>
          <a:xfrm>
            <a:off x="1132114" y="152400"/>
            <a:ext cx="6589486" cy="307777"/>
          </a:xfrm>
          <a:prstGeom prst="rect">
            <a:avLst/>
          </a:prstGeom>
          <a:noFill/>
        </p:spPr>
        <p:txBody>
          <a:bodyPr wrap="square" rtlCol="0">
            <a:spAutoFit/>
          </a:bodyPr>
          <a:lstStyle/>
          <a:p>
            <a:r>
              <a:rPr lang="en-US" b="1" dirty="0"/>
              <a:t>Analyzing the result when using average of entailment probabilities</a:t>
            </a:r>
            <a:endParaRPr lang="en-US" dirty="0"/>
          </a:p>
        </p:txBody>
      </p:sp>
    </p:spTree>
    <p:extLst>
      <p:ext uri="{BB962C8B-B14F-4D97-AF65-F5344CB8AC3E}">
        <p14:creationId xmlns:p14="http://schemas.microsoft.com/office/powerpoint/2010/main" val="1736544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32</a:t>
            </a:fld>
            <a:endParaRPr lang="ja" altLang="en-US"/>
          </a:p>
        </p:txBody>
      </p:sp>
      <p:sp>
        <p:nvSpPr>
          <p:cNvPr id="5" name="TextBox 4"/>
          <p:cNvSpPr txBox="1"/>
          <p:nvPr/>
        </p:nvSpPr>
        <p:spPr>
          <a:xfrm>
            <a:off x="449943" y="595086"/>
            <a:ext cx="8454571" cy="1815882"/>
          </a:xfrm>
          <a:prstGeom prst="rect">
            <a:avLst/>
          </a:prstGeom>
          <a:noFill/>
        </p:spPr>
        <p:txBody>
          <a:bodyPr wrap="square" rtlCol="0">
            <a:spAutoFit/>
          </a:bodyPr>
          <a:lstStyle/>
          <a:p>
            <a:r>
              <a:rPr lang="en-US" dirty="0" smtClean="0"/>
              <a:t>For the first dataset, the emotion guilt lead to many wrong predictions.</a:t>
            </a:r>
          </a:p>
          <a:p>
            <a:endParaRPr lang="en-US" dirty="0" smtClean="0"/>
          </a:p>
          <a:p>
            <a:r>
              <a:rPr lang="en-US" dirty="0" smtClean="0"/>
              <a:t>For the second dataset, the emotion surprise lead to many </a:t>
            </a:r>
            <a:r>
              <a:rPr lang="en-US" dirty="0"/>
              <a:t>wrong predictions.</a:t>
            </a:r>
          </a:p>
          <a:p>
            <a:endParaRPr lang="en-US" dirty="0"/>
          </a:p>
          <a:p>
            <a:r>
              <a:rPr lang="en-US" dirty="0" smtClean="0"/>
              <a:t>One idea: checking the average of entailment probabilities of the synonyms of these emotions and removing the synonyms that had highest average of entailment probabilities when the predicted label is wrong </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052183122"/>
              </p:ext>
            </p:extLst>
          </p:nvPr>
        </p:nvGraphicFramePr>
        <p:xfrm>
          <a:off x="290286" y="2470620"/>
          <a:ext cx="8773884" cy="1249680"/>
        </p:xfrm>
        <a:graphic>
          <a:graphicData uri="http://schemas.openxmlformats.org/drawingml/2006/table">
            <a:tbl>
              <a:tblPr firstRow="1" bandRow="1">
                <a:tableStyleId>{5C22544A-7EE6-4342-B048-85BDC9FD1C3A}</a:tableStyleId>
              </a:tblPr>
              <a:tblGrid>
                <a:gridCol w="1253412">
                  <a:extLst>
                    <a:ext uri="{9D8B030D-6E8A-4147-A177-3AD203B41FA5}">
                      <a16:colId xmlns:a16="http://schemas.microsoft.com/office/drawing/2014/main" val="66126344"/>
                    </a:ext>
                  </a:extLst>
                </a:gridCol>
                <a:gridCol w="1253412">
                  <a:extLst>
                    <a:ext uri="{9D8B030D-6E8A-4147-A177-3AD203B41FA5}">
                      <a16:colId xmlns:a16="http://schemas.microsoft.com/office/drawing/2014/main" val="3764743508"/>
                    </a:ext>
                  </a:extLst>
                </a:gridCol>
                <a:gridCol w="1078281">
                  <a:extLst>
                    <a:ext uri="{9D8B030D-6E8A-4147-A177-3AD203B41FA5}">
                      <a16:colId xmlns:a16="http://schemas.microsoft.com/office/drawing/2014/main" val="69789843"/>
                    </a:ext>
                  </a:extLst>
                </a:gridCol>
                <a:gridCol w="1411235">
                  <a:extLst>
                    <a:ext uri="{9D8B030D-6E8A-4147-A177-3AD203B41FA5}">
                      <a16:colId xmlns:a16="http://schemas.microsoft.com/office/drawing/2014/main" val="82333940"/>
                    </a:ext>
                  </a:extLst>
                </a:gridCol>
                <a:gridCol w="1270720">
                  <a:extLst>
                    <a:ext uri="{9D8B030D-6E8A-4147-A177-3AD203B41FA5}">
                      <a16:colId xmlns:a16="http://schemas.microsoft.com/office/drawing/2014/main" val="2912292999"/>
                    </a:ext>
                  </a:extLst>
                </a:gridCol>
                <a:gridCol w="1253412">
                  <a:extLst>
                    <a:ext uri="{9D8B030D-6E8A-4147-A177-3AD203B41FA5}">
                      <a16:colId xmlns:a16="http://schemas.microsoft.com/office/drawing/2014/main" val="4179808133"/>
                    </a:ext>
                  </a:extLst>
                </a:gridCol>
                <a:gridCol w="1253412">
                  <a:extLst>
                    <a:ext uri="{9D8B030D-6E8A-4147-A177-3AD203B41FA5}">
                      <a16:colId xmlns:a16="http://schemas.microsoft.com/office/drawing/2014/main" val="423774953"/>
                    </a:ext>
                  </a:extLst>
                </a:gridCol>
              </a:tblGrid>
              <a:tr h="412411">
                <a:tc>
                  <a:txBody>
                    <a:bodyPr/>
                    <a:lstStyle/>
                    <a:p>
                      <a:r>
                        <a:rPr lang="en-US" dirty="0" smtClean="0"/>
                        <a:t>synonym</a:t>
                      </a:r>
                      <a:endParaRPr lang="en-US" dirty="0"/>
                    </a:p>
                  </a:txBody>
                  <a:tcPr/>
                </a:tc>
                <a:tc>
                  <a:txBody>
                    <a:bodyPr/>
                    <a:lstStyle/>
                    <a:p>
                      <a:r>
                        <a:rPr lang="en-US" dirty="0" smtClean="0"/>
                        <a:t>guilt</a:t>
                      </a:r>
                      <a:endParaRPr lang="en-US" dirty="0"/>
                    </a:p>
                  </a:txBody>
                  <a:tcPr/>
                </a:tc>
                <a:tc>
                  <a:txBody>
                    <a:bodyPr/>
                    <a:lstStyle/>
                    <a:p>
                      <a:r>
                        <a:rPr lang="en-US" dirty="0" smtClean="0"/>
                        <a:t>culpability</a:t>
                      </a:r>
                      <a:endParaRPr lang="en-US" dirty="0"/>
                    </a:p>
                  </a:txBody>
                  <a:tcPr/>
                </a:tc>
                <a:tc>
                  <a:txBody>
                    <a:bodyPr/>
                    <a:lstStyle/>
                    <a:p>
                      <a:r>
                        <a:rPr lang="en-US" dirty="0" smtClean="0"/>
                        <a:t>responsibility</a:t>
                      </a:r>
                      <a:endParaRPr lang="en-US" dirty="0"/>
                    </a:p>
                  </a:txBody>
                  <a:tcPr/>
                </a:tc>
                <a:tc>
                  <a:txBody>
                    <a:bodyPr/>
                    <a:lstStyle/>
                    <a:p>
                      <a:r>
                        <a:rPr lang="en-US" dirty="0" smtClean="0"/>
                        <a:t>blameworthy</a:t>
                      </a:r>
                      <a:endParaRPr lang="en-US" dirty="0"/>
                    </a:p>
                  </a:txBody>
                  <a:tcPr/>
                </a:tc>
                <a:tc>
                  <a:txBody>
                    <a:bodyPr/>
                    <a:lstStyle/>
                    <a:p>
                      <a:r>
                        <a:rPr lang="en-US" dirty="0" smtClean="0"/>
                        <a:t>misconduct</a:t>
                      </a:r>
                      <a:endParaRPr lang="en-US" dirty="0"/>
                    </a:p>
                  </a:txBody>
                  <a:tcPr/>
                </a:tc>
                <a:tc>
                  <a:txBody>
                    <a:bodyPr/>
                    <a:lstStyle/>
                    <a:p>
                      <a:r>
                        <a:rPr lang="en-US" dirty="0" smtClean="0"/>
                        <a:t>regret</a:t>
                      </a:r>
                      <a:endParaRPr lang="en-US" dirty="0"/>
                    </a:p>
                  </a:txBody>
                  <a:tcPr/>
                </a:tc>
                <a:extLst>
                  <a:ext uri="{0D108BD9-81ED-4DB2-BD59-A6C34878D82A}">
                    <a16:rowId xmlns:a16="http://schemas.microsoft.com/office/drawing/2014/main" val="1389118379"/>
                  </a:ext>
                </a:extLst>
              </a:tr>
              <a:tr h="563750">
                <a:tc>
                  <a:txBody>
                    <a:bodyPr/>
                    <a:lstStyle/>
                    <a:p>
                      <a:r>
                        <a:rPr lang="en-US" dirty="0" smtClean="0"/>
                        <a:t>Average</a:t>
                      </a:r>
                      <a:r>
                        <a:rPr lang="en-US" baseline="0" dirty="0" smtClean="0"/>
                        <a:t> of entailment probability</a:t>
                      </a:r>
                      <a:endParaRPr lang="en-US" dirty="0"/>
                    </a:p>
                  </a:txBody>
                  <a:tcPr/>
                </a:tc>
                <a:tc>
                  <a:txBody>
                    <a:bodyPr/>
                    <a:lstStyle/>
                    <a:p>
                      <a:r>
                        <a:rPr lang="en-US" dirty="0" smtClean="0"/>
                        <a:t>0.67</a:t>
                      </a:r>
                      <a:endParaRPr lang="en-US" dirty="0"/>
                    </a:p>
                  </a:txBody>
                  <a:tcPr/>
                </a:tc>
                <a:tc>
                  <a:txBody>
                    <a:bodyPr/>
                    <a:lstStyle/>
                    <a:p>
                      <a:r>
                        <a:rPr lang="en-US" dirty="0" smtClean="0"/>
                        <a:t>0.84</a:t>
                      </a:r>
                      <a:endParaRPr lang="en-US" dirty="0"/>
                    </a:p>
                  </a:txBody>
                  <a:tcPr/>
                </a:tc>
                <a:tc>
                  <a:txBody>
                    <a:bodyPr/>
                    <a:lstStyle/>
                    <a:p>
                      <a:r>
                        <a:rPr lang="en-US" dirty="0" smtClean="0"/>
                        <a:t>0.81</a:t>
                      </a:r>
                      <a:endParaRPr lang="en-US" dirty="0"/>
                    </a:p>
                  </a:txBody>
                  <a:tcPr/>
                </a:tc>
                <a:tc>
                  <a:txBody>
                    <a:bodyPr/>
                    <a:lstStyle/>
                    <a:p>
                      <a:r>
                        <a:rPr lang="en-US" dirty="0" smtClean="0"/>
                        <a:t>0.62</a:t>
                      </a:r>
                      <a:endParaRPr lang="en-US" dirty="0"/>
                    </a:p>
                  </a:txBody>
                  <a:tcPr/>
                </a:tc>
                <a:tc>
                  <a:txBody>
                    <a:bodyPr/>
                    <a:lstStyle/>
                    <a:p>
                      <a:r>
                        <a:rPr lang="en-US" dirty="0" smtClean="0"/>
                        <a:t>0.78</a:t>
                      </a:r>
                      <a:endParaRPr lang="en-US" dirty="0"/>
                    </a:p>
                  </a:txBody>
                  <a:tcPr/>
                </a:tc>
                <a:tc>
                  <a:txBody>
                    <a:bodyPr/>
                    <a:lstStyle/>
                    <a:p>
                      <a:r>
                        <a:rPr lang="en-US" dirty="0" smtClean="0"/>
                        <a:t>0.64</a:t>
                      </a:r>
                      <a:endParaRPr lang="en-US" dirty="0"/>
                    </a:p>
                  </a:txBody>
                  <a:tcPr/>
                </a:tc>
                <a:extLst>
                  <a:ext uri="{0D108BD9-81ED-4DB2-BD59-A6C34878D82A}">
                    <a16:rowId xmlns:a16="http://schemas.microsoft.com/office/drawing/2014/main" val="3008251010"/>
                  </a:ext>
                </a:extLst>
              </a:tr>
            </a:tbl>
          </a:graphicData>
        </a:graphic>
      </p:graphicFrame>
      <p:sp>
        <p:nvSpPr>
          <p:cNvPr id="12" name="TextBox 11"/>
          <p:cNvSpPr txBox="1"/>
          <p:nvPr/>
        </p:nvSpPr>
        <p:spPr>
          <a:xfrm>
            <a:off x="312057" y="2134723"/>
            <a:ext cx="1625600" cy="307777"/>
          </a:xfrm>
          <a:prstGeom prst="rect">
            <a:avLst/>
          </a:prstGeom>
          <a:noFill/>
        </p:spPr>
        <p:txBody>
          <a:bodyPr wrap="square" rtlCol="0">
            <a:spAutoFit/>
          </a:bodyPr>
          <a:lstStyle/>
          <a:p>
            <a:r>
              <a:rPr lang="en-US" dirty="0" smtClean="0"/>
              <a:t>For </a:t>
            </a:r>
            <a:r>
              <a:rPr lang="en-US" dirty="0" err="1" smtClean="0"/>
              <a:t>Isear</a:t>
            </a:r>
            <a:r>
              <a:rPr lang="en-US" dirty="0" smtClean="0"/>
              <a:t> dataset</a:t>
            </a:r>
            <a:endParaRPr lang="en-US" dirty="0"/>
          </a:p>
        </p:txBody>
      </p:sp>
      <p:sp>
        <p:nvSpPr>
          <p:cNvPr id="14" name="TextBox 13"/>
          <p:cNvSpPr txBox="1"/>
          <p:nvPr/>
        </p:nvSpPr>
        <p:spPr>
          <a:xfrm>
            <a:off x="1415143" y="50800"/>
            <a:ext cx="5094514" cy="307777"/>
          </a:xfrm>
          <a:prstGeom prst="rect">
            <a:avLst/>
          </a:prstGeom>
          <a:noFill/>
        </p:spPr>
        <p:txBody>
          <a:bodyPr wrap="square" rtlCol="0">
            <a:spAutoFit/>
          </a:bodyPr>
          <a:lstStyle/>
          <a:p>
            <a:pPr algn="ctr"/>
            <a:r>
              <a:rPr lang="en-US" b="1" dirty="0" smtClean="0"/>
              <a:t>Summary of analysis and another idea</a:t>
            </a:r>
            <a:endParaRPr lang="en-US" b="1" dirty="0"/>
          </a:p>
        </p:txBody>
      </p:sp>
      <p:sp>
        <p:nvSpPr>
          <p:cNvPr id="15" name="TextBox 14"/>
          <p:cNvSpPr txBox="1"/>
          <p:nvPr/>
        </p:nvSpPr>
        <p:spPr>
          <a:xfrm>
            <a:off x="312057" y="3740221"/>
            <a:ext cx="8498114" cy="954107"/>
          </a:xfrm>
          <a:prstGeom prst="rect">
            <a:avLst/>
          </a:prstGeom>
          <a:noFill/>
        </p:spPr>
        <p:txBody>
          <a:bodyPr wrap="square" rtlCol="0">
            <a:spAutoFit/>
          </a:bodyPr>
          <a:lstStyle/>
          <a:p>
            <a:r>
              <a:rPr lang="en-US" dirty="0" smtClean="0"/>
              <a:t>So, the synonyms, culpability and responsibility had higher average of entailment probabilities  and </a:t>
            </a:r>
            <a:r>
              <a:rPr lang="en-US" dirty="0" smtClean="0"/>
              <a:t> lead to </a:t>
            </a:r>
            <a:r>
              <a:rPr lang="en-US" dirty="0" smtClean="0"/>
              <a:t>more wrong predictions. </a:t>
            </a:r>
          </a:p>
          <a:p>
            <a:r>
              <a:rPr lang="en-US" dirty="0" smtClean="0"/>
              <a:t>When removing these and getting average of entailment probabilities of other synonyms: </a:t>
            </a:r>
            <a:r>
              <a:rPr lang="en-US" dirty="0" err="1" smtClean="0"/>
              <a:t>Macro_average</a:t>
            </a:r>
            <a:r>
              <a:rPr lang="en-US" dirty="0" smtClean="0"/>
              <a:t> F1: 0.64</a:t>
            </a:r>
            <a:endParaRPr lang="en-US" dirty="0"/>
          </a:p>
        </p:txBody>
      </p:sp>
    </p:spTree>
    <p:extLst>
      <p:ext uri="{BB962C8B-B14F-4D97-AF65-F5344CB8AC3E}">
        <p14:creationId xmlns:p14="http://schemas.microsoft.com/office/powerpoint/2010/main" val="337074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Summary of analysis and another idea</a:t>
            </a:r>
            <a:br>
              <a:rPr lang="en-US" b="1" dirty="0"/>
            </a:b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33</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1402228704"/>
              </p:ext>
            </p:extLst>
          </p:nvPr>
        </p:nvGraphicFramePr>
        <p:xfrm>
          <a:off x="533799" y="1290946"/>
          <a:ext cx="8128001" cy="124968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984833052"/>
                    </a:ext>
                  </a:extLst>
                </a:gridCol>
                <a:gridCol w="1161143">
                  <a:extLst>
                    <a:ext uri="{9D8B030D-6E8A-4147-A177-3AD203B41FA5}">
                      <a16:colId xmlns:a16="http://schemas.microsoft.com/office/drawing/2014/main" val="1998663853"/>
                    </a:ext>
                  </a:extLst>
                </a:gridCol>
                <a:gridCol w="1161143">
                  <a:extLst>
                    <a:ext uri="{9D8B030D-6E8A-4147-A177-3AD203B41FA5}">
                      <a16:colId xmlns:a16="http://schemas.microsoft.com/office/drawing/2014/main" val="3611238207"/>
                    </a:ext>
                  </a:extLst>
                </a:gridCol>
                <a:gridCol w="1161143">
                  <a:extLst>
                    <a:ext uri="{9D8B030D-6E8A-4147-A177-3AD203B41FA5}">
                      <a16:colId xmlns:a16="http://schemas.microsoft.com/office/drawing/2014/main" val="533483423"/>
                    </a:ext>
                  </a:extLst>
                </a:gridCol>
                <a:gridCol w="1161143">
                  <a:extLst>
                    <a:ext uri="{9D8B030D-6E8A-4147-A177-3AD203B41FA5}">
                      <a16:colId xmlns:a16="http://schemas.microsoft.com/office/drawing/2014/main" val="1572028555"/>
                    </a:ext>
                  </a:extLst>
                </a:gridCol>
                <a:gridCol w="1161143">
                  <a:extLst>
                    <a:ext uri="{9D8B030D-6E8A-4147-A177-3AD203B41FA5}">
                      <a16:colId xmlns:a16="http://schemas.microsoft.com/office/drawing/2014/main" val="3741277743"/>
                    </a:ext>
                  </a:extLst>
                </a:gridCol>
                <a:gridCol w="1161143">
                  <a:extLst>
                    <a:ext uri="{9D8B030D-6E8A-4147-A177-3AD203B41FA5}">
                      <a16:colId xmlns:a16="http://schemas.microsoft.com/office/drawing/2014/main" val="3419326067"/>
                    </a:ext>
                  </a:extLst>
                </a:gridCol>
              </a:tblGrid>
              <a:tr h="370840">
                <a:tc>
                  <a:txBody>
                    <a:bodyPr/>
                    <a:lstStyle/>
                    <a:p>
                      <a:r>
                        <a:rPr lang="en-US" dirty="0" smtClean="0"/>
                        <a:t>synonym</a:t>
                      </a:r>
                      <a:endParaRPr lang="en-US" dirty="0"/>
                    </a:p>
                  </a:txBody>
                  <a:tcPr/>
                </a:tc>
                <a:tc>
                  <a:txBody>
                    <a:bodyPr/>
                    <a:lstStyle/>
                    <a:p>
                      <a:r>
                        <a:rPr lang="en-US" dirty="0" smtClean="0"/>
                        <a:t>surprise</a:t>
                      </a:r>
                      <a:endParaRPr lang="en-US" dirty="0"/>
                    </a:p>
                  </a:txBody>
                  <a:tcPr/>
                </a:tc>
                <a:tc>
                  <a:txBody>
                    <a:bodyPr/>
                    <a:lstStyle/>
                    <a:p>
                      <a:r>
                        <a:rPr lang="en-US" dirty="0" smtClean="0"/>
                        <a:t>astonishment</a:t>
                      </a:r>
                      <a:endParaRPr lang="en-US" dirty="0"/>
                    </a:p>
                  </a:txBody>
                  <a:tcPr/>
                </a:tc>
                <a:tc>
                  <a:txBody>
                    <a:bodyPr/>
                    <a:lstStyle/>
                    <a:p>
                      <a:r>
                        <a:rPr lang="en-US" dirty="0" smtClean="0"/>
                        <a:t>amazement</a:t>
                      </a:r>
                      <a:endParaRPr lang="en-US" dirty="0"/>
                    </a:p>
                  </a:txBody>
                  <a:tcPr/>
                </a:tc>
                <a:tc>
                  <a:txBody>
                    <a:bodyPr/>
                    <a:lstStyle/>
                    <a:p>
                      <a:r>
                        <a:rPr lang="en-US" dirty="0" smtClean="0"/>
                        <a:t>impression</a:t>
                      </a:r>
                      <a:endParaRPr lang="en-US" dirty="0"/>
                    </a:p>
                  </a:txBody>
                  <a:tcPr/>
                </a:tc>
                <a:tc>
                  <a:txBody>
                    <a:bodyPr/>
                    <a:lstStyle/>
                    <a:p>
                      <a:r>
                        <a:rPr lang="en-US" dirty="0" smtClean="0"/>
                        <a:t>perplexity</a:t>
                      </a:r>
                      <a:endParaRPr lang="en-US" dirty="0"/>
                    </a:p>
                  </a:txBody>
                  <a:tcPr/>
                </a:tc>
                <a:tc>
                  <a:txBody>
                    <a:bodyPr/>
                    <a:lstStyle/>
                    <a:p>
                      <a:r>
                        <a:rPr lang="en-US" dirty="0" smtClean="0"/>
                        <a:t>shock</a:t>
                      </a:r>
                      <a:endParaRPr lang="en-US" dirty="0"/>
                    </a:p>
                  </a:txBody>
                  <a:tcPr/>
                </a:tc>
                <a:extLst>
                  <a:ext uri="{0D108BD9-81ED-4DB2-BD59-A6C34878D82A}">
                    <a16:rowId xmlns:a16="http://schemas.microsoft.com/office/drawing/2014/main" val="2739362725"/>
                  </a:ext>
                </a:extLst>
              </a:tr>
              <a:tr h="370840">
                <a:tc>
                  <a:txBody>
                    <a:bodyPr/>
                    <a:lstStyle/>
                    <a:p>
                      <a:r>
                        <a:rPr lang="en-US" dirty="0" smtClean="0"/>
                        <a:t>Average</a:t>
                      </a:r>
                      <a:r>
                        <a:rPr lang="en-US" baseline="0" dirty="0" smtClean="0"/>
                        <a:t> of entailment probability</a:t>
                      </a:r>
                      <a:endParaRPr lang="en-US" dirty="0"/>
                    </a:p>
                  </a:txBody>
                  <a:tcPr/>
                </a:tc>
                <a:tc>
                  <a:txBody>
                    <a:bodyPr/>
                    <a:lstStyle/>
                    <a:p>
                      <a:r>
                        <a:rPr lang="en-US" dirty="0" smtClean="0"/>
                        <a:t>0.62</a:t>
                      </a:r>
                      <a:endParaRPr lang="en-US" dirty="0"/>
                    </a:p>
                  </a:txBody>
                  <a:tcPr/>
                </a:tc>
                <a:tc>
                  <a:txBody>
                    <a:bodyPr/>
                    <a:lstStyle/>
                    <a:p>
                      <a:r>
                        <a:rPr lang="en-US" dirty="0" smtClean="0"/>
                        <a:t>0.54</a:t>
                      </a:r>
                      <a:endParaRPr lang="en-US" dirty="0"/>
                    </a:p>
                  </a:txBody>
                  <a:tcPr/>
                </a:tc>
                <a:tc>
                  <a:txBody>
                    <a:bodyPr/>
                    <a:lstStyle/>
                    <a:p>
                      <a:r>
                        <a:rPr lang="en-US" dirty="0" smtClean="0"/>
                        <a:t>0.5</a:t>
                      </a:r>
                      <a:endParaRPr lang="en-US" dirty="0"/>
                    </a:p>
                  </a:txBody>
                  <a:tcPr/>
                </a:tc>
                <a:tc>
                  <a:txBody>
                    <a:bodyPr/>
                    <a:lstStyle/>
                    <a:p>
                      <a:r>
                        <a:rPr lang="en-US" dirty="0" smtClean="0"/>
                        <a:t>0.77</a:t>
                      </a:r>
                      <a:endParaRPr lang="en-US" dirty="0"/>
                    </a:p>
                  </a:txBody>
                  <a:tcPr/>
                </a:tc>
                <a:tc>
                  <a:txBody>
                    <a:bodyPr/>
                    <a:lstStyle/>
                    <a:p>
                      <a:r>
                        <a:rPr lang="en-US" dirty="0" smtClean="0"/>
                        <a:t>0.57</a:t>
                      </a:r>
                      <a:endParaRPr lang="en-US" dirty="0"/>
                    </a:p>
                  </a:txBody>
                  <a:tcPr/>
                </a:tc>
                <a:tc>
                  <a:txBody>
                    <a:bodyPr/>
                    <a:lstStyle/>
                    <a:p>
                      <a:r>
                        <a:rPr lang="en-US" dirty="0" smtClean="0"/>
                        <a:t>0.42</a:t>
                      </a:r>
                      <a:endParaRPr lang="en-US" dirty="0"/>
                    </a:p>
                  </a:txBody>
                  <a:tcPr/>
                </a:tc>
                <a:extLst>
                  <a:ext uri="{0D108BD9-81ED-4DB2-BD59-A6C34878D82A}">
                    <a16:rowId xmlns:a16="http://schemas.microsoft.com/office/drawing/2014/main" val="1718080248"/>
                  </a:ext>
                </a:extLst>
              </a:tr>
            </a:tbl>
          </a:graphicData>
        </a:graphic>
      </p:graphicFrame>
      <p:sp>
        <p:nvSpPr>
          <p:cNvPr id="6" name="Rectangle 5"/>
          <p:cNvSpPr/>
          <p:nvPr/>
        </p:nvSpPr>
        <p:spPr>
          <a:xfrm>
            <a:off x="435580" y="912191"/>
            <a:ext cx="1436612" cy="307777"/>
          </a:xfrm>
          <a:prstGeom prst="rect">
            <a:avLst/>
          </a:prstGeom>
        </p:spPr>
        <p:txBody>
          <a:bodyPr wrap="none">
            <a:spAutoFit/>
          </a:bodyPr>
          <a:lstStyle/>
          <a:p>
            <a:r>
              <a:rPr lang="en-US" dirty="0"/>
              <a:t>For Tec dataset</a:t>
            </a:r>
          </a:p>
        </p:txBody>
      </p:sp>
      <p:sp>
        <p:nvSpPr>
          <p:cNvPr id="8" name="TextBox 7"/>
          <p:cNvSpPr txBox="1"/>
          <p:nvPr/>
        </p:nvSpPr>
        <p:spPr>
          <a:xfrm>
            <a:off x="533799" y="2735652"/>
            <a:ext cx="7870771" cy="954107"/>
          </a:xfrm>
          <a:prstGeom prst="rect">
            <a:avLst/>
          </a:prstGeom>
          <a:noFill/>
        </p:spPr>
        <p:txBody>
          <a:bodyPr wrap="square" rtlCol="0">
            <a:spAutoFit/>
          </a:bodyPr>
          <a:lstStyle/>
          <a:p>
            <a:r>
              <a:rPr lang="en-US" dirty="0" smtClean="0"/>
              <a:t>So, the synonym, impression, had </a:t>
            </a:r>
            <a:r>
              <a:rPr lang="en-US" dirty="0"/>
              <a:t>higher average of entailment probabilities </a:t>
            </a:r>
            <a:r>
              <a:rPr lang="en-US" dirty="0" smtClean="0"/>
              <a:t>and  </a:t>
            </a:r>
            <a:r>
              <a:rPr lang="en-US" dirty="0"/>
              <a:t>lead to more wrong </a:t>
            </a:r>
            <a:r>
              <a:rPr lang="en-US" dirty="0" smtClean="0"/>
              <a:t>predictions.</a:t>
            </a:r>
          </a:p>
          <a:p>
            <a:endParaRPr lang="en-US" dirty="0"/>
          </a:p>
          <a:p>
            <a:r>
              <a:rPr lang="en-US" dirty="0" smtClean="0"/>
              <a:t>So, one idea, removing this and getting average of entailment probabilities of other synonyms.  </a:t>
            </a:r>
            <a:endParaRPr lang="en-US" dirty="0"/>
          </a:p>
        </p:txBody>
      </p:sp>
    </p:spTree>
    <p:extLst>
      <p:ext uri="{BB962C8B-B14F-4D97-AF65-F5344CB8AC3E}">
        <p14:creationId xmlns:p14="http://schemas.microsoft.com/office/powerpoint/2010/main" val="337891765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126631</TotalTime>
  <Words>2212</Words>
  <Application>Microsoft Office PowerPoint</Application>
  <PresentationFormat>On-screen Show (16:9)</PresentationFormat>
  <Paragraphs>878</Paragraphs>
  <Slides>33</Slides>
  <Notes>10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33</vt:i4>
      </vt:variant>
    </vt:vector>
  </HeadingPairs>
  <TitlesOfParts>
    <vt:vector size="36" baseType="lpstr">
      <vt:lpstr>Arial</vt:lpstr>
      <vt:lpstr>Simple Light</vt:lpstr>
      <vt:lpstr>Simple Light</vt:lpstr>
      <vt:lpstr>Zero shot emotion classification in text (analyzing the results of using synonyms of emotions and other ideas) </vt:lpstr>
      <vt:lpstr>Using synonyms of emotions (review)</vt:lpstr>
      <vt:lpstr>Using synonyms of emotions (review) </vt:lpstr>
      <vt:lpstr>Prompts of synonyms (review)</vt:lpstr>
      <vt:lpstr>PowerPoint Presentation</vt:lpstr>
      <vt:lpstr>Using the idea of threshold</vt:lpstr>
      <vt:lpstr>Using the idea of threshold</vt:lpstr>
      <vt:lpstr>average of entailment probabilities for each synonym of the emotion</vt:lpstr>
      <vt:lpstr>average of entailment probabilities for each synonym of the emotion</vt:lpstr>
      <vt:lpstr>average of entailment probabilities for each synonym of the emotion</vt:lpstr>
      <vt:lpstr>average of entailment probabilities for each synonym of the emotion and their comparison</vt:lpstr>
      <vt:lpstr>average of entailment probabilities for each synonym of the emotion</vt:lpstr>
      <vt:lpstr>average of entailment probabilities for each synonym of the emotion</vt:lpstr>
      <vt:lpstr>average of entailment probabilities for each synonym of the emotion</vt:lpstr>
      <vt:lpstr>average of entailment probabilities for each synonym of the emotion an their comparison</vt:lpstr>
      <vt:lpstr>average of entailment probabilities for each synonym of the emotion and their comparison</vt:lpstr>
      <vt:lpstr>average of entailment probabilities for each synonym of the emotion</vt:lpstr>
      <vt:lpstr>average of entailment probabilities for each synonym of the emotion</vt:lpstr>
      <vt:lpstr>The comparison of average of entailment probabilities of synonyms of the emotion</vt:lpstr>
      <vt:lpstr>average of entailment probabilities for each synonym of the emotion</vt:lpstr>
      <vt:lpstr>average of entailment probabilities for each synonym of the emotion</vt:lpstr>
      <vt:lpstr>average of entailment probabilities for each synonym of the emotion</vt:lpstr>
      <vt:lpstr>average of entailment probabilities for each synonym of the emotion</vt:lpstr>
      <vt:lpstr>The comparison of entailment probabilities for each synonym of the emotion</vt:lpstr>
      <vt:lpstr>Analyzing the result when using average of entailment probabilities</vt:lpstr>
      <vt:lpstr>Analyzing the result when using average of entailment probabilities</vt:lpstr>
      <vt:lpstr>Analyzing the result when using average of entailment probabilities</vt:lpstr>
      <vt:lpstr>Analyzing the result when using average of entailment probabilities</vt:lpstr>
      <vt:lpstr>Analyzing the result when using average of entailment probabilities</vt:lpstr>
      <vt:lpstr>Analyzing the result when using average of entailment probabilities</vt:lpstr>
      <vt:lpstr>s</vt:lpstr>
      <vt:lpstr>PowerPoint Presentation</vt:lpstr>
      <vt:lpstr>Summary of analysis and another idea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shot emotion classification in text (using prompt)</dc:title>
  <cp:lastModifiedBy>tabejamaat</cp:lastModifiedBy>
  <cp:revision>1441</cp:revision>
  <dcterms:modified xsi:type="dcterms:W3CDTF">2025-11-13T09:06:35Z</dcterms:modified>
</cp:coreProperties>
</file>