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53" r:id="rId1"/>
    <p:sldMasterId id="2147483654" r:id="rId2"/>
  </p:sldMasterIdLst>
  <p:notesMasterIdLst>
    <p:notesMasterId r:id="rId18"/>
  </p:notesMasterIdLst>
  <p:sldIdLst>
    <p:sldId id="256" r:id="rId3"/>
    <p:sldId id="321" r:id="rId4"/>
    <p:sldId id="331" r:id="rId5"/>
    <p:sldId id="367" r:id="rId6"/>
    <p:sldId id="346" r:id="rId7"/>
    <p:sldId id="347" r:id="rId8"/>
    <p:sldId id="348" r:id="rId9"/>
    <p:sldId id="349" r:id="rId10"/>
    <p:sldId id="354" r:id="rId11"/>
    <p:sldId id="355" r:id="rId12"/>
    <p:sldId id="356" r:id="rId13"/>
    <p:sldId id="362" r:id="rId14"/>
    <p:sldId id="363" r:id="rId15"/>
    <p:sldId id="365" r:id="rId16"/>
    <p:sldId id="366" r:id="rId17"/>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182" y="62"/>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
        <p:cNvGrpSpPr/>
        <p:nvPr/>
      </p:nvGrpSpPr>
      <p:grpSpPr>
        <a:xfrm>
          <a:off x="0" y="0"/>
          <a:ext cx="0" cy="0"/>
          <a:chOff x="0" y="0"/>
          <a:chExt cx="0" cy="0"/>
        </a:xfrm>
      </p:grpSpPr>
      <p:sp>
        <p:nvSpPr>
          <p:cNvPr id="41" name="Google Shape;41;g2dc1d83022f_1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 name="Google Shape;42;g2dc1d83022f_1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7520721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0938580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0442948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458732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5043639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3923278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9545403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タイトル">
  <p:cSld name="CUSTOM">
    <p:spTree>
      <p:nvGrpSpPr>
        <p:cNvPr id="1" name="Shape 12"/>
        <p:cNvGrpSpPr/>
        <p:nvPr/>
      </p:nvGrpSpPr>
      <p:grpSpPr>
        <a:xfrm>
          <a:off x="0" y="0"/>
          <a:ext cx="0" cy="0"/>
          <a:chOff x="0" y="0"/>
          <a:chExt cx="0" cy="0"/>
        </a:xfrm>
      </p:grpSpPr>
      <p:sp>
        <p:nvSpPr>
          <p:cNvPr id="13" name="Google Shape;13;p2"/>
          <p:cNvSpPr txBox="1">
            <a:spLocks noGrp="1"/>
          </p:cNvSpPr>
          <p:nvPr>
            <p:ph type="sldNum" idx="12"/>
          </p:nvPr>
        </p:nvSpPr>
        <p:spPr>
          <a:xfrm>
            <a:off x="8397284" y="4816651"/>
            <a:ext cx="548700" cy="393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4"/>
        <p:cNvGrpSpPr/>
        <p:nvPr/>
      </p:nvGrpSpPr>
      <p:grpSpPr>
        <a:xfrm>
          <a:off x="0" y="0"/>
          <a:ext cx="0" cy="0"/>
          <a:chOff x="0" y="0"/>
          <a:chExt cx="0" cy="0"/>
        </a:xfrm>
      </p:grpSpPr>
      <p:sp>
        <p:nvSpPr>
          <p:cNvPr id="15" name="Google Shape;15;p3"/>
          <p:cNvSpPr txBox="1">
            <a:spLocks noGrp="1"/>
          </p:cNvSpPr>
          <p:nvPr>
            <p:ph type="title"/>
          </p:nvPr>
        </p:nvSpPr>
        <p:spPr>
          <a:xfrm>
            <a:off x="311700" y="0"/>
            <a:ext cx="8520600" cy="5727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SzPts val="1400"/>
              <a:buChar char="●"/>
              <a:defRPr/>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a:endParaRPr/>
          </a:p>
        </p:txBody>
      </p:sp>
      <p:sp>
        <p:nvSpPr>
          <p:cNvPr id="16" name="Google Shape;16;p3"/>
          <p:cNvSpPr txBox="1">
            <a:spLocks noGrp="1"/>
          </p:cNvSpPr>
          <p:nvPr>
            <p:ph type="body" idx="1"/>
          </p:nvPr>
        </p:nvSpPr>
        <p:spPr>
          <a:xfrm>
            <a:off x="311700" y="738975"/>
            <a:ext cx="8520600" cy="3938400"/>
          </a:xfrm>
          <a:prstGeom prst="rect">
            <a:avLst/>
          </a:prstGeom>
        </p:spPr>
        <p:txBody>
          <a:bodyPr spcFirstLastPara="1" wrap="square" lIns="91425" tIns="91425" rIns="91425" bIns="91425" anchor="t" anchorCtr="0">
            <a:normAutofit/>
          </a:bodyPr>
          <a:lstStyle>
            <a:lvl1pPr marL="457200" lvl="0" indent="-342900" rtl="0">
              <a:spcBef>
                <a:spcPts val="0"/>
              </a:spcBef>
              <a:spcAft>
                <a:spcPts val="0"/>
              </a:spcAft>
              <a:buSzPts val="18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17" name="Google Shape;17;p3"/>
          <p:cNvSpPr txBox="1">
            <a:spLocks noGrp="1"/>
          </p:cNvSpPr>
          <p:nvPr>
            <p:ph type="sldNum" idx="12"/>
          </p:nvPr>
        </p:nvSpPr>
        <p:spPr>
          <a:xfrm>
            <a:off x="8179550" y="4843650"/>
            <a:ext cx="964500" cy="339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8"/>
        <p:cNvGrpSpPr/>
        <p:nvPr/>
      </p:nvGrpSpPr>
      <p:grpSpPr>
        <a:xfrm>
          <a:off x="0" y="0"/>
          <a:ext cx="0" cy="0"/>
          <a:chOff x="0" y="0"/>
          <a:chExt cx="0" cy="0"/>
        </a:xfrm>
      </p:grpSpPr>
      <p:sp>
        <p:nvSpPr>
          <p:cNvPr id="19" name="Google Shape;19;p4"/>
          <p:cNvSpPr txBox="1">
            <a:spLocks noGrp="1"/>
          </p:cNvSpPr>
          <p:nvPr>
            <p:ph type="sldNum" idx="12"/>
          </p:nvPr>
        </p:nvSpPr>
        <p:spPr>
          <a:xfrm>
            <a:off x="8179550" y="4843650"/>
            <a:ext cx="964500" cy="3396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ja"/>
              <a:t>‹#›</a:t>
            </a:fld>
            <a:endParaRPr/>
          </a:p>
        </p:txBody>
      </p:sp>
      <p:sp>
        <p:nvSpPr>
          <p:cNvPr id="20" name="Google Shape;20;p4"/>
          <p:cNvSpPr txBox="1">
            <a:spLocks noGrp="1"/>
          </p:cNvSpPr>
          <p:nvPr>
            <p:ph type="title"/>
          </p:nvPr>
        </p:nvSpPr>
        <p:spPr>
          <a:xfrm>
            <a:off x="311700" y="0"/>
            <a:ext cx="8520600" cy="572700"/>
          </a:xfrm>
          <a:prstGeom prst="rect">
            <a:avLst/>
          </a:prstGeom>
          <a:noFill/>
          <a:ln>
            <a:noFill/>
          </a:ln>
        </p:spPr>
        <p:txBody>
          <a:bodyPr spcFirstLastPara="1" wrap="square" lIns="91425" tIns="91425" rIns="91425" bIns="91425" anchor="ctr" anchorCtr="0">
            <a:noAutofit/>
          </a:bodyPr>
          <a:lstStyle>
            <a:lvl1pPr lvl="0" rtl="0">
              <a:spcBef>
                <a:spcPts val="0"/>
              </a:spcBef>
              <a:spcAft>
                <a:spcPts val="0"/>
              </a:spcAft>
              <a:buSzPts val="1400"/>
              <a:buChar char="●"/>
              <a:defRPr/>
            </a:lvl1pPr>
            <a:lvl2pPr lvl="1" rtl="0">
              <a:spcBef>
                <a:spcPts val="0"/>
              </a:spcBef>
              <a:spcAft>
                <a:spcPts val="0"/>
              </a:spcAft>
              <a:buSzPts val="1400"/>
              <a:buChar char="○"/>
              <a:defRPr/>
            </a:lvl2pPr>
            <a:lvl3pPr lvl="2" rtl="0">
              <a:spcBef>
                <a:spcPts val="0"/>
              </a:spcBef>
              <a:spcAft>
                <a:spcPts val="0"/>
              </a:spcAft>
              <a:buSzPts val="1400"/>
              <a:buChar char="■"/>
              <a:defRPr/>
            </a:lvl3pPr>
            <a:lvl4pPr lvl="3" rtl="0">
              <a:spcBef>
                <a:spcPts val="0"/>
              </a:spcBef>
              <a:spcAft>
                <a:spcPts val="0"/>
              </a:spcAft>
              <a:buSzPts val="1400"/>
              <a:buChar char="●"/>
              <a:defRPr/>
            </a:lvl4pPr>
            <a:lvl5pPr lvl="4" rtl="0">
              <a:spcBef>
                <a:spcPts val="0"/>
              </a:spcBef>
              <a:spcAft>
                <a:spcPts val="0"/>
              </a:spcAft>
              <a:buSzPts val="1400"/>
              <a:buChar char="○"/>
              <a:defRPr/>
            </a:lvl5pPr>
            <a:lvl6pPr lvl="5" rtl="0">
              <a:spcBef>
                <a:spcPts val="0"/>
              </a:spcBef>
              <a:spcAft>
                <a:spcPts val="0"/>
              </a:spcAft>
              <a:buSzPts val="1400"/>
              <a:buChar char="■"/>
              <a:defRPr/>
            </a:lvl6pPr>
            <a:lvl7pPr lvl="6" rtl="0">
              <a:spcBef>
                <a:spcPts val="0"/>
              </a:spcBef>
              <a:spcAft>
                <a:spcPts val="0"/>
              </a:spcAft>
              <a:buSzPts val="1400"/>
              <a:buChar char="●"/>
              <a:defRPr/>
            </a:lvl7pPr>
            <a:lvl8pPr lvl="7" rtl="0">
              <a:spcBef>
                <a:spcPts val="0"/>
              </a:spcBef>
              <a:spcAft>
                <a:spcPts val="0"/>
              </a:spcAft>
              <a:buSzPts val="1400"/>
              <a:buChar char="○"/>
              <a:defRPr/>
            </a:lvl8pPr>
            <a:lvl9pPr lvl="8" rtl="0">
              <a:spcBef>
                <a:spcPts val="0"/>
              </a:spcBef>
              <a:spcAft>
                <a:spcPts val="0"/>
              </a:spcAft>
              <a:buSzPts val="1400"/>
              <a:buChar char="■"/>
              <a:defRPr/>
            </a:lvl9pPr>
          </a:lstStyle>
          <a:p>
            <a:endParaRPr/>
          </a:p>
        </p:txBody>
      </p:sp>
      <p:sp>
        <p:nvSpPr>
          <p:cNvPr id="21" name="Google Shape;21;p4"/>
          <p:cNvSpPr txBox="1">
            <a:spLocks noGrp="1"/>
          </p:cNvSpPr>
          <p:nvPr>
            <p:ph type="body" idx="1"/>
          </p:nvPr>
        </p:nvSpPr>
        <p:spPr>
          <a:xfrm>
            <a:off x="311700" y="738975"/>
            <a:ext cx="8520600" cy="3938400"/>
          </a:xfrm>
          <a:prstGeom prst="rect">
            <a:avLst/>
          </a:prstGeom>
        </p:spPr>
        <p:txBody>
          <a:bodyPr spcFirstLastPara="1" wrap="square" lIns="91425" tIns="91425" rIns="91425" bIns="91425" anchor="t" anchorCtr="0">
            <a:normAutofit/>
          </a:bodyPr>
          <a:lstStyle>
            <a:lvl1pPr marL="457200" lvl="0" indent="-342900" rtl="0">
              <a:spcBef>
                <a:spcPts val="0"/>
              </a:spcBef>
              <a:spcAft>
                <a:spcPts val="0"/>
              </a:spcAft>
              <a:buSzPts val="18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4"/>
        <p:cNvGrpSpPr/>
        <p:nvPr/>
      </p:nvGrpSpPr>
      <p:grpSpPr>
        <a:xfrm>
          <a:off x="0" y="0"/>
          <a:ext cx="0" cy="0"/>
          <a:chOff x="0" y="0"/>
          <a:chExt cx="0" cy="0"/>
        </a:xfrm>
      </p:grpSpPr>
      <p:sp>
        <p:nvSpPr>
          <p:cNvPr id="35" name="Google Shape;35;p6"/>
          <p:cNvSpPr txBox="1">
            <a:spLocks noGrp="1"/>
          </p:cNvSpPr>
          <p:nvPr>
            <p:ph type="sldNum" idx="12"/>
          </p:nvPr>
        </p:nvSpPr>
        <p:spPr>
          <a:xfrm>
            <a:off x="8179550" y="4843650"/>
            <a:ext cx="964500" cy="3396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ctr" rtl="0">
              <a:spcBef>
                <a:spcPts val="0"/>
              </a:spcBef>
              <a:spcAft>
                <a:spcPts val="0"/>
              </a:spcAft>
              <a:buNone/>
            </a:pPr>
            <a:fld id="{00000000-1234-1234-1234-123412341234}" type="slidenum">
              <a:rPr lang="ja"/>
              <a:t>‹#›</a:t>
            </a:fld>
            <a:endParaRPr/>
          </a:p>
        </p:txBody>
      </p:sp>
      <p:sp>
        <p:nvSpPr>
          <p:cNvPr id="36" name="Google Shape;36;p6"/>
          <p:cNvSpPr txBox="1">
            <a:spLocks noGrp="1"/>
          </p:cNvSpPr>
          <p:nvPr>
            <p:ph type="title"/>
          </p:nvPr>
        </p:nvSpPr>
        <p:spPr>
          <a:xfrm>
            <a:off x="2190300" y="850600"/>
            <a:ext cx="6315900" cy="1297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100"/>
              <a:buNone/>
              <a:defRPr sz="31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6"/>
          <p:cNvSpPr txBox="1">
            <a:spLocks noGrp="1"/>
          </p:cNvSpPr>
          <p:nvPr>
            <p:ph type="body" idx="1"/>
          </p:nvPr>
        </p:nvSpPr>
        <p:spPr>
          <a:xfrm>
            <a:off x="1047300" y="2675200"/>
            <a:ext cx="7049400" cy="14853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theme" Target="../theme/theme2.xml"/><Relationship Id="rId1" Type="http://schemas.openxmlformats.org/officeDocument/2006/relationships/slideLayout" Target="../slideLayouts/slideLayout4.xml"/><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body" idx="1"/>
          </p:nvPr>
        </p:nvSpPr>
        <p:spPr>
          <a:xfrm>
            <a:off x="311700" y="1246825"/>
            <a:ext cx="8520600" cy="3416400"/>
          </a:xfrm>
          <a:prstGeom prst="rect">
            <a:avLst/>
          </a:prstGeom>
          <a:noFill/>
          <a:ln>
            <a:noFill/>
          </a:ln>
        </p:spPr>
        <p:txBody>
          <a:bodyPr spcFirstLastPara="1" wrap="square" lIns="91425" tIns="91425" rIns="91425" bIns="91425" anchor="t" anchorCtr="0">
            <a:normAutofit/>
          </a:bodyPr>
          <a:lstStyle>
            <a:lvl1pPr marL="457200" lvl="0" indent="-342900" rtl="0">
              <a:lnSpc>
                <a:spcPct val="115000"/>
              </a:lnSpc>
              <a:spcBef>
                <a:spcPts val="0"/>
              </a:spcBef>
              <a:spcAft>
                <a:spcPts val="0"/>
              </a:spcAft>
              <a:buClr>
                <a:schemeClr val="dk2"/>
              </a:buClr>
              <a:buSzPts val="1800"/>
              <a:buChar char="●"/>
              <a:defRPr sz="1800">
                <a:solidFill>
                  <a:schemeClr val="dk2"/>
                </a:solidFill>
              </a:defRPr>
            </a:lvl1pPr>
            <a:lvl2pPr marL="914400" lvl="1" indent="-317500" rtl="0">
              <a:lnSpc>
                <a:spcPct val="115000"/>
              </a:lnSpc>
              <a:spcBef>
                <a:spcPts val="0"/>
              </a:spcBef>
              <a:spcAft>
                <a:spcPts val="0"/>
              </a:spcAft>
              <a:buClr>
                <a:schemeClr val="dk2"/>
              </a:buClr>
              <a:buSzPts val="1400"/>
              <a:buChar char="○"/>
              <a:defRPr>
                <a:solidFill>
                  <a:schemeClr val="dk2"/>
                </a:solidFill>
              </a:defRPr>
            </a:lvl2pPr>
            <a:lvl3pPr marL="1371600" lvl="2" indent="-317500" rtl="0">
              <a:lnSpc>
                <a:spcPct val="115000"/>
              </a:lnSpc>
              <a:spcBef>
                <a:spcPts val="0"/>
              </a:spcBef>
              <a:spcAft>
                <a:spcPts val="0"/>
              </a:spcAft>
              <a:buClr>
                <a:schemeClr val="dk2"/>
              </a:buClr>
              <a:buSzPts val="1400"/>
              <a:buChar char="■"/>
              <a:defRPr>
                <a:solidFill>
                  <a:schemeClr val="dk2"/>
                </a:solidFill>
              </a:defRPr>
            </a:lvl3pPr>
            <a:lvl4pPr marL="1828800" lvl="3" indent="-317500" rtl="0">
              <a:lnSpc>
                <a:spcPct val="115000"/>
              </a:lnSpc>
              <a:spcBef>
                <a:spcPts val="0"/>
              </a:spcBef>
              <a:spcAft>
                <a:spcPts val="0"/>
              </a:spcAft>
              <a:buClr>
                <a:schemeClr val="dk2"/>
              </a:buClr>
              <a:buSzPts val="1400"/>
              <a:buChar char="●"/>
              <a:defRPr>
                <a:solidFill>
                  <a:schemeClr val="dk2"/>
                </a:solidFill>
              </a:defRPr>
            </a:lvl4pPr>
            <a:lvl5pPr marL="2286000" lvl="4" indent="-317500" rtl="0">
              <a:lnSpc>
                <a:spcPct val="115000"/>
              </a:lnSpc>
              <a:spcBef>
                <a:spcPts val="0"/>
              </a:spcBef>
              <a:spcAft>
                <a:spcPts val="0"/>
              </a:spcAft>
              <a:buClr>
                <a:schemeClr val="dk2"/>
              </a:buClr>
              <a:buSzPts val="1400"/>
              <a:buChar char="○"/>
              <a:defRPr>
                <a:solidFill>
                  <a:schemeClr val="dk2"/>
                </a:solidFill>
              </a:defRPr>
            </a:lvl5pPr>
            <a:lvl6pPr marL="2743200" lvl="5" indent="-317500" rtl="0">
              <a:lnSpc>
                <a:spcPct val="115000"/>
              </a:lnSpc>
              <a:spcBef>
                <a:spcPts val="0"/>
              </a:spcBef>
              <a:spcAft>
                <a:spcPts val="0"/>
              </a:spcAft>
              <a:buClr>
                <a:schemeClr val="dk2"/>
              </a:buClr>
              <a:buSzPts val="1400"/>
              <a:buChar char="■"/>
              <a:defRPr>
                <a:solidFill>
                  <a:schemeClr val="dk2"/>
                </a:solidFill>
              </a:defRPr>
            </a:lvl6pPr>
            <a:lvl7pPr marL="3200400" lvl="6" indent="-317500" rtl="0">
              <a:lnSpc>
                <a:spcPct val="115000"/>
              </a:lnSpc>
              <a:spcBef>
                <a:spcPts val="0"/>
              </a:spcBef>
              <a:spcAft>
                <a:spcPts val="0"/>
              </a:spcAft>
              <a:buClr>
                <a:schemeClr val="dk2"/>
              </a:buClr>
              <a:buSzPts val="1400"/>
              <a:buChar char="●"/>
              <a:defRPr>
                <a:solidFill>
                  <a:schemeClr val="dk2"/>
                </a:solidFill>
              </a:defRPr>
            </a:lvl7pPr>
            <a:lvl8pPr marL="3657600" lvl="7" indent="-317500" rtl="0">
              <a:lnSpc>
                <a:spcPct val="115000"/>
              </a:lnSpc>
              <a:spcBef>
                <a:spcPts val="0"/>
              </a:spcBef>
              <a:spcAft>
                <a:spcPts val="0"/>
              </a:spcAft>
              <a:buClr>
                <a:schemeClr val="dk2"/>
              </a:buClr>
              <a:buSzPts val="1400"/>
              <a:buChar char="○"/>
              <a:defRPr>
                <a:solidFill>
                  <a:schemeClr val="dk2"/>
                </a:solidFill>
              </a:defRPr>
            </a:lvl8pPr>
            <a:lvl9pPr marL="4114800" lvl="8" indent="-317500" rtl="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7" name="Google Shape;7;p1"/>
          <p:cNvSpPr/>
          <p:nvPr/>
        </p:nvSpPr>
        <p:spPr>
          <a:xfrm>
            <a:off x="-75" y="0"/>
            <a:ext cx="9144000" cy="538500"/>
          </a:xfrm>
          <a:prstGeom prst="rect">
            <a:avLst/>
          </a:prstGeom>
          <a:solidFill>
            <a:srgbClr val="FFE59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 name="Google Shape;8;p1"/>
          <p:cNvSpPr/>
          <p:nvPr/>
        </p:nvSpPr>
        <p:spPr>
          <a:xfrm>
            <a:off x="50" y="4883400"/>
            <a:ext cx="9144000" cy="260100"/>
          </a:xfrm>
          <a:prstGeom prst="rect">
            <a:avLst/>
          </a:prstGeom>
          <a:solidFill>
            <a:srgbClr val="434343"/>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 name="Google Shape;9;p1"/>
          <p:cNvSpPr/>
          <p:nvPr/>
        </p:nvSpPr>
        <p:spPr>
          <a:xfrm>
            <a:off x="-75" y="4892700"/>
            <a:ext cx="1197600" cy="241500"/>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ja" sz="1200">
                <a:solidFill>
                  <a:schemeClr val="lt1"/>
                </a:solidFill>
              </a:rPr>
              <a:t>有次研@2024</a:t>
            </a:r>
            <a:endParaRPr sz="1200">
              <a:solidFill>
                <a:schemeClr val="lt1"/>
              </a:solidFill>
            </a:endParaRPr>
          </a:p>
        </p:txBody>
      </p:sp>
      <p:sp>
        <p:nvSpPr>
          <p:cNvPr id="10" name="Google Shape;10;p1"/>
          <p:cNvSpPr txBox="1">
            <a:spLocks noGrp="1"/>
          </p:cNvSpPr>
          <p:nvPr>
            <p:ph type="sldNum" idx="12"/>
          </p:nvPr>
        </p:nvSpPr>
        <p:spPr>
          <a:xfrm>
            <a:off x="8397284" y="4816651"/>
            <a:ext cx="548700" cy="393600"/>
          </a:xfrm>
          <a:prstGeom prst="rect">
            <a:avLst/>
          </a:prstGeom>
          <a:noFill/>
          <a:ln>
            <a:noFill/>
          </a:ln>
        </p:spPr>
        <p:txBody>
          <a:bodyPr spcFirstLastPara="1" wrap="square" lIns="91425" tIns="91425" rIns="91425" bIns="91425" anchor="t" anchorCtr="0">
            <a:noAutofit/>
          </a:bodyPr>
          <a:lstStyle>
            <a:lvl1pPr lvl="0" algn="r">
              <a:buNone/>
              <a:defRPr sz="1300">
                <a:solidFill>
                  <a:schemeClr val="lt1"/>
                </a:solidFill>
              </a:defRPr>
            </a:lvl1pPr>
            <a:lvl2pPr lvl="1" algn="r">
              <a:buNone/>
              <a:defRPr sz="1300">
                <a:solidFill>
                  <a:schemeClr val="lt1"/>
                </a:solidFill>
              </a:defRPr>
            </a:lvl2pPr>
            <a:lvl3pPr lvl="2" algn="r">
              <a:buNone/>
              <a:defRPr sz="1300">
                <a:solidFill>
                  <a:schemeClr val="lt1"/>
                </a:solidFill>
              </a:defRPr>
            </a:lvl3pPr>
            <a:lvl4pPr lvl="3" algn="r">
              <a:buNone/>
              <a:defRPr sz="1300">
                <a:solidFill>
                  <a:schemeClr val="lt1"/>
                </a:solidFill>
              </a:defRPr>
            </a:lvl4pPr>
            <a:lvl5pPr lvl="4" algn="r">
              <a:buNone/>
              <a:defRPr sz="1300">
                <a:solidFill>
                  <a:schemeClr val="lt1"/>
                </a:solidFill>
              </a:defRPr>
            </a:lvl5pPr>
            <a:lvl6pPr lvl="5" algn="r">
              <a:buNone/>
              <a:defRPr sz="1300">
                <a:solidFill>
                  <a:schemeClr val="lt1"/>
                </a:solidFill>
              </a:defRPr>
            </a:lvl6pPr>
            <a:lvl7pPr lvl="6" algn="r">
              <a:buNone/>
              <a:defRPr sz="1300">
                <a:solidFill>
                  <a:schemeClr val="lt1"/>
                </a:solidFill>
              </a:defRPr>
            </a:lvl7pPr>
            <a:lvl8pPr lvl="7" algn="r">
              <a:buNone/>
              <a:defRPr sz="1300">
                <a:solidFill>
                  <a:schemeClr val="lt1"/>
                </a:solidFill>
              </a:defRPr>
            </a:lvl8pPr>
            <a:lvl9pPr lvl="8" algn="r">
              <a:buNone/>
              <a:defRPr sz="1300">
                <a:solidFill>
                  <a:schemeClr val="lt1"/>
                </a:solidFill>
              </a:defRPr>
            </a:lvl9pPr>
          </a:lstStyle>
          <a:p>
            <a:pPr marL="0" lvl="0" indent="0" algn="r" rtl="0">
              <a:spcBef>
                <a:spcPts val="0"/>
              </a:spcBef>
              <a:spcAft>
                <a:spcPts val="0"/>
              </a:spcAft>
              <a:buNone/>
            </a:pPr>
            <a:fld id="{00000000-1234-1234-1234-123412341234}" type="slidenum">
              <a:rPr lang="ja"/>
              <a:t>‹#›</a:t>
            </a:fld>
            <a:endParaRPr/>
          </a:p>
        </p:txBody>
      </p:sp>
      <p:pic>
        <p:nvPicPr>
          <p:cNvPr id="11" name="Google Shape;11;p1"/>
          <p:cNvPicPr preferRelativeResize="0"/>
          <p:nvPr/>
        </p:nvPicPr>
        <p:blipFill rotWithShape="1">
          <a:blip r:embed="rId5">
            <a:alphaModFix/>
          </a:blip>
          <a:srcRect t="3484" r="2865"/>
          <a:stretch/>
        </p:blipFill>
        <p:spPr>
          <a:xfrm>
            <a:off x="50" y="0"/>
            <a:ext cx="541957" cy="538499"/>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22"/>
        <p:cNvGrpSpPr/>
        <p:nvPr/>
      </p:nvGrpSpPr>
      <p:grpSpPr>
        <a:xfrm>
          <a:off x="0" y="0"/>
          <a:ext cx="0" cy="0"/>
          <a:chOff x="0" y="0"/>
          <a:chExt cx="0" cy="0"/>
        </a:xfrm>
      </p:grpSpPr>
      <p:sp>
        <p:nvSpPr>
          <p:cNvPr id="23" name="Google Shape;23;p5"/>
          <p:cNvSpPr/>
          <p:nvPr/>
        </p:nvSpPr>
        <p:spPr>
          <a:xfrm>
            <a:off x="0" y="578125"/>
            <a:ext cx="9144000" cy="1739700"/>
          </a:xfrm>
          <a:prstGeom prst="rect">
            <a:avLst/>
          </a:prstGeom>
          <a:solidFill>
            <a:srgbClr val="FFE59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4" name="Google Shape;24;p5"/>
          <p:cNvSpPr/>
          <p:nvPr/>
        </p:nvSpPr>
        <p:spPr>
          <a:xfrm>
            <a:off x="50" y="4883400"/>
            <a:ext cx="9144000" cy="260100"/>
          </a:xfrm>
          <a:prstGeom prst="rect">
            <a:avLst/>
          </a:prstGeom>
          <a:solidFill>
            <a:srgbClr val="434343"/>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 name="Google Shape;25;p5"/>
          <p:cNvSpPr txBox="1">
            <a:spLocks noGrp="1"/>
          </p:cNvSpPr>
          <p:nvPr>
            <p:ph type="sldNum" idx="12"/>
          </p:nvPr>
        </p:nvSpPr>
        <p:spPr>
          <a:xfrm>
            <a:off x="8179550" y="4843650"/>
            <a:ext cx="964500" cy="339600"/>
          </a:xfrm>
          <a:prstGeom prst="rect">
            <a:avLst/>
          </a:prstGeom>
          <a:noFill/>
          <a:ln>
            <a:noFill/>
          </a:ln>
        </p:spPr>
        <p:txBody>
          <a:bodyPr spcFirstLastPara="1" wrap="square" lIns="91425" tIns="91425" rIns="91425" bIns="91425" anchor="ctr" anchorCtr="0">
            <a:noAutofit/>
          </a:bodyPr>
          <a:lstStyle>
            <a:lvl1pPr lvl="0" algn="ctr" rtl="0">
              <a:lnSpc>
                <a:spcPct val="90000"/>
              </a:lnSpc>
              <a:buNone/>
              <a:defRPr>
                <a:solidFill>
                  <a:schemeClr val="lt1"/>
                </a:solidFill>
              </a:defRPr>
            </a:lvl1pPr>
            <a:lvl2pPr lvl="1" algn="ctr" rtl="0">
              <a:lnSpc>
                <a:spcPct val="90000"/>
              </a:lnSpc>
              <a:buNone/>
              <a:defRPr>
                <a:solidFill>
                  <a:schemeClr val="lt1"/>
                </a:solidFill>
              </a:defRPr>
            </a:lvl2pPr>
            <a:lvl3pPr lvl="2" algn="ctr" rtl="0">
              <a:lnSpc>
                <a:spcPct val="90000"/>
              </a:lnSpc>
              <a:buNone/>
              <a:defRPr>
                <a:solidFill>
                  <a:schemeClr val="lt1"/>
                </a:solidFill>
              </a:defRPr>
            </a:lvl3pPr>
            <a:lvl4pPr lvl="3" algn="ctr" rtl="0">
              <a:lnSpc>
                <a:spcPct val="90000"/>
              </a:lnSpc>
              <a:buNone/>
              <a:defRPr>
                <a:solidFill>
                  <a:schemeClr val="lt1"/>
                </a:solidFill>
              </a:defRPr>
            </a:lvl4pPr>
            <a:lvl5pPr lvl="4" algn="ctr" rtl="0">
              <a:lnSpc>
                <a:spcPct val="90000"/>
              </a:lnSpc>
              <a:buNone/>
              <a:defRPr>
                <a:solidFill>
                  <a:schemeClr val="lt1"/>
                </a:solidFill>
              </a:defRPr>
            </a:lvl5pPr>
            <a:lvl6pPr lvl="5" algn="ctr" rtl="0">
              <a:lnSpc>
                <a:spcPct val="90000"/>
              </a:lnSpc>
              <a:buNone/>
              <a:defRPr>
                <a:solidFill>
                  <a:schemeClr val="lt1"/>
                </a:solidFill>
              </a:defRPr>
            </a:lvl6pPr>
            <a:lvl7pPr lvl="6" algn="ctr" rtl="0">
              <a:lnSpc>
                <a:spcPct val="90000"/>
              </a:lnSpc>
              <a:buNone/>
              <a:defRPr>
                <a:solidFill>
                  <a:schemeClr val="lt1"/>
                </a:solidFill>
              </a:defRPr>
            </a:lvl7pPr>
            <a:lvl8pPr lvl="7" algn="ctr" rtl="0">
              <a:lnSpc>
                <a:spcPct val="90000"/>
              </a:lnSpc>
              <a:buNone/>
              <a:defRPr>
                <a:solidFill>
                  <a:schemeClr val="lt1"/>
                </a:solidFill>
              </a:defRPr>
            </a:lvl8pPr>
            <a:lvl9pPr lvl="8" algn="ctr" rtl="0">
              <a:lnSpc>
                <a:spcPct val="90000"/>
              </a:lnSpc>
              <a:buNone/>
              <a:defRPr>
                <a:solidFill>
                  <a:schemeClr val="lt1"/>
                </a:solidFill>
              </a:defRPr>
            </a:lvl9pPr>
          </a:lstStyle>
          <a:p>
            <a:pPr marL="0" lvl="0" indent="0" algn="ctr" rtl="0">
              <a:spcBef>
                <a:spcPts val="0"/>
              </a:spcBef>
              <a:spcAft>
                <a:spcPts val="0"/>
              </a:spcAft>
              <a:buNone/>
            </a:pPr>
            <a:r>
              <a:rPr lang="ja"/>
              <a:t>page. </a:t>
            </a:r>
            <a:fld id="{00000000-1234-1234-1234-123412341234}" type="slidenum">
              <a:rPr lang="ja"/>
              <a:t>‹#›</a:t>
            </a:fld>
            <a:endParaRPr/>
          </a:p>
        </p:txBody>
      </p:sp>
      <p:sp>
        <p:nvSpPr>
          <p:cNvPr id="26" name="Google Shape;26;p5"/>
          <p:cNvSpPr/>
          <p:nvPr/>
        </p:nvSpPr>
        <p:spPr>
          <a:xfrm>
            <a:off x="-75" y="4892700"/>
            <a:ext cx="1197600" cy="241500"/>
          </a:xfrm>
          <a:prstGeom prst="rect">
            <a:avLst/>
          </a:pr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ja" sz="1200">
                <a:solidFill>
                  <a:schemeClr val="lt1"/>
                </a:solidFill>
              </a:rPr>
              <a:t>有次研@2024</a:t>
            </a:r>
            <a:endParaRPr sz="1200">
              <a:solidFill>
                <a:schemeClr val="lt1"/>
              </a:solidFill>
            </a:endParaRPr>
          </a:p>
        </p:txBody>
      </p:sp>
      <p:pic>
        <p:nvPicPr>
          <p:cNvPr id="27" name="Google Shape;27;p5"/>
          <p:cNvPicPr preferRelativeResize="0"/>
          <p:nvPr/>
        </p:nvPicPr>
        <p:blipFill rotWithShape="1">
          <a:blip r:embed="rId3">
            <a:alphaModFix/>
          </a:blip>
          <a:srcRect/>
          <a:stretch/>
        </p:blipFill>
        <p:spPr>
          <a:xfrm>
            <a:off x="40" y="4517909"/>
            <a:ext cx="2130970" cy="278496"/>
          </a:xfrm>
          <a:prstGeom prst="rect">
            <a:avLst/>
          </a:prstGeom>
          <a:noFill/>
          <a:ln>
            <a:noFill/>
          </a:ln>
        </p:spPr>
      </p:pic>
      <p:sp>
        <p:nvSpPr>
          <p:cNvPr id="28" name="Google Shape;28;p5"/>
          <p:cNvSpPr/>
          <p:nvPr/>
        </p:nvSpPr>
        <p:spPr>
          <a:xfrm>
            <a:off x="0" y="4796388"/>
            <a:ext cx="3102246" cy="47250"/>
          </a:xfrm>
          <a:custGeom>
            <a:avLst/>
            <a:gdLst/>
            <a:ahLst/>
            <a:cxnLst/>
            <a:rect l="l" t="t" r="r" b="b"/>
            <a:pathLst>
              <a:path w="21600" h="21600" extrusionOk="0">
                <a:moveTo>
                  <a:pt x="0" y="0"/>
                </a:moveTo>
                <a:lnTo>
                  <a:pt x="21600" y="0"/>
                </a:lnTo>
                <a:lnTo>
                  <a:pt x="21600" y="21600"/>
                </a:lnTo>
                <a:lnTo>
                  <a:pt x="0" y="21600"/>
                </a:lnTo>
                <a:close/>
              </a:path>
            </a:pathLst>
          </a:custGeom>
          <a:gradFill>
            <a:gsLst>
              <a:gs pos="0">
                <a:srgbClr val="000000"/>
              </a:gs>
              <a:gs pos="100000">
                <a:srgbClr val="FFFFFF"/>
              </a:gs>
            </a:gsLst>
            <a:lin ang="0" scaled="0"/>
          </a:gradFill>
          <a:ln>
            <a:noFill/>
          </a:ln>
        </p:spPr>
      </p:sp>
      <p:sp>
        <p:nvSpPr>
          <p:cNvPr id="29" name="Google Shape;29;p5"/>
          <p:cNvSpPr txBox="1"/>
          <p:nvPr/>
        </p:nvSpPr>
        <p:spPr>
          <a:xfrm>
            <a:off x="1828800" y="789600"/>
            <a:ext cx="7049400" cy="1403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 name="Google Shape;30;p5"/>
          <p:cNvSpPr txBox="1"/>
          <p:nvPr/>
        </p:nvSpPr>
        <p:spPr>
          <a:xfrm>
            <a:off x="170050" y="3732025"/>
            <a:ext cx="2932200" cy="820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 name="Google Shape;31;p5"/>
          <p:cNvSpPr txBox="1">
            <a:spLocks noGrp="1"/>
          </p:cNvSpPr>
          <p:nvPr>
            <p:ph type="title"/>
          </p:nvPr>
        </p:nvSpPr>
        <p:spPr>
          <a:xfrm>
            <a:off x="2190300" y="850600"/>
            <a:ext cx="6315900" cy="12972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SzPts val="3100"/>
              <a:buNone/>
              <a:defRPr sz="31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2" name="Google Shape;32;p5"/>
          <p:cNvSpPr txBox="1">
            <a:spLocks noGrp="1"/>
          </p:cNvSpPr>
          <p:nvPr>
            <p:ph type="body" idx="1"/>
          </p:nvPr>
        </p:nvSpPr>
        <p:spPr>
          <a:xfrm>
            <a:off x="1047350" y="2675200"/>
            <a:ext cx="7049400" cy="1485300"/>
          </a:xfrm>
          <a:prstGeom prst="rect">
            <a:avLst/>
          </a:prstGeom>
          <a:noFill/>
          <a:ln>
            <a:noFill/>
          </a:ln>
        </p:spPr>
        <p:txBody>
          <a:bodyPr spcFirstLastPara="1" wrap="square" lIns="91425" tIns="91425" rIns="91425" bIns="91425" anchor="t" anchorCtr="0">
            <a:noAutofit/>
          </a:bodyPr>
          <a:lstStyle>
            <a:lvl1pPr marL="457200" lvl="0" indent="-317500" rtl="0">
              <a:spcBef>
                <a:spcPts val="0"/>
              </a:spcBef>
              <a:spcAft>
                <a:spcPts val="0"/>
              </a:spcAft>
              <a:buSzPts val="14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pic>
        <p:nvPicPr>
          <p:cNvPr id="33" name="Google Shape;33;p5"/>
          <p:cNvPicPr preferRelativeResize="0"/>
          <p:nvPr/>
        </p:nvPicPr>
        <p:blipFill rotWithShape="1">
          <a:blip r:embed="rId4">
            <a:alphaModFix/>
          </a:blip>
          <a:srcRect t="3484" r="2865"/>
          <a:stretch/>
        </p:blipFill>
        <p:spPr>
          <a:xfrm>
            <a:off x="50" y="578125"/>
            <a:ext cx="1750879" cy="1739700"/>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51"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3"/>
        <p:cNvGrpSpPr/>
        <p:nvPr/>
      </p:nvGrpSpPr>
      <p:grpSpPr>
        <a:xfrm>
          <a:off x="0" y="0"/>
          <a:ext cx="0" cy="0"/>
          <a:chOff x="0" y="0"/>
          <a:chExt cx="0" cy="0"/>
        </a:xfrm>
      </p:grpSpPr>
      <p:sp>
        <p:nvSpPr>
          <p:cNvPr id="44" name="Google Shape;44;p8"/>
          <p:cNvSpPr txBox="1">
            <a:spLocks noGrp="1"/>
          </p:cNvSpPr>
          <p:nvPr>
            <p:ph type="title"/>
          </p:nvPr>
        </p:nvSpPr>
        <p:spPr>
          <a:xfrm>
            <a:off x="1461654" y="1003000"/>
            <a:ext cx="7682346" cy="929710"/>
          </a:xfrm>
          <a:prstGeom prst="rect">
            <a:avLst/>
          </a:prstGeom>
        </p:spPr>
        <p:txBody>
          <a:bodyPr spcFirstLastPara="1" wrap="square" lIns="91425" tIns="91425" rIns="91425" bIns="91425" anchor="ctr" anchorCtr="0">
            <a:noAutofit/>
          </a:bodyPr>
          <a:lstStyle/>
          <a:p>
            <a:pPr lvl="0">
              <a:lnSpc>
                <a:spcPct val="115000"/>
              </a:lnSpc>
            </a:pPr>
            <a:r>
              <a:rPr lang="en-US" sz="2000" b="1" spc="-5" dirty="0" smtClean="0"/>
              <a:t>Zero shot emotion classification in text (analyzing the results of using synonyms of emotions and other ideas)</a:t>
            </a:r>
            <a:r>
              <a:rPr lang="en-US" sz="2400" b="1" spc="-5" dirty="0" smtClean="0"/>
              <a:t/>
            </a:r>
            <a:br>
              <a:rPr lang="en-US" sz="2400" b="1" spc="-5" dirty="0" smtClean="0"/>
            </a:br>
            <a:endParaRPr sz="2400" b="1" dirty="0">
              <a:solidFill>
                <a:schemeClr val="dk1"/>
              </a:solidFill>
            </a:endParaRPr>
          </a:p>
        </p:txBody>
      </p:sp>
      <p:sp>
        <p:nvSpPr>
          <p:cNvPr id="46" name="Google Shape;46;p8"/>
          <p:cNvSpPr txBox="1">
            <a:spLocks noGrp="1"/>
          </p:cNvSpPr>
          <p:nvPr>
            <p:ph type="sldNum" idx="12"/>
          </p:nvPr>
        </p:nvSpPr>
        <p:spPr>
          <a:xfrm>
            <a:off x="8634984" y="4827126"/>
            <a:ext cx="548700" cy="393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fld id="{00000000-1234-1234-1234-123412341234}" type="slidenum">
              <a:rPr lang="en-US" altLang="ja"/>
              <a:t>1</a:t>
            </a:fld>
            <a:endParaRPr dirty="0"/>
          </a:p>
        </p:txBody>
      </p:sp>
      <p:sp>
        <p:nvSpPr>
          <p:cNvPr id="2" name="Rectangle 1"/>
          <p:cNvSpPr/>
          <p:nvPr/>
        </p:nvSpPr>
        <p:spPr>
          <a:xfrm>
            <a:off x="221673" y="3636363"/>
            <a:ext cx="4572000" cy="738664"/>
          </a:xfrm>
          <a:prstGeom prst="rect">
            <a:avLst/>
          </a:prstGeom>
        </p:spPr>
        <p:txBody>
          <a:bodyPr>
            <a:spAutoFit/>
          </a:bodyPr>
          <a:lstStyle/>
          <a:p>
            <a:pPr>
              <a:lnSpc>
                <a:spcPct val="150000"/>
              </a:lnSpc>
            </a:pPr>
            <a:r>
              <a:rPr lang="en-US" dirty="0"/>
              <a:t>Gita </a:t>
            </a:r>
          </a:p>
          <a:p>
            <a:pPr>
              <a:lnSpc>
                <a:spcPct val="150000"/>
              </a:lnSpc>
            </a:pPr>
            <a:r>
              <a:rPr lang="en-US" dirty="0"/>
              <a:t>Student ID: 237-D8905</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buNone/>
            </a:pPr>
            <a:r>
              <a:rPr lang="en-US" sz="1600" b="1" dirty="0" smtClean="0"/>
              <a:t>Using synonyms of emotions (review)</a:t>
            </a:r>
            <a:endParaRPr lang="en-US" sz="1600" b="1"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ltLang="ja" smtClean="0"/>
              <a:t>2</a:t>
            </a:fld>
            <a:endParaRPr lang="ja" altLang="en-US"/>
          </a:p>
        </p:txBody>
      </p:sp>
      <p:sp>
        <p:nvSpPr>
          <p:cNvPr id="3" name="TextBox 2"/>
          <p:cNvSpPr txBox="1"/>
          <p:nvPr/>
        </p:nvSpPr>
        <p:spPr>
          <a:xfrm>
            <a:off x="486229" y="740229"/>
            <a:ext cx="7794171" cy="523220"/>
          </a:xfrm>
          <a:prstGeom prst="rect">
            <a:avLst/>
          </a:prstGeom>
          <a:noFill/>
        </p:spPr>
        <p:txBody>
          <a:bodyPr wrap="square" rtlCol="0">
            <a:spAutoFit/>
          </a:bodyPr>
          <a:lstStyle/>
          <a:p>
            <a:r>
              <a:rPr lang="en-US" dirty="0" smtClean="0"/>
              <a:t>I checked the </a:t>
            </a:r>
            <a:r>
              <a:rPr lang="en-US" dirty="0"/>
              <a:t>entailment probabilities </a:t>
            </a:r>
            <a:r>
              <a:rPr lang="en-US" dirty="0" smtClean="0"/>
              <a:t>between synonyms of emotions and text using </a:t>
            </a:r>
            <a:r>
              <a:rPr lang="en-US" dirty="0" err="1" smtClean="0"/>
              <a:t>Deberta</a:t>
            </a:r>
            <a:r>
              <a:rPr lang="en-US" dirty="0" smtClean="0"/>
              <a:t> model.</a:t>
            </a:r>
            <a:endParaRPr lang="en-US" dirty="0"/>
          </a:p>
        </p:txBody>
      </p:sp>
      <p:sp>
        <p:nvSpPr>
          <p:cNvPr id="11" name="TextBox 10"/>
          <p:cNvSpPr txBox="1"/>
          <p:nvPr/>
        </p:nvSpPr>
        <p:spPr>
          <a:xfrm>
            <a:off x="384629" y="1263449"/>
            <a:ext cx="8687752" cy="3108543"/>
          </a:xfrm>
          <a:prstGeom prst="rect">
            <a:avLst/>
          </a:prstGeom>
          <a:noFill/>
        </p:spPr>
        <p:txBody>
          <a:bodyPr wrap="square" rtlCol="0">
            <a:spAutoFit/>
          </a:bodyPr>
          <a:lstStyle/>
          <a:p>
            <a:endParaRPr lang="en-US" dirty="0" smtClean="0"/>
          </a:p>
          <a:p>
            <a:r>
              <a:rPr lang="en-US" dirty="0" smtClean="0"/>
              <a:t>One idea to use synonyms can be measuring the average of entailment probabilities between </a:t>
            </a:r>
          </a:p>
          <a:p>
            <a:r>
              <a:rPr lang="en-US" dirty="0" smtClean="0"/>
              <a:t>synonyms of the emotion (Or the prompts of synonyms) and the text as entailment probability of the emotion and selecting the emotion that has highest average of entailment probabilities as the predicted emotion</a:t>
            </a:r>
          </a:p>
          <a:p>
            <a:endParaRPr lang="en-US" dirty="0"/>
          </a:p>
          <a:p>
            <a:endParaRPr lang="en-US" dirty="0" smtClean="0"/>
          </a:p>
          <a:p>
            <a:r>
              <a:rPr lang="en-US" dirty="0"/>
              <a:t>For </a:t>
            </a:r>
            <a:r>
              <a:rPr lang="en-US" dirty="0" err="1"/>
              <a:t>Isear</a:t>
            </a:r>
            <a:r>
              <a:rPr lang="en-US" dirty="0"/>
              <a:t> dataset:</a:t>
            </a:r>
          </a:p>
          <a:p>
            <a:r>
              <a:rPr lang="en-US" dirty="0"/>
              <a:t>Using average of entailment probabilities of synonyms of the emotion could lead to </a:t>
            </a:r>
            <a:r>
              <a:rPr lang="en-US" dirty="0" smtClean="0"/>
              <a:t>more improvements </a:t>
            </a:r>
            <a:r>
              <a:rPr lang="en-US" dirty="0"/>
              <a:t>for </a:t>
            </a:r>
            <a:r>
              <a:rPr lang="en-US" dirty="0" smtClean="0"/>
              <a:t>emotion prompt (“The emotion </a:t>
            </a:r>
            <a:r>
              <a:rPr lang="en-US" dirty="0" err="1" smtClean="0"/>
              <a:t>is”+emotion</a:t>
            </a:r>
            <a:r>
              <a:rPr lang="en-US" dirty="0" smtClean="0"/>
              <a:t> synonym)   . (emotion-s:0.63 </a:t>
            </a:r>
            <a:r>
              <a:rPr lang="en-US" dirty="0"/>
              <a:t>to emotion prompt: </a:t>
            </a:r>
            <a:r>
              <a:rPr lang="en-US" dirty="0" smtClean="0"/>
              <a:t>0.61). </a:t>
            </a:r>
            <a:endParaRPr lang="en-US" dirty="0"/>
          </a:p>
          <a:p>
            <a:endParaRPr lang="en-US" dirty="0"/>
          </a:p>
          <a:p>
            <a:r>
              <a:rPr lang="en-US" dirty="0"/>
              <a:t>For Tec dataset:</a:t>
            </a:r>
          </a:p>
          <a:p>
            <a:r>
              <a:rPr lang="en-US" dirty="0"/>
              <a:t>Using synonyms could not lead to improvements compared to using prompts of emotion </a:t>
            </a:r>
            <a:r>
              <a:rPr lang="en-US" dirty="0" smtClean="0"/>
              <a:t>names (Macro average F1: 0.38)</a:t>
            </a:r>
            <a:endParaRPr lang="en-US" dirty="0"/>
          </a:p>
          <a:p>
            <a:endParaRPr lang="en-US" dirty="0"/>
          </a:p>
        </p:txBody>
      </p:sp>
    </p:spTree>
    <p:extLst>
      <p:ext uri="{BB962C8B-B14F-4D97-AF65-F5344CB8AC3E}">
        <p14:creationId xmlns:p14="http://schemas.microsoft.com/office/powerpoint/2010/main" val="361600281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buNone/>
            </a:pPr>
            <a:r>
              <a:rPr lang="en-US" sz="1600" b="1" dirty="0"/>
              <a:t>Using synonyms of </a:t>
            </a:r>
            <a:r>
              <a:rPr lang="en-US" sz="1600" b="1" dirty="0" smtClean="0"/>
              <a:t>emotions (review) </a:t>
            </a:r>
            <a:endParaRPr lang="en-US" sz="1600"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ltLang="ja" smtClean="0"/>
              <a:t>3</a:t>
            </a:fld>
            <a:endParaRPr lang="ja" altLang="en-US"/>
          </a:p>
        </p:txBody>
      </p:sp>
      <p:graphicFrame>
        <p:nvGraphicFramePr>
          <p:cNvPr id="5" name="Table 4"/>
          <p:cNvGraphicFramePr>
            <a:graphicFrameLocks noGrp="1"/>
          </p:cNvGraphicFramePr>
          <p:nvPr>
            <p:extLst>
              <p:ext uri="{D42A27DB-BD31-4B8C-83A1-F6EECF244321}">
                <p14:modId xmlns:p14="http://schemas.microsoft.com/office/powerpoint/2010/main" val="1641409917"/>
              </p:ext>
            </p:extLst>
          </p:nvPr>
        </p:nvGraphicFramePr>
        <p:xfrm>
          <a:off x="311700" y="754743"/>
          <a:ext cx="8456644" cy="4023360"/>
        </p:xfrm>
        <a:graphic>
          <a:graphicData uri="http://schemas.openxmlformats.org/drawingml/2006/table">
            <a:tbl>
              <a:tblPr firstRow="1" bandRow="1">
                <a:tableStyleId>{5C22544A-7EE6-4342-B048-85BDC9FD1C3A}</a:tableStyleId>
              </a:tblPr>
              <a:tblGrid>
                <a:gridCol w="4228322">
                  <a:extLst>
                    <a:ext uri="{9D8B030D-6E8A-4147-A177-3AD203B41FA5}">
                      <a16:colId xmlns:a16="http://schemas.microsoft.com/office/drawing/2014/main" val="1825852549"/>
                    </a:ext>
                  </a:extLst>
                </a:gridCol>
                <a:gridCol w="4228322">
                  <a:extLst>
                    <a:ext uri="{9D8B030D-6E8A-4147-A177-3AD203B41FA5}">
                      <a16:colId xmlns:a16="http://schemas.microsoft.com/office/drawing/2014/main" val="2023759085"/>
                    </a:ext>
                  </a:extLst>
                </a:gridCol>
              </a:tblGrid>
              <a:tr h="257535">
                <a:tc>
                  <a:txBody>
                    <a:bodyPr/>
                    <a:lstStyle/>
                    <a:p>
                      <a:r>
                        <a:rPr lang="en-US" dirty="0" smtClean="0"/>
                        <a:t>emotion</a:t>
                      </a:r>
                      <a:endParaRPr lang="en-US" dirty="0"/>
                    </a:p>
                  </a:txBody>
                  <a:tcPr/>
                </a:tc>
                <a:tc>
                  <a:txBody>
                    <a:bodyPr/>
                    <a:lstStyle/>
                    <a:p>
                      <a:r>
                        <a:rPr lang="en-US" dirty="0" smtClean="0"/>
                        <a:t>synonyms</a:t>
                      </a:r>
                      <a:endParaRPr lang="en-US" dirty="0"/>
                    </a:p>
                  </a:txBody>
                  <a:tcPr/>
                </a:tc>
                <a:extLst>
                  <a:ext uri="{0D108BD9-81ED-4DB2-BD59-A6C34878D82A}">
                    <a16:rowId xmlns:a16="http://schemas.microsoft.com/office/drawing/2014/main" val="1607590363"/>
                  </a:ext>
                </a:extLst>
              </a:tr>
              <a:tr h="437810">
                <a:tc>
                  <a:txBody>
                    <a:bodyPr/>
                    <a:lstStyle/>
                    <a:p>
                      <a:r>
                        <a:rPr lang="en-US" dirty="0" smtClean="0"/>
                        <a:t>sadness</a:t>
                      </a:r>
                      <a:endParaRPr lang="en-US" dirty="0"/>
                    </a:p>
                  </a:txBody>
                  <a:tcPr/>
                </a:tc>
                <a:tc>
                  <a:txBody>
                    <a:bodyPr/>
                    <a:lstStyle/>
                    <a:p>
                      <a:r>
                        <a:rPr lang="en-US" dirty="0" smtClean="0"/>
                        <a:t>sadness, unhappiness, grief, sorrow, loneliness, depression</a:t>
                      </a:r>
                      <a:endParaRPr lang="en-US" dirty="0"/>
                    </a:p>
                  </a:txBody>
                  <a:tcPr/>
                </a:tc>
                <a:extLst>
                  <a:ext uri="{0D108BD9-81ED-4DB2-BD59-A6C34878D82A}">
                    <a16:rowId xmlns:a16="http://schemas.microsoft.com/office/drawing/2014/main" val="808457880"/>
                  </a:ext>
                </a:extLst>
              </a:tr>
              <a:tr h="437810">
                <a:tc>
                  <a:txBody>
                    <a:bodyPr/>
                    <a:lstStyle/>
                    <a:p>
                      <a:r>
                        <a:rPr lang="en-US" dirty="0" smtClean="0"/>
                        <a:t>joy</a:t>
                      </a:r>
                      <a:endParaRPr lang="en-US" dirty="0"/>
                    </a:p>
                  </a:txBody>
                  <a:tcPr/>
                </a:tc>
                <a:tc>
                  <a:txBody>
                    <a:bodyPr/>
                    <a:lstStyle/>
                    <a:p>
                      <a:r>
                        <a:rPr lang="en-US" dirty="0" smtClean="0"/>
                        <a:t>joy, an achievement, pleasure, the awesome, happiness, the blessing</a:t>
                      </a:r>
                      <a:endParaRPr lang="en-US" dirty="0"/>
                    </a:p>
                  </a:txBody>
                  <a:tcPr/>
                </a:tc>
                <a:extLst>
                  <a:ext uri="{0D108BD9-81ED-4DB2-BD59-A6C34878D82A}">
                    <a16:rowId xmlns:a16="http://schemas.microsoft.com/office/drawing/2014/main" val="2740971849"/>
                  </a:ext>
                </a:extLst>
              </a:tr>
              <a:tr h="257535">
                <a:tc>
                  <a:txBody>
                    <a:bodyPr/>
                    <a:lstStyle/>
                    <a:p>
                      <a:r>
                        <a:rPr lang="en-US" dirty="0" smtClean="0"/>
                        <a:t>anger</a:t>
                      </a:r>
                      <a:endParaRPr lang="en-US" dirty="0"/>
                    </a:p>
                  </a:txBody>
                  <a:tcPr/>
                </a:tc>
                <a:tc>
                  <a:txBody>
                    <a:bodyPr/>
                    <a:lstStyle/>
                    <a:p>
                      <a:r>
                        <a:rPr lang="en-US" dirty="0" smtClean="0"/>
                        <a:t>anger, annoyance, rage, outrage, fury, irritation</a:t>
                      </a:r>
                      <a:endParaRPr lang="en-US" dirty="0"/>
                    </a:p>
                  </a:txBody>
                  <a:tcPr/>
                </a:tc>
                <a:extLst>
                  <a:ext uri="{0D108BD9-81ED-4DB2-BD59-A6C34878D82A}">
                    <a16:rowId xmlns:a16="http://schemas.microsoft.com/office/drawing/2014/main" val="1038599901"/>
                  </a:ext>
                </a:extLst>
              </a:tr>
              <a:tr h="437810">
                <a:tc>
                  <a:txBody>
                    <a:bodyPr/>
                    <a:lstStyle/>
                    <a:p>
                      <a:r>
                        <a:rPr lang="en-US" dirty="0" smtClean="0"/>
                        <a:t>disgust</a:t>
                      </a:r>
                      <a:endParaRPr lang="en-US" dirty="0"/>
                    </a:p>
                  </a:txBody>
                  <a:tcPr/>
                </a:tc>
                <a:tc>
                  <a:txBody>
                    <a:bodyPr/>
                    <a:lstStyle/>
                    <a:p>
                      <a:r>
                        <a:rPr lang="en-US" dirty="0" smtClean="0"/>
                        <a:t>disgust, loathing, bitterness, ugliness, repugnance, revulsion</a:t>
                      </a:r>
                      <a:endParaRPr lang="en-US" dirty="0"/>
                    </a:p>
                  </a:txBody>
                  <a:tcPr/>
                </a:tc>
                <a:extLst>
                  <a:ext uri="{0D108BD9-81ED-4DB2-BD59-A6C34878D82A}">
                    <a16:rowId xmlns:a16="http://schemas.microsoft.com/office/drawing/2014/main" val="2052755806"/>
                  </a:ext>
                </a:extLst>
              </a:tr>
              <a:tr h="257535">
                <a:tc>
                  <a:txBody>
                    <a:bodyPr/>
                    <a:lstStyle/>
                    <a:p>
                      <a:r>
                        <a:rPr lang="en-US" dirty="0" smtClean="0"/>
                        <a:t>fear</a:t>
                      </a:r>
                      <a:endParaRPr lang="en-US" dirty="0"/>
                    </a:p>
                  </a:txBody>
                  <a:tcPr/>
                </a:tc>
                <a:tc>
                  <a:txBody>
                    <a:bodyPr/>
                    <a:lstStyle/>
                    <a:p>
                      <a:r>
                        <a:rPr lang="en-US" dirty="0" smtClean="0"/>
                        <a:t>fear, horror, anxiety, terror, dread, scare</a:t>
                      </a:r>
                      <a:endParaRPr lang="en-US" dirty="0"/>
                    </a:p>
                  </a:txBody>
                  <a:tcPr/>
                </a:tc>
                <a:extLst>
                  <a:ext uri="{0D108BD9-81ED-4DB2-BD59-A6C34878D82A}">
                    <a16:rowId xmlns:a16="http://schemas.microsoft.com/office/drawing/2014/main" val="3532770206"/>
                  </a:ext>
                </a:extLst>
              </a:tr>
              <a:tr h="437810">
                <a:tc>
                  <a:txBody>
                    <a:bodyPr/>
                    <a:lstStyle/>
                    <a:p>
                      <a:r>
                        <a:rPr lang="en-US" dirty="0" smtClean="0"/>
                        <a:t>surprise</a:t>
                      </a:r>
                      <a:endParaRPr lang="en-US" dirty="0"/>
                    </a:p>
                  </a:txBody>
                  <a:tcPr/>
                </a:tc>
                <a:tc>
                  <a:txBody>
                    <a:bodyPr/>
                    <a:lstStyle/>
                    <a:p>
                      <a:r>
                        <a:rPr lang="en-US" dirty="0" smtClean="0"/>
                        <a:t>surprise, astonishment, amazement, impression, perplexity, shock</a:t>
                      </a:r>
                      <a:endParaRPr lang="en-US" dirty="0"/>
                    </a:p>
                  </a:txBody>
                  <a:tcPr/>
                </a:tc>
                <a:extLst>
                  <a:ext uri="{0D108BD9-81ED-4DB2-BD59-A6C34878D82A}">
                    <a16:rowId xmlns:a16="http://schemas.microsoft.com/office/drawing/2014/main" val="134064499"/>
                  </a:ext>
                </a:extLst>
              </a:tr>
              <a:tr h="437810">
                <a:tc>
                  <a:txBody>
                    <a:bodyPr/>
                    <a:lstStyle/>
                    <a:p>
                      <a:r>
                        <a:rPr lang="en-US" dirty="0" smtClean="0"/>
                        <a:t>shame</a:t>
                      </a:r>
                      <a:endParaRPr lang="en-US" dirty="0"/>
                    </a:p>
                  </a:txBody>
                  <a:tcPr/>
                </a:tc>
                <a:tc>
                  <a:txBody>
                    <a:bodyPr/>
                    <a:lstStyle/>
                    <a:p>
                      <a:r>
                        <a:rPr lang="en-US" dirty="0" smtClean="0"/>
                        <a:t>shame, humiliation, embarrassment, disgrace, dishonor, discredit</a:t>
                      </a:r>
                      <a:endParaRPr lang="en-US" dirty="0"/>
                    </a:p>
                  </a:txBody>
                  <a:tcPr/>
                </a:tc>
                <a:extLst>
                  <a:ext uri="{0D108BD9-81ED-4DB2-BD59-A6C34878D82A}">
                    <a16:rowId xmlns:a16="http://schemas.microsoft.com/office/drawing/2014/main" val="3187374583"/>
                  </a:ext>
                </a:extLst>
              </a:tr>
              <a:tr h="437810">
                <a:tc>
                  <a:txBody>
                    <a:bodyPr/>
                    <a:lstStyle/>
                    <a:p>
                      <a:r>
                        <a:rPr lang="en-US" dirty="0" smtClean="0"/>
                        <a:t>guilt</a:t>
                      </a:r>
                      <a:endParaRPr lang="en-US" dirty="0"/>
                    </a:p>
                  </a:txBody>
                  <a:tcPr/>
                </a:tc>
                <a:tc>
                  <a:txBody>
                    <a:bodyPr/>
                    <a:lstStyle/>
                    <a:p>
                      <a:r>
                        <a:rPr lang="en-US" dirty="0" smtClean="0"/>
                        <a:t>guilt, culpability, responsibility, blameworthy, misconduct, regret</a:t>
                      </a:r>
                      <a:endParaRPr lang="en-US" dirty="0"/>
                    </a:p>
                  </a:txBody>
                  <a:tcPr/>
                </a:tc>
                <a:extLst>
                  <a:ext uri="{0D108BD9-81ED-4DB2-BD59-A6C34878D82A}">
                    <a16:rowId xmlns:a16="http://schemas.microsoft.com/office/drawing/2014/main" val="65733916"/>
                  </a:ext>
                </a:extLst>
              </a:tr>
            </a:tbl>
          </a:graphicData>
        </a:graphic>
      </p:graphicFrame>
    </p:spTree>
    <p:extLst>
      <p:ext uri="{BB962C8B-B14F-4D97-AF65-F5344CB8AC3E}">
        <p14:creationId xmlns:p14="http://schemas.microsoft.com/office/powerpoint/2010/main" val="275702977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ltLang="ja" smtClean="0"/>
              <a:t>4</a:t>
            </a:fld>
            <a:endParaRPr lang="ja" altLang="en-US"/>
          </a:p>
        </p:txBody>
      </p:sp>
      <p:sp>
        <p:nvSpPr>
          <p:cNvPr id="7" name="TextBox 6"/>
          <p:cNvSpPr txBox="1"/>
          <p:nvPr/>
        </p:nvSpPr>
        <p:spPr>
          <a:xfrm>
            <a:off x="1095829" y="137886"/>
            <a:ext cx="6785428" cy="307777"/>
          </a:xfrm>
          <a:prstGeom prst="rect">
            <a:avLst/>
          </a:prstGeom>
          <a:noFill/>
        </p:spPr>
        <p:txBody>
          <a:bodyPr wrap="square" rtlCol="0">
            <a:spAutoFit/>
          </a:bodyPr>
          <a:lstStyle/>
          <a:p>
            <a:pPr algn="ctr"/>
            <a:r>
              <a:rPr lang="en-US" b="1" dirty="0" smtClean="0"/>
              <a:t>Another idea to use synonyms of emotions</a:t>
            </a:r>
            <a:endParaRPr lang="en-US" b="1" dirty="0"/>
          </a:p>
        </p:txBody>
      </p:sp>
      <p:sp>
        <p:nvSpPr>
          <p:cNvPr id="8" name="TextBox 7"/>
          <p:cNvSpPr txBox="1"/>
          <p:nvPr/>
        </p:nvSpPr>
        <p:spPr>
          <a:xfrm>
            <a:off x="616857" y="762000"/>
            <a:ext cx="8033657" cy="3970318"/>
          </a:xfrm>
          <a:prstGeom prst="rect">
            <a:avLst/>
          </a:prstGeom>
          <a:noFill/>
        </p:spPr>
        <p:txBody>
          <a:bodyPr wrap="square" rtlCol="0">
            <a:spAutoFit/>
          </a:bodyPr>
          <a:lstStyle/>
          <a:p>
            <a:pPr>
              <a:lnSpc>
                <a:spcPct val="150000"/>
              </a:lnSpc>
            </a:pPr>
            <a:r>
              <a:rPr lang="en-US" dirty="0" smtClean="0"/>
              <a:t>To use more proper synonyms regarding the whole datasets, it’s possible to calculate the average of entailment probabilities for each of the synonyms of the true emotion and texts and check which synonyms have higher average of entailment probabilities for each emotion.</a:t>
            </a:r>
          </a:p>
          <a:p>
            <a:pPr>
              <a:lnSpc>
                <a:spcPct val="150000"/>
              </a:lnSpc>
            </a:pPr>
            <a:endParaRPr lang="en-US" dirty="0"/>
          </a:p>
          <a:p>
            <a:pPr>
              <a:lnSpc>
                <a:spcPct val="150000"/>
              </a:lnSpc>
            </a:pPr>
            <a:r>
              <a:rPr lang="en-US" dirty="0" smtClean="0"/>
              <a:t>Then, the </a:t>
            </a:r>
            <a:r>
              <a:rPr lang="en-US" dirty="0"/>
              <a:t>synonyms </a:t>
            </a:r>
            <a:r>
              <a:rPr lang="en-US" dirty="0" smtClean="0"/>
              <a:t>that have </a:t>
            </a:r>
            <a:r>
              <a:rPr lang="en-US" dirty="0"/>
              <a:t>higher average of entailment probabilities for each </a:t>
            </a:r>
            <a:r>
              <a:rPr lang="en-US" dirty="0" smtClean="0"/>
              <a:t>emotion in two datasets can be the representation of the emotion. (The entailment probability of that synonym can be representation of the entailment probability of the emotion or if two synonyms have high </a:t>
            </a:r>
            <a:r>
              <a:rPr lang="en-US" dirty="0"/>
              <a:t>entailment </a:t>
            </a:r>
            <a:r>
              <a:rPr lang="en-US" dirty="0" smtClean="0"/>
              <a:t>probabilities, the average of their </a:t>
            </a:r>
            <a:r>
              <a:rPr lang="en-US" dirty="0"/>
              <a:t>entailment probabilities </a:t>
            </a:r>
            <a:r>
              <a:rPr lang="en-US" dirty="0" smtClean="0"/>
              <a:t>can be </a:t>
            </a:r>
            <a:r>
              <a:rPr lang="en-US" dirty="0"/>
              <a:t>the representation of the entailment probability of </a:t>
            </a:r>
            <a:r>
              <a:rPr lang="en-US" dirty="0" smtClean="0"/>
              <a:t>the emotion.) </a:t>
            </a:r>
          </a:p>
          <a:p>
            <a:pPr>
              <a:lnSpc>
                <a:spcPct val="150000"/>
              </a:lnSpc>
            </a:pPr>
            <a:endParaRPr lang="en-US" dirty="0" smtClean="0"/>
          </a:p>
          <a:p>
            <a:pPr>
              <a:lnSpc>
                <a:spcPct val="150000"/>
              </a:lnSpc>
            </a:pPr>
            <a:endParaRPr lang="en-US" dirty="0"/>
          </a:p>
          <a:p>
            <a:pPr>
              <a:lnSpc>
                <a:spcPct val="150000"/>
              </a:lnSpc>
            </a:pPr>
            <a:r>
              <a:rPr lang="en-US" dirty="0" smtClean="0"/>
              <a:t> </a:t>
            </a:r>
            <a:endParaRPr lang="en-US" dirty="0"/>
          </a:p>
        </p:txBody>
      </p:sp>
    </p:spTree>
    <p:extLst>
      <p:ext uri="{BB962C8B-B14F-4D97-AF65-F5344CB8AC3E}">
        <p14:creationId xmlns:p14="http://schemas.microsoft.com/office/powerpoint/2010/main" val="6970103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buNone/>
            </a:pPr>
            <a:r>
              <a:rPr lang="en-US" b="1" dirty="0"/>
              <a:t>average of entailment probabilities for each synonym of </a:t>
            </a:r>
            <a:r>
              <a:rPr lang="en-US" b="1" dirty="0" smtClean="0"/>
              <a:t>the true </a:t>
            </a:r>
            <a:r>
              <a:rPr lang="en-US" b="1" dirty="0"/>
              <a:t>emotion</a:t>
            </a:r>
          </a:p>
        </p:txBody>
      </p:sp>
      <p:sp>
        <p:nvSpPr>
          <p:cNvPr id="4" name="Slide Number Placeholder 3"/>
          <p:cNvSpPr>
            <a:spLocks noGrp="1"/>
          </p:cNvSpPr>
          <p:nvPr>
            <p:ph type="sldNum" idx="12"/>
          </p:nvPr>
        </p:nvSpPr>
        <p:spPr>
          <a:xfrm>
            <a:off x="8179550" y="4782457"/>
            <a:ext cx="964450" cy="400793"/>
          </a:xfrm>
        </p:spPr>
        <p:txBody>
          <a:bodyPr/>
          <a:lstStyle/>
          <a:p>
            <a:pPr marL="0" lvl="0" indent="0" algn="r" rtl="0">
              <a:spcBef>
                <a:spcPts val="0"/>
              </a:spcBef>
              <a:spcAft>
                <a:spcPts val="0"/>
              </a:spcAft>
              <a:buNone/>
            </a:pPr>
            <a:fld id="{00000000-1234-1234-1234-123412341234}" type="slidenum">
              <a:rPr lang="en-US" altLang="ja" smtClean="0"/>
              <a:t>5</a:t>
            </a:fld>
            <a:endParaRPr lang="ja" altLang="en-US"/>
          </a:p>
        </p:txBody>
      </p:sp>
      <p:sp>
        <p:nvSpPr>
          <p:cNvPr id="5" name="TextBox 4"/>
          <p:cNvSpPr txBox="1"/>
          <p:nvPr/>
        </p:nvSpPr>
        <p:spPr>
          <a:xfrm>
            <a:off x="362855" y="762760"/>
            <a:ext cx="8534399" cy="1384995"/>
          </a:xfrm>
          <a:prstGeom prst="rect">
            <a:avLst/>
          </a:prstGeom>
          <a:noFill/>
        </p:spPr>
        <p:txBody>
          <a:bodyPr wrap="square" rtlCol="0">
            <a:spAutoFit/>
          </a:bodyPr>
          <a:lstStyle/>
          <a:p>
            <a:r>
              <a:rPr lang="en-US" dirty="0" smtClean="0"/>
              <a:t>The average of entailment probabilities for each synonym of the true emotion and texts in the dataset (</a:t>
            </a:r>
            <a:r>
              <a:rPr lang="en-US" dirty="0" err="1" smtClean="0"/>
              <a:t>Isear</a:t>
            </a:r>
            <a:r>
              <a:rPr lang="en-US" dirty="0" smtClean="0"/>
              <a:t> dataset) :</a:t>
            </a:r>
          </a:p>
          <a:p>
            <a:r>
              <a:rPr lang="en-US" dirty="0" smtClean="0"/>
              <a:t>   </a:t>
            </a:r>
          </a:p>
          <a:p>
            <a:r>
              <a:rPr lang="en-US" dirty="0" smtClean="0"/>
              <a:t>anger:</a:t>
            </a:r>
          </a:p>
          <a:p>
            <a:endParaRPr lang="en-US" dirty="0"/>
          </a:p>
          <a:p>
            <a:endParaRPr lang="en-US" dirty="0"/>
          </a:p>
        </p:txBody>
      </p:sp>
      <p:graphicFrame>
        <p:nvGraphicFramePr>
          <p:cNvPr id="6" name="Table 5"/>
          <p:cNvGraphicFramePr>
            <a:graphicFrameLocks noGrp="1"/>
          </p:cNvGraphicFramePr>
          <p:nvPr>
            <p:extLst>
              <p:ext uri="{D42A27DB-BD31-4B8C-83A1-F6EECF244321}">
                <p14:modId xmlns:p14="http://schemas.microsoft.com/office/powerpoint/2010/main" val="959186645"/>
              </p:ext>
            </p:extLst>
          </p:nvPr>
        </p:nvGraphicFramePr>
        <p:xfrm>
          <a:off x="518884" y="1708119"/>
          <a:ext cx="8222340" cy="1102360"/>
        </p:xfrm>
        <a:graphic>
          <a:graphicData uri="http://schemas.openxmlformats.org/drawingml/2006/table">
            <a:tbl>
              <a:tblPr firstRow="1" bandRow="1">
                <a:tableStyleId>{5C22544A-7EE6-4342-B048-85BDC9FD1C3A}</a:tableStyleId>
              </a:tblPr>
              <a:tblGrid>
                <a:gridCol w="1174620">
                  <a:extLst>
                    <a:ext uri="{9D8B030D-6E8A-4147-A177-3AD203B41FA5}">
                      <a16:colId xmlns:a16="http://schemas.microsoft.com/office/drawing/2014/main" val="3603832139"/>
                    </a:ext>
                  </a:extLst>
                </a:gridCol>
                <a:gridCol w="1174620">
                  <a:extLst>
                    <a:ext uri="{9D8B030D-6E8A-4147-A177-3AD203B41FA5}">
                      <a16:colId xmlns:a16="http://schemas.microsoft.com/office/drawing/2014/main" val="914479867"/>
                    </a:ext>
                  </a:extLst>
                </a:gridCol>
                <a:gridCol w="1174620">
                  <a:extLst>
                    <a:ext uri="{9D8B030D-6E8A-4147-A177-3AD203B41FA5}">
                      <a16:colId xmlns:a16="http://schemas.microsoft.com/office/drawing/2014/main" val="3830851643"/>
                    </a:ext>
                  </a:extLst>
                </a:gridCol>
                <a:gridCol w="1174620">
                  <a:extLst>
                    <a:ext uri="{9D8B030D-6E8A-4147-A177-3AD203B41FA5}">
                      <a16:colId xmlns:a16="http://schemas.microsoft.com/office/drawing/2014/main" val="2709983437"/>
                    </a:ext>
                  </a:extLst>
                </a:gridCol>
                <a:gridCol w="1174620">
                  <a:extLst>
                    <a:ext uri="{9D8B030D-6E8A-4147-A177-3AD203B41FA5}">
                      <a16:colId xmlns:a16="http://schemas.microsoft.com/office/drawing/2014/main" val="1185082481"/>
                    </a:ext>
                  </a:extLst>
                </a:gridCol>
                <a:gridCol w="1174620">
                  <a:extLst>
                    <a:ext uri="{9D8B030D-6E8A-4147-A177-3AD203B41FA5}">
                      <a16:colId xmlns:a16="http://schemas.microsoft.com/office/drawing/2014/main" val="887422139"/>
                    </a:ext>
                  </a:extLst>
                </a:gridCol>
                <a:gridCol w="1174620">
                  <a:extLst>
                    <a:ext uri="{9D8B030D-6E8A-4147-A177-3AD203B41FA5}">
                      <a16:colId xmlns:a16="http://schemas.microsoft.com/office/drawing/2014/main" val="2650393169"/>
                    </a:ext>
                  </a:extLst>
                </a:gridCol>
              </a:tblGrid>
              <a:tr h="370840">
                <a:tc>
                  <a:txBody>
                    <a:bodyPr/>
                    <a:lstStyle/>
                    <a:p>
                      <a:r>
                        <a:rPr lang="en-US" dirty="0" smtClean="0"/>
                        <a:t>synonym</a:t>
                      </a:r>
                      <a:endParaRPr lang="en-US" dirty="0"/>
                    </a:p>
                  </a:txBody>
                  <a:tcPr/>
                </a:tc>
                <a:tc>
                  <a:txBody>
                    <a:bodyPr/>
                    <a:lstStyle/>
                    <a:p>
                      <a:r>
                        <a:rPr lang="en-US" dirty="0" smtClean="0"/>
                        <a:t>anger</a:t>
                      </a:r>
                      <a:endParaRPr lang="en-US" dirty="0"/>
                    </a:p>
                  </a:txBody>
                  <a:tcPr/>
                </a:tc>
                <a:tc>
                  <a:txBody>
                    <a:bodyPr/>
                    <a:lstStyle/>
                    <a:p>
                      <a:r>
                        <a:rPr lang="en-US" dirty="0" smtClean="0"/>
                        <a:t>annoyance</a:t>
                      </a:r>
                      <a:endParaRPr lang="en-US" dirty="0"/>
                    </a:p>
                  </a:txBody>
                  <a:tcPr/>
                </a:tc>
                <a:tc>
                  <a:txBody>
                    <a:bodyPr/>
                    <a:lstStyle/>
                    <a:p>
                      <a:r>
                        <a:rPr lang="en-US" dirty="0" smtClean="0"/>
                        <a:t>rage</a:t>
                      </a:r>
                      <a:endParaRPr lang="en-US" dirty="0"/>
                    </a:p>
                  </a:txBody>
                  <a:tcPr/>
                </a:tc>
                <a:tc>
                  <a:txBody>
                    <a:bodyPr/>
                    <a:lstStyle/>
                    <a:p>
                      <a:r>
                        <a:rPr lang="en-US" dirty="0" smtClean="0"/>
                        <a:t>outrage</a:t>
                      </a:r>
                      <a:endParaRPr lang="en-US" dirty="0"/>
                    </a:p>
                  </a:txBody>
                  <a:tcPr/>
                </a:tc>
                <a:tc>
                  <a:txBody>
                    <a:bodyPr/>
                    <a:lstStyle/>
                    <a:p>
                      <a:r>
                        <a:rPr lang="en-US" dirty="0" smtClean="0"/>
                        <a:t>fury</a:t>
                      </a:r>
                      <a:endParaRPr lang="en-US" dirty="0"/>
                    </a:p>
                  </a:txBody>
                  <a:tcPr/>
                </a:tc>
                <a:tc>
                  <a:txBody>
                    <a:bodyPr/>
                    <a:lstStyle/>
                    <a:p>
                      <a:r>
                        <a:rPr lang="en-US" dirty="0" smtClean="0"/>
                        <a:t>irritation</a:t>
                      </a:r>
                      <a:endParaRPr lang="en-US" dirty="0"/>
                    </a:p>
                  </a:txBody>
                  <a:tcPr/>
                </a:tc>
                <a:extLst>
                  <a:ext uri="{0D108BD9-81ED-4DB2-BD59-A6C34878D82A}">
                    <a16:rowId xmlns:a16="http://schemas.microsoft.com/office/drawing/2014/main" val="3073573081"/>
                  </a:ext>
                </a:extLst>
              </a:tr>
              <a:tr h="370840">
                <a:tc>
                  <a:txBody>
                    <a:bodyPr/>
                    <a:lstStyle/>
                    <a:p>
                      <a:r>
                        <a:rPr lang="en-US" dirty="0" smtClean="0"/>
                        <a:t>Average of entailment probabilities </a:t>
                      </a:r>
                      <a:endParaRPr lang="en-US" dirty="0"/>
                    </a:p>
                  </a:txBody>
                  <a:tcPr/>
                </a:tc>
                <a:tc>
                  <a:txBody>
                    <a:bodyPr/>
                    <a:lstStyle/>
                    <a:p>
                      <a:r>
                        <a:rPr lang="en-US" dirty="0" smtClean="0"/>
                        <a:t>0.83</a:t>
                      </a:r>
                      <a:endParaRPr lang="en-US" dirty="0"/>
                    </a:p>
                  </a:txBody>
                  <a:tcPr/>
                </a:tc>
                <a:tc>
                  <a:txBody>
                    <a:bodyPr/>
                    <a:lstStyle/>
                    <a:p>
                      <a:r>
                        <a:rPr lang="en-US" dirty="0" smtClean="0"/>
                        <a:t>0.82</a:t>
                      </a:r>
                      <a:endParaRPr lang="en-US" dirty="0"/>
                    </a:p>
                  </a:txBody>
                  <a:tcPr/>
                </a:tc>
                <a:tc>
                  <a:txBody>
                    <a:bodyPr/>
                    <a:lstStyle/>
                    <a:p>
                      <a:r>
                        <a:rPr lang="en-US" dirty="0" smtClean="0"/>
                        <a:t>0.67</a:t>
                      </a:r>
                      <a:endParaRPr lang="en-US" dirty="0"/>
                    </a:p>
                  </a:txBody>
                  <a:tcPr/>
                </a:tc>
                <a:tc>
                  <a:txBody>
                    <a:bodyPr/>
                    <a:lstStyle/>
                    <a:p>
                      <a:r>
                        <a:rPr lang="en-US" dirty="0" smtClean="0"/>
                        <a:t>0.79</a:t>
                      </a:r>
                      <a:endParaRPr lang="en-US" dirty="0"/>
                    </a:p>
                  </a:txBody>
                  <a:tcPr/>
                </a:tc>
                <a:tc>
                  <a:txBody>
                    <a:bodyPr/>
                    <a:lstStyle/>
                    <a:p>
                      <a:r>
                        <a:rPr lang="en-US" dirty="0" smtClean="0"/>
                        <a:t>0.7</a:t>
                      </a:r>
                      <a:endParaRPr lang="en-US" dirty="0"/>
                    </a:p>
                  </a:txBody>
                  <a:tcPr/>
                </a:tc>
                <a:tc>
                  <a:txBody>
                    <a:bodyPr/>
                    <a:lstStyle/>
                    <a:p>
                      <a:r>
                        <a:rPr lang="en-US" dirty="0" smtClean="0"/>
                        <a:t>0.91</a:t>
                      </a:r>
                      <a:endParaRPr lang="en-US" dirty="0"/>
                    </a:p>
                  </a:txBody>
                  <a:tcPr/>
                </a:tc>
                <a:extLst>
                  <a:ext uri="{0D108BD9-81ED-4DB2-BD59-A6C34878D82A}">
                    <a16:rowId xmlns:a16="http://schemas.microsoft.com/office/drawing/2014/main" val="397868271"/>
                  </a:ext>
                </a:extLst>
              </a:tr>
            </a:tbl>
          </a:graphicData>
        </a:graphic>
      </p:graphicFrame>
      <p:sp>
        <p:nvSpPr>
          <p:cNvPr id="7" name="TextBox 6"/>
          <p:cNvSpPr txBox="1"/>
          <p:nvPr/>
        </p:nvSpPr>
        <p:spPr>
          <a:xfrm>
            <a:off x="602344" y="3004041"/>
            <a:ext cx="7293429" cy="307777"/>
          </a:xfrm>
          <a:prstGeom prst="rect">
            <a:avLst/>
          </a:prstGeom>
          <a:noFill/>
        </p:spPr>
        <p:txBody>
          <a:bodyPr wrap="square" rtlCol="0">
            <a:spAutoFit/>
          </a:bodyPr>
          <a:lstStyle/>
          <a:p>
            <a:r>
              <a:rPr lang="en-US" dirty="0"/>
              <a:t>d</a:t>
            </a:r>
            <a:r>
              <a:rPr lang="en-US" dirty="0" smtClean="0"/>
              <a:t>isgust:</a:t>
            </a:r>
            <a:endParaRPr lang="en-US" dirty="0"/>
          </a:p>
        </p:txBody>
      </p:sp>
      <p:graphicFrame>
        <p:nvGraphicFramePr>
          <p:cNvPr id="8" name="Table 7"/>
          <p:cNvGraphicFramePr>
            <a:graphicFrameLocks noGrp="1"/>
          </p:cNvGraphicFramePr>
          <p:nvPr>
            <p:extLst>
              <p:ext uri="{D42A27DB-BD31-4B8C-83A1-F6EECF244321}">
                <p14:modId xmlns:p14="http://schemas.microsoft.com/office/powerpoint/2010/main" val="4056865489"/>
              </p:ext>
            </p:extLst>
          </p:nvPr>
        </p:nvGraphicFramePr>
        <p:xfrm>
          <a:off x="602344" y="3414302"/>
          <a:ext cx="8352967" cy="1102360"/>
        </p:xfrm>
        <a:graphic>
          <a:graphicData uri="http://schemas.openxmlformats.org/drawingml/2006/table">
            <a:tbl>
              <a:tblPr firstRow="1" bandRow="1">
                <a:tableStyleId>{5C22544A-7EE6-4342-B048-85BDC9FD1C3A}</a:tableStyleId>
              </a:tblPr>
              <a:tblGrid>
                <a:gridCol w="1193281">
                  <a:extLst>
                    <a:ext uri="{9D8B030D-6E8A-4147-A177-3AD203B41FA5}">
                      <a16:colId xmlns:a16="http://schemas.microsoft.com/office/drawing/2014/main" val="2515422670"/>
                    </a:ext>
                  </a:extLst>
                </a:gridCol>
                <a:gridCol w="1193281">
                  <a:extLst>
                    <a:ext uri="{9D8B030D-6E8A-4147-A177-3AD203B41FA5}">
                      <a16:colId xmlns:a16="http://schemas.microsoft.com/office/drawing/2014/main" val="711805182"/>
                    </a:ext>
                  </a:extLst>
                </a:gridCol>
                <a:gridCol w="1193281">
                  <a:extLst>
                    <a:ext uri="{9D8B030D-6E8A-4147-A177-3AD203B41FA5}">
                      <a16:colId xmlns:a16="http://schemas.microsoft.com/office/drawing/2014/main" val="3213908025"/>
                    </a:ext>
                  </a:extLst>
                </a:gridCol>
                <a:gridCol w="1193281">
                  <a:extLst>
                    <a:ext uri="{9D8B030D-6E8A-4147-A177-3AD203B41FA5}">
                      <a16:colId xmlns:a16="http://schemas.microsoft.com/office/drawing/2014/main" val="1470325924"/>
                    </a:ext>
                  </a:extLst>
                </a:gridCol>
                <a:gridCol w="1193281">
                  <a:extLst>
                    <a:ext uri="{9D8B030D-6E8A-4147-A177-3AD203B41FA5}">
                      <a16:colId xmlns:a16="http://schemas.microsoft.com/office/drawing/2014/main" val="3784753392"/>
                    </a:ext>
                  </a:extLst>
                </a:gridCol>
                <a:gridCol w="1193281">
                  <a:extLst>
                    <a:ext uri="{9D8B030D-6E8A-4147-A177-3AD203B41FA5}">
                      <a16:colId xmlns:a16="http://schemas.microsoft.com/office/drawing/2014/main" val="3157324177"/>
                    </a:ext>
                  </a:extLst>
                </a:gridCol>
                <a:gridCol w="1193281">
                  <a:extLst>
                    <a:ext uri="{9D8B030D-6E8A-4147-A177-3AD203B41FA5}">
                      <a16:colId xmlns:a16="http://schemas.microsoft.com/office/drawing/2014/main" val="1033398870"/>
                    </a:ext>
                  </a:extLst>
                </a:gridCol>
              </a:tblGrid>
              <a:tr h="370840">
                <a:tc>
                  <a:txBody>
                    <a:bodyPr/>
                    <a:lstStyle/>
                    <a:p>
                      <a:r>
                        <a:rPr lang="en-US" dirty="0" smtClean="0"/>
                        <a:t>synonym</a:t>
                      </a:r>
                      <a:endParaRPr lang="en-US" dirty="0"/>
                    </a:p>
                  </a:txBody>
                  <a:tcPr/>
                </a:tc>
                <a:tc>
                  <a:txBody>
                    <a:bodyPr/>
                    <a:lstStyle/>
                    <a:p>
                      <a:r>
                        <a:rPr lang="en-US" dirty="0" smtClean="0"/>
                        <a:t>disgust</a:t>
                      </a:r>
                      <a:endParaRPr lang="en-US" dirty="0"/>
                    </a:p>
                  </a:txBody>
                  <a:tcPr/>
                </a:tc>
                <a:tc>
                  <a:txBody>
                    <a:bodyPr/>
                    <a:lstStyle/>
                    <a:p>
                      <a:r>
                        <a:rPr lang="en-US" dirty="0" smtClean="0"/>
                        <a:t>loathing</a:t>
                      </a:r>
                      <a:endParaRPr lang="en-US" dirty="0"/>
                    </a:p>
                  </a:txBody>
                  <a:tcPr/>
                </a:tc>
                <a:tc>
                  <a:txBody>
                    <a:bodyPr/>
                    <a:lstStyle/>
                    <a:p>
                      <a:r>
                        <a:rPr lang="en-US" dirty="0" smtClean="0"/>
                        <a:t>bitterness</a:t>
                      </a:r>
                      <a:endParaRPr lang="en-US" dirty="0"/>
                    </a:p>
                  </a:txBody>
                  <a:tcPr/>
                </a:tc>
                <a:tc>
                  <a:txBody>
                    <a:bodyPr/>
                    <a:lstStyle/>
                    <a:p>
                      <a:r>
                        <a:rPr lang="en-US" dirty="0" smtClean="0"/>
                        <a:t>ugliness</a:t>
                      </a:r>
                      <a:endParaRPr lang="en-US" dirty="0"/>
                    </a:p>
                  </a:txBody>
                  <a:tcPr/>
                </a:tc>
                <a:tc>
                  <a:txBody>
                    <a:bodyPr/>
                    <a:lstStyle/>
                    <a:p>
                      <a:r>
                        <a:rPr lang="en-US" dirty="0" smtClean="0"/>
                        <a:t>repugnance</a:t>
                      </a:r>
                      <a:endParaRPr lang="en-US" dirty="0"/>
                    </a:p>
                  </a:txBody>
                  <a:tcPr/>
                </a:tc>
                <a:tc>
                  <a:txBody>
                    <a:bodyPr/>
                    <a:lstStyle/>
                    <a:p>
                      <a:r>
                        <a:rPr lang="en-US" dirty="0" smtClean="0"/>
                        <a:t>revulsion</a:t>
                      </a:r>
                      <a:endParaRPr lang="en-US" dirty="0"/>
                    </a:p>
                  </a:txBody>
                  <a:tcPr/>
                </a:tc>
                <a:extLst>
                  <a:ext uri="{0D108BD9-81ED-4DB2-BD59-A6C34878D82A}">
                    <a16:rowId xmlns:a16="http://schemas.microsoft.com/office/drawing/2014/main" val="2751846203"/>
                  </a:ext>
                </a:extLst>
              </a:tr>
              <a:tr h="370840">
                <a:tc>
                  <a:txBody>
                    <a:bodyPr/>
                    <a:lstStyle/>
                    <a:p>
                      <a:r>
                        <a:rPr lang="en-US" dirty="0" smtClean="0"/>
                        <a:t>Average of entailment probabilities </a:t>
                      </a:r>
                      <a:endParaRPr lang="en-US" dirty="0"/>
                    </a:p>
                  </a:txBody>
                  <a:tcPr/>
                </a:tc>
                <a:tc>
                  <a:txBody>
                    <a:bodyPr/>
                    <a:lstStyle/>
                    <a:p>
                      <a:r>
                        <a:rPr lang="en-US" dirty="0" smtClean="0"/>
                        <a:t>0.78</a:t>
                      </a:r>
                      <a:endParaRPr lang="en-US" dirty="0"/>
                    </a:p>
                  </a:txBody>
                  <a:tcPr/>
                </a:tc>
                <a:tc>
                  <a:txBody>
                    <a:bodyPr/>
                    <a:lstStyle/>
                    <a:p>
                      <a:r>
                        <a:rPr lang="en-US" dirty="0" smtClean="0"/>
                        <a:t>0.67</a:t>
                      </a:r>
                      <a:endParaRPr lang="en-US" dirty="0"/>
                    </a:p>
                  </a:txBody>
                  <a:tcPr/>
                </a:tc>
                <a:tc>
                  <a:txBody>
                    <a:bodyPr/>
                    <a:lstStyle/>
                    <a:p>
                      <a:r>
                        <a:rPr lang="en-US" dirty="0" smtClean="0"/>
                        <a:t>0.68</a:t>
                      </a:r>
                      <a:endParaRPr lang="en-US" dirty="0"/>
                    </a:p>
                  </a:txBody>
                  <a:tcPr/>
                </a:tc>
                <a:tc>
                  <a:txBody>
                    <a:bodyPr/>
                    <a:lstStyle/>
                    <a:p>
                      <a:r>
                        <a:rPr lang="en-US" dirty="0" smtClean="0"/>
                        <a:t>0.62</a:t>
                      </a:r>
                      <a:endParaRPr lang="en-US" dirty="0"/>
                    </a:p>
                  </a:txBody>
                  <a:tcPr/>
                </a:tc>
                <a:tc>
                  <a:txBody>
                    <a:bodyPr/>
                    <a:lstStyle/>
                    <a:p>
                      <a:r>
                        <a:rPr lang="en-US" dirty="0" smtClean="0"/>
                        <a:t>0.87</a:t>
                      </a:r>
                      <a:endParaRPr lang="en-US" dirty="0"/>
                    </a:p>
                  </a:txBody>
                  <a:tcPr/>
                </a:tc>
                <a:tc>
                  <a:txBody>
                    <a:bodyPr/>
                    <a:lstStyle/>
                    <a:p>
                      <a:r>
                        <a:rPr lang="en-US" dirty="0" smtClean="0"/>
                        <a:t>0.75</a:t>
                      </a:r>
                      <a:endParaRPr lang="en-US" dirty="0"/>
                    </a:p>
                  </a:txBody>
                  <a:tcPr/>
                </a:tc>
                <a:extLst>
                  <a:ext uri="{0D108BD9-81ED-4DB2-BD59-A6C34878D82A}">
                    <a16:rowId xmlns:a16="http://schemas.microsoft.com/office/drawing/2014/main" val="2053983885"/>
                  </a:ext>
                </a:extLst>
              </a:tr>
            </a:tbl>
          </a:graphicData>
        </a:graphic>
      </p:graphicFrame>
    </p:spTree>
    <p:extLst>
      <p:ext uri="{BB962C8B-B14F-4D97-AF65-F5344CB8AC3E}">
        <p14:creationId xmlns:p14="http://schemas.microsoft.com/office/powerpoint/2010/main" val="18633480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1529" y="43543"/>
            <a:ext cx="8520600" cy="572700"/>
          </a:xfrm>
        </p:spPr>
        <p:txBody>
          <a:bodyPr/>
          <a:lstStyle/>
          <a:p>
            <a:pPr algn="ctr">
              <a:buNone/>
            </a:pPr>
            <a:r>
              <a:rPr lang="en-US" b="1" dirty="0"/>
              <a:t>average of entailment probabilities for each synonym of </a:t>
            </a:r>
            <a:r>
              <a:rPr lang="en-US" b="1" dirty="0" smtClean="0"/>
              <a:t>the true </a:t>
            </a:r>
            <a:r>
              <a:rPr lang="en-US" b="1" dirty="0"/>
              <a:t>emotion</a:t>
            </a:r>
            <a:endParaRPr lang="en-US"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ltLang="ja" smtClean="0"/>
              <a:t>6</a:t>
            </a:fld>
            <a:endParaRPr lang="ja" altLang="en-US"/>
          </a:p>
        </p:txBody>
      </p:sp>
      <p:graphicFrame>
        <p:nvGraphicFramePr>
          <p:cNvPr id="6" name="Table 5"/>
          <p:cNvGraphicFramePr>
            <a:graphicFrameLocks noGrp="1"/>
          </p:cNvGraphicFramePr>
          <p:nvPr>
            <p:extLst>
              <p:ext uri="{D42A27DB-BD31-4B8C-83A1-F6EECF244321}">
                <p14:modId xmlns:p14="http://schemas.microsoft.com/office/powerpoint/2010/main" val="1032622545"/>
              </p:ext>
            </p:extLst>
          </p:nvPr>
        </p:nvGraphicFramePr>
        <p:xfrm>
          <a:off x="562829" y="1308411"/>
          <a:ext cx="8008658" cy="1102360"/>
        </p:xfrm>
        <a:graphic>
          <a:graphicData uri="http://schemas.openxmlformats.org/drawingml/2006/table">
            <a:tbl>
              <a:tblPr firstRow="1" bandRow="1">
                <a:tableStyleId>{5C22544A-7EE6-4342-B048-85BDC9FD1C3A}</a:tableStyleId>
              </a:tblPr>
              <a:tblGrid>
                <a:gridCol w="1144094">
                  <a:extLst>
                    <a:ext uri="{9D8B030D-6E8A-4147-A177-3AD203B41FA5}">
                      <a16:colId xmlns:a16="http://schemas.microsoft.com/office/drawing/2014/main" val="4049186754"/>
                    </a:ext>
                  </a:extLst>
                </a:gridCol>
                <a:gridCol w="1144094">
                  <a:extLst>
                    <a:ext uri="{9D8B030D-6E8A-4147-A177-3AD203B41FA5}">
                      <a16:colId xmlns:a16="http://schemas.microsoft.com/office/drawing/2014/main" val="1864259392"/>
                    </a:ext>
                  </a:extLst>
                </a:gridCol>
                <a:gridCol w="1144094">
                  <a:extLst>
                    <a:ext uri="{9D8B030D-6E8A-4147-A177-3AD203B41FA5}">
                      <a16:colId xmlns:a16="http://schemas.microsoft.com/office/drawing/2014/main" val="3175270220"/>
                    </a:ext>
                  </a:extLst>
                </a:gridCol>
                <a:gridCol w="1144094">
                  <a:extLst>
                    <a:ext uri="{9D8B030D-6E8A-4147-A177-3AD203B41FA5}">
                      <a16:colId xmlns:a16="http://schemas.microsoft.com/office/drawing/2014/main" val="2053500463"/>
                    </a:ext>
                  </a:extLst>
                </a:gridCol>
                <a:gridCol w="1144094">
                  <a:extLst>
                    <a:ext uri="{9D8B030D-6E8A-4147-A177-3AD203B41FA5}">
                      <a16:colId xmlns:a16="http://schemas.microsoft.com/office/drawing/2014/main" val="1663986125"/>
                    </a:ext>
                  </a:extLst>
                </a:gridCol>
                <a:gridCol w="1144094">
                  <a:extLst>
                    <a:ext uri="{9D8B030D-6E8A-4147-A177-3AD203B41FA5}">
                      <a16:colId xmlns:a16="http://schemas.microsoft.com/office/drawing/2014/main" val="3168953696"/>
                    </a:ext>
                  </a:extLst>
                </a:gridCol>
                <a:gridCol w="1144094">
                  <a:extLst>
                    <a:ext uri="{9D8B030D-6E8A-4147-A177-3AD203B41FA5}">
                      <a16:colId xmlns:a16="http://schemas.microsoft.com/office/drawing/2014/main" val="2105327687"/>
                    </a:ext>
                  </a:extLst>
                </a:gridCol>
              </a:tblGrid>
              <a:tr h="370840">
                <a:tc>
                  <a:txBody>
                    <a:bodyPr/>
                    <a:lstStyle/>
                    <a:p>
                      <a:r>
                        <a:rPr lang="en-US" dirty="0" smtClean="0"/>
                        <a:t>synonym</a:t>
                      </a:r>
                      <a:endParaRPr lang="en-US" dirty="0"/>
                    </a:p>
                  </a:txBody>
                  <a:tcPr/>
                </a:tc>
                <a:tc>
                  <a:txBody>
                    <a:bodyPr/>
                    <a:lstStyle/>
                    <a:p>
                      <a:r>
                        <a:rPr lang="en-US" dirty="0" smtClean="0"/>
                        <a:t>fear</a:t>
                      </a:r>
                      <a:endParaRPr lang="en-US" dirty="0"/>
                    </a:p>
                  </a:txBody>
                  <a:tcPr/>
                </a:tc>
                <a:tc>
                  <a:txBody>
                    <a:bodyPr/>
                    <a:lstStyle/>
                    <a:p>
                      <a:r>
                        <a:rPr lang="en-US" dirty="0" smtClean="0"/>
                        <a:t>horror</a:t>
                      </a:r>
                      <a:endParaRPr lang="en-US" dirty="0"/>
                    </a:p>
                  </a:txBody>
                  <a:tcPr/>
                </a:tc>
                <a:tc>
                  <a:txBody>
                    <a:bodyPr/>
                    <a:lstStyle/>
                    <a:p>
                      <a:r>
                        <a:rPr lang="en-US" dirty="0" smtClean="0"/>
                        <a:t>anxiety</a:t>
                      </a:r>
                      <a:endParaRPr lang="en-US" dirty="0"/>
                    </a:p>
                  </a:txBody>
                  <a:tcPr/>
                </a:tc>
                <a:tc>
                  <a:txBody>
                    <a:bodyPr/>
                    <a:lstStyle/>
                    <a:p>
                      <a:r>
                        <a:rPr lang="en-US" dirty="0" smtClean="0"/>
                        <a:t>terror</a:t>
                      </a:r>
                      <a:endParaRPr lang="en-US" dirty="0"/>
                    </a:p>
                  </a:txBody>
                  <a:tcPr/>
                </a:tc>
                <a:tc>
                  <a:txBody>
                    <a:bodyPr/>
                    <a:lstStyle/>
                    <a:p>
                      <a:r>
                        <a:rPr lang="en-US" dirty="0" smtClean="0"/>
                        <a:t>dread</a:t>
                      </a:r>
                      <a:endParaRPr lang="en-US" dirty="0"/>
                    </a:p>
                  </a:txBody>
                  <a:tcPr/>
                </a:tc>
                <a:tc>
                  <a:txBody>
                    <a:bodyPr/>
                    <a:lstStyle/>
                    <a:p>
                      <a:r>
                        <a:rPr lang="en-US" dirty="0" smtClean="0"/>
                        <a:t>scare</a:t>
                      </a:r>
                      <a:endParaRPr lang="en-US" dirty="0"/>
                    </a:p>
                  </a:txBody>
                  <a:tcPr/>
                </a:tc>
                <a:extLst>
                  <a:ext uri="{0D108BD9-81ED-4DB2-BD59-A6C34878D82A}">
                    <a16:rowId xmlns:a16="http://schemas.microsoft.com/office/drawing/2014/main" val="2373476349"/>
                  </a:ext>
                </a:extLst>
              </a:tr>
              <a:tr h="370840">
                <a:tc>
                  <a:txBody>
                    <a:bodyPr/>
                    <a:lstStyle/>
                    <a:p>
                      <a:r>
                        <a:rPr lang="en-US" dirty="0" smtClean="0"/>
                        <a:t>Average of entailment probabilities </a:t>
                      </a:r>
                      <a:endParaRPr lang="en-US" dirty="0"/>
                    </a:p>
                  </a:txBody>
                  <a:tcPr/>
                </a:tc>
                <a:tc>
                  <a:txBody>
                    <a:bodyPr/>
                    <a:lstStyle/>
                    <a:p>
                      <a:r>
                        <a:rPr lang="en-US" dirty="0" smtClean="0"/>
                        <a:t>0.9</a:t>
                      </a:r>
                      <a:endParaRPr lang="en-US" dirty="0"/>
                    </a:p>
                  </a:txBody>
                  <a:tcPr/>
                </a:tc>
                <a:tc>
                  <a:txBody>
                    <a:bodyPr/>
                    <a:lstStyle/>
                    <a:p>
                      <a:r>
                        <a:rPr lang="en-US" dirty="0" smtClean="0"/>
                        <a:t>0.76</a:t>
                      </a:r>
                      <a:endParaRPr lang="en-US" dirty="0"/>
                    </a:p>
                  </a:txBody>
                  <a:tcPr/>
                </a:tc>
                <a:tc>
                  <a:txBody>
                    <a:bodyPr/>
                    <a:lstStyle/>
                    <a:p>
                      <a:r>
                        <a:rPr lang="en-US" dirty="0" smtClean="0"/>
                        <a:t>0.87</a:t>
                      </a:r>
                      <a:endParaRPr lang="en-US" dirty="0"/>
                    </a:p>
                  </a:txBody>
                  <a:tcPr/>
                </a:tc>
                <a:tc>
                  <a:txBody>
                    <a:bodyPr/>
                    <a:lstStyle/>
                    <a:p>
                      <a:r>
                        <a:rPr lang="en-US" dirty="0" smtClean="0"/>
                        <a:t>0.81</a:t>
                      </a:r>
                      <a:endParaRPr lang="en-US" dirty="0"/>
                    </a:p>
                  </a:txBody>
                  <a:tcPr/>
                </a:tc>
                <a:tc>
                  <a:txBody>
                    <a:bodyPr/>
                    <a:lstStyle/>
                    <a:p>
                      <a:r>
                        <a:rPr lang="en-US" dirty="0" smtClean="0"/>
                        <a:t>0.83</a:t>
                      </a:r>
                      <a:endParaRPr lang="en-US" dirty="0"/>
                    </a:p>
                  </a:txBody>
                  <a:tcPr/>
                </a:tc>
                <a:tc>
                  <a:txBody>
                    <a:bodyPr/>
                    <a:lstStyle/>
                    <a:p>
                      <a:r>
                        <a:rPr lang="en-US" dirty="0" smtClean="0"/>
                        <a:t>0.92</a:t>
                      </a:r>
                      <a:endParaRPr lang="en-US" dirty="0"/>
                    </a:p>
                  </a:txBody>
                  <a:tcPr/>
                </a:tc>
                <a:extLst>
                  <a:ext uri="{0D108BD9-81ED-4DB2-BD59-A6C34878D82A}">
                    <a16:rowId xmlns:a16="http://schemas.microsoft.com/office/drawing/2014/main" val="3384291579"/>
                  </a:ext>
                </a:extLst>
              </a:tr>
            </a:tbl>
          </a:graphicData>
        </a:graphic>
      </p:graphicFrame>
      <p:graphicFrame>
        <p:nvGraphicFramePr>
          <p:cNvPr id="8" name="Table 7"/>
          <p:cNvGraphicFramePr>
            <a:graphicFrameLocks noGrp="1"/>
          </p:cNvGraphicFramePr>
          <p:nvPr>
            <p:extLst>
              <p:ext uri="{D42A27DB-BD31-4B8C-83A1-F6EECF244321}">
                <p14:modId xmlns:p14="http://schemas.microsoft.com/office/powerpoint/2010/main" val="3025328165"/>
              </p:ext>
            </p:extLst>
          </p:nvPr>
        </p:nvGraphicFramePr>
        <p:xfrm>
          <a:off x="545087" y="3267011"/>
          <a:ext cx="8541655" cy="1384301"/>
        </p:xfrm>
        <a:graphic>
          <a:graphicData uri="http://schemas.openxmlformats.org/drawingml/2006/table">
            <a:tbl>
              <a:tblPr firstRow="1" bandRow="1">
                <a:tableStyleId>{5C22544A-7EE6-4342-B048-85BDC9FD1C3A}</a:tableStyleId>
              </a:tblPr>
              <a:tblGrid>
                <a:gridCol w="1221335">
                  <a:extLst>
                    <a:ext uri="{9D8B030D-6E8A-4147-A177-3AD203B41FA5}">
                      <a16:colId xmlns:a16="http://schemas.microsoft.com/office/drawing/2014/main" val="3338175615"/>
                    </a:ext>
                  </a:extLst>
                </a:gridCol>
                <a:gridCol w="1221335">
                  <a:extLst>
                    <a:ext uri="{9D8B030D-6E8A-4147-A177-3AD203B41FA5}">
                      <a16:colId xmlns:a16="http://schemas.microsoft.com/office/drawing/2014/main" val="2242755861"/>
                    </a:ext>
                  </a:extLst>
                </a:gridCol>
                <a:gridCol w="1221335">
                  <a:extLst>
                    <a:ext uri="{9D8B030D-6E8A-4147-A177-3AD203B41FA5}">
                      <a16:colId xmlns:a16="http://schemas.microsoft.com/office/drawing/2014/main" val="1956018544"/>
                    </a:ext>
                  </a:extLst>
                </a:gridCol>
                <a:gridCol w="1221335">
                  <a:extLst>
                    <a:ext uri="{9D8B030D-6E8A-4147-A177-3AD203B41FA5}">
                      <a16:colId xmlns:a16="http://schemas.microsoft.com/office/drawing/2014/main" val="3142988322"/>
                    </a:ext>
                  </a:extLst>
                </a:gridCol>
                <a:gridCol w="1221335">
                  <a:extLst>
                    <a:ext uri="{9D8B030D-6E8A-4147-A177-3AD203B41FA5}">
                      <a16:colId xmlns:a16="http://schemas.microsoft.com/office/drawing/2014/main" val="3662823564"/>
                    </a:ext>
                  </a:extLst>
                </a:gridCol>
                <a:gridCol w="1221335">
                  <a:extLst>
                    <a:ext uri="{9D8B030D-6E8A-4147-A177-3AD203B41FA5}">
                      <a16:colId xmlns:a16="http://schemas.microsoft.com/office/drawing/2014/main" val="3454475764"/>
                    </a:ext>
                  </a:extLst>
                </a:gridCol>
                <a:gridCol w="1213645">
                  <a:extLst>
                    <a:ext uri="{9D8B030D-6E8A-4147-A177-3AD203B41FA5}">
                      <a16:colId xmlns:a16="http://schemas.microsoft.com/office/drawing/2014/main" val="3263443108"/>
                    </a:ext>
                  </a:extLst>
                </a:gridCol>
              </a:tblGrid>
              <a:tr h="652781">
                <a:tc>
                  <a:txBody>
                    <a:bodyPr/>
                    <a:lstStyle/>
                    <a:p>
                      <a:r>
                        <a:rPr lang="en-US" dirty="0" smtClean="0"/>
                        <a:t>synonym</a:t>
                      </a:r>
                      <a:endParaRPr lang="en-US" dirty="0"/>
                    </a:p>
                  </a:txBody>
                  <a:tcPr/>
                </a:tc>
                <a:tc>
                  <a:txBody>
                    <a:bodyPr/>
                    <a:lstStyle/>
                    <a:p>
                      <a:r>
                        <a:rPr lang="en-US" dirty="0" smtClean="0"/>
                        <a:t>guilt</a:t>
                      </a:r>
                      <a:endParaRPr lang="en-US" dirty="0"/>
                    </a:p>
                  </a:txBody>
                  <a:tcPr/>
                </a:tc>
                <a:tc>
                  <a:txBody>
                    <a:bodyPr/>
                    <a:lstStyle/>
                    <a:p>
                      <a:r>
                        <a:rPr lang="en-US" dirty="0" smtClean="0"/>
                        <a:t>culpability</a:t>
                      </a:r>
                      <a:endParaRPr lang="en-US" dirty="0"/>
                    </a:p>
                  </a:txBody>
                  <a:tcPr/>
                </a:tc>
                <a:tc>
                  <a:txBody>
                    <a:bodyPr/>
                    <a:lstStyle/>
                    <a:p>
                      <a:r>
                        <a:rPr lang="en-US" dirty="0" smtClean="0"/>
                        <a:t>blameworthy</a:t>
                      </a:r>
                      <a:endParaRPr lang="en-US" dirty="0"/>
                    </a:p>
                  </a:txBody>
                  <a:tcPr/>
                </a:tc>
                <a:tc>
                  <a:txBody>
                    <a:bodyPr/>
                    <a:lstStyle/>
                    <a:p>
                      <a:r>
                        <a:rPr lang="en-US" dirty="0" smtClean="0"/>
                        <a:t>responsibility</a:t>
                      </a:r>
                      <a:endParaRPr lang="en-US" dirty="0"/>
                    </a:p>
                  </a:txBody>
                  <a:tcPr/>
                </a:tc>
                <a:tc>
                  <a:txBody>
                    <a:bodyPr/>
                    <a:lstStyle/>
                    <a:p>
                      <a:r>
                        <a:rPr lang="en-US" dirty="0" smtClean="0"/>
                        <a:t>misconduct</a:t>
                      </a:r>
                      <a:endParaRPr lang="en-US" dirty="0"/>
                    </a:p>
                  </a:txBody>
                  <a:tcPr/>
                </a:tc>
                <a:tc>
                  <a:txBody>
                    <a:bodyPr/>
                    <a:lstStyle/>
                    <a:p>
                      <a:r>
                        <a:rPr lang="en-US" dirty="0" smtClean="0"/>
                        <a:t>regret</a:t>
                      </a:r>
                      <a:endParaRPr lang="en-US" dirty="0"/>
                    </a:p>
                  </a:txBody>
                  <a:tcPr/>
                </a:tc>
                <a:extLst>
                  <a:ext uri="{0D108BD9-81ED-4DB2-BD59-A6C34878D82A}">
                    <a16:rowId xmlns:a16="http://schemas.microsoft.com/office/drawing/2014/main" val="685519679"/>
                  </a:ext>
                </a:extLst>
              </a:tr>
              <a:tr h="551904">
                <a:tc>
                  <a:txBody>
                    <a:bodyPr/>
                    <a:lstStyle/>
                    <a:p>
                      <a:r>
                        <a:rPr lang="en-US" dirty="0" smtClean="0"/>
                        <a:t>Average of entailment probabilities </a:t>
                      </a:r>
                      <a:endParaRPr lang="en-US" dirty="0"/>
                    </a:p>
                  </a:txBody>
                  <a:tcPr/>
                </a:tc>
                <a:tc>
                  <a:txBody>
                    <a:bodyPr/>
                    <a:lstStyle/>
                    <a:p>
                      <a:r>
                        <a:rPr lang="en-US" dirty="0" smtClean="0"/>
                        <a:t>0.85</a:t>
                      </a:r>
                      <a:endParaRPr lang="en-US" dirty="0"/>
                    </a:p>
                  </a:txBody>
                  <a:tcPr/>
                </a:tc>
                <a:tc>
                  <a:txBody>
                    <a:bodyPr/>
                    <a:lstStyle/>
                    <a:p>
                      <a:r>
                        <a:rPr lang="en-US" dirty="0" smtClean="0"/>
                        <a:t>0.91</a:t>
                      </a:r>
                      <a:endParaRPr lang="en-US" dirty="0"/>
                    </a:p>
                  </a:txBody>
                  <a:tcPr/>
                </a:tc>
                <a:tc>
                  <a:txBody>
                    <a:bodyPr/>
                    <a:lstStyle/>
                    <a:p>
                      <a:r>
                        <a:rPr lang="en-US" dirty="0" smtClean="0"/>
                        <a:t>0.85</a:t>
                      </a:r>
                      <a:endParaRPr lang="en-US" dirty="0"/>
                    </a:p>
                  </a:txBody>
                  <a:tcPr/>
                </a:tc>
                <a:tc>
                  <a:txBody>
                    <a:bodyPr/>
                    <a:lstStyle/>
                    <a:p>
                      <a:r>
                        <a:rPr lang="en-US" dirty="0" smtClean="0"/>
                        <a:t>0.73</a:t>
                      </a:r>
                      <a:endParaRPr lang="en-US" dirty="0"/>
                    </a:p>
                  </a:txBody>
                  <a:tcPr/>
                </a:tc>
                <a:tc>
                  <a:txBody>
                    <a:bodyPr/>
                    <a:lstStyle/>
                    <a:p>
                      <a:r>
                        <a:rPr lang="en-US" dirty="0" smtClean="0"/>
                        <a:t>0.8</a:t>
                      </a:r>
                      <a:endParaRPr lang="en-US" dirty="0"/>
                    </a:p>
                  </a:txBody>
                  <a:tcPr/>
                </a:tc>
                <a:tc>
                  <a:txBody>
                    <a:bodyPr/>
                    <a:lstStyle/>
                    <a:p>
                      <a:r>
                        <a:rPr lang="en-US" dirty="0" smtClean="0"/>
                        <a:t>0.79</a:t>
                      </a:r>
                      <a:endParaRPr lang="en-US" dirty="0"/>
                    </a:p>
                  </a:txBody>
                  <a:tcPr/>
                </a:tc>
                <a:extLst>
                  <a:ext uri="{0D108BD9-81ED-4DB2-BD59-A6C34878D82A}">
                    <a16:rowId xmlns:a16="http://schemas.microsoft.com/office/drawing/2014/main" val="1115609313"/>
                  </a:ext>
                </a:extLst>
              </a:tr>
            </a:tbl>
          </a:graphicData>
        </a:graphic>
      </p:graphicFrame>
      <p:sp>
        <p:nvSpPr>
          <p:cNvPr id="9" name="TextBox 8"/>
          <p:cNvSpPr txBox="1"/>
          <p:nvPr/>
        </p:nvSpPr>
        <p:spPr>
          <a:xfrm>
            <a:off x="541057" y="818478"/>
            <a:ext cx="1219200" cy="307777"/>
          </a:xfrm>
          <a:prstGeom prst="rect">
            <a:avLst/>
          </a:prstGeom>
          <a:noFill/>
        </p:spPr>
        <p:txBody>
          <a:bodyPr wrap="square" rtlCol="0">
            <a:spAutoFit/>
          </a:bodyPr>
          <a:lstStyle/>
          <a:p>
            <a:r>
              <a:rPr lang="en-US" dirty="0"/>
              <a:t>f</a:t>
            </a:r>
            <a:r>
              <a:rPr lang="en-US" dirty="0" smtClean="0"/>
              <a:t>ear:</a:t>
            </a:r>
            <a:endParaRPr lang="en-US" dirty="0"/>
          </a:p>
        </p:txBody>
      </p:sp>
      <p:sp>
        <p:nvSpPr>
          <p:cNvPr id="10" name="TextBox 9"/>
          <p:cNvSpPr txBox="1"/>
          <p:nvPr/>
        </p:nvSpPr>
        <p:spPr>
          <a:xfrm>
            <a:off x="541057" y="2685002"/>
            <a:ext cx="6966857" cy="307777"/>
          </a:xfrm>
          <a:prstGeom prst="rect">
            <a:avLst/>
          </a:prstGeom>
          <a:noFill/>
        </p:spPr>
        <p:txBody>
          <a:bodyPr wrap="square" rtlCol="0">
            <a:spAutoFit/>
          </a:bodyPr>
          <a:lstStyle/>
          <a:p>
            <a:r>
              <a:rPr lang="en-US" dirty="0"/>
              <a:t>g</a:t>
            </a:r>
            <a:r>
              <a:rPr lang="en-US" dirty="0" smtClean="0"/>
              <a:t>uilt:</a:t>
            </a:r>
            <a:endParaRPr lang="en-US" dirty="0"/>
          </a:p>
        </p:txBody>
      </p:sp>
    </p:spTree>
    <p:extLst>
      <p:ext uri="{BB962C8B-B14F-4D97-AF65-F5344CB8AC3E}">
        <p14:creationId xmlns:p14="http://schemas.microsoft.com/office/powerpoint/2010/main" val="10636310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buNone/>
            </a:pPr>
            <a:r>
              <a:rPr lang="en-US" b="1" dirty="0"/>
              <a:t>average of entailment probabilities for each synonym of the emotion</a:t>
            </a:r>
            <a:endParaRPr lang="en-US"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ltLang="ja" smtClean="0"/>
              <a:t>7</a:t>
            </a:fld>
            <a:endParaRPr lang="ja" altLang="en-US"/>
          </a:p>
        </p:txBody>
      </p:sp>
      <p:graphicFrame>
        <p:nvGraphicFramePr>
          <p:cNvPr id="5" name="Table 4"/>
          <p:cNvGraphicFramePr>
            <a:graphicFrameLocks noGrp="1"/>
          </p:cNvGraphicFramePr>
          <p:nvPr>
            <p:extLst>
              <p:ext uri="{D42A27DB-BD31-4B8C-83A1-F6EECF244321}">
                <p14:modId xmlns:p14="http://schemas.microsoft.com/office/powerpoint/2010/main" val="1522179527"/>
              </p:ext>
            </p:extLst>
          </p:nvPr>
        </p:nvGraphicFramePr>
        <p:xfrm>
          <a:off x="540654" y="939658"/>
          <a:ext cx="8062691" cy="1259884"/>
        </p:xfrm>
        <a:graphic>
          <a:graphicData uri="http://schemas.openxmlformats.org/drawingml/2006/table">
            <a:tbl>
              <a:tblPr firstRow="1" bandRow="1">
                <a:tableStyleId>{5C22544A-7EE6-4342-B048-85BDC9FD1C3A}</a:tableStyleId>
              </a:tblPr>
              <a:tblGrid>
                <a:gridCol w="1151813">
                  <a:extLst>
                    <a:ext uri="{9D8B030D-6E8A-4147-A177-3AD203B41FA5}">
                      <a16:colId xmlns:a16="http://schemas.microsoft.com/office/drawing/2014/main" val="3564254509"/>
                    </a:ext>
                  </a:extLst>
                </a:gridCol>
                <a:gridCol w="1151813">
                  <a:extLst>
                    <a:ext uri="{9D8B030D-6E8A-4147-A177-3AD203B41FA5}">
                      <a16:colId xmlns:a16="http://schemas.microsoft.com/office/drawing/2014/main" val="2423578708"/>
                    </a:ext>
                  </a:extLst>
                </a:gridCol>
                <a:gridCol w="1151813">
                  <a:extLst>
                    <a:ext uri="{9D8B030D-6E8A-4147-A177-3AD203B41FA5}">
                      <a16:colId xmlns:a16="http://schemas.microsoft.com/office/drawing/2014/main" val="3330058820"/>
                    </a:ext>
                  </a:extLst>
                </a:gridCol>
                <a:gridCol w="1151813">
                  <a:extLst>
                    <a:ext uri="{9D8B030D-6E8A-4147-A177-3AD203B41FA5}">
                      <a16:colId xmlns:a16="http://schemas.microsoft.com/office/drawing/2014/main" val="1201558090"/>
                    </a:ext>
                  </a:extLst>
                </a:gridCol>
                <a:gridCol w="1151813">
                  <a:extLst>
                    <a:ext uri="{9D8B030D-6E8A-4147-A177-3AD203B41FA5}">
                      <a16:colId xmlns:a16="http://schemas.microsoft.com/office/drawing/2014/main" val="678461062"/>
                    </a:ext>
                  </a:extLst>
                </a:gridCol>
                <a:gridCol w="1151813">
                  <a:extLst>
                    <a:ext uri="{9D8B030D-6E8A-4147-A177-3AD203B41FA5}">
                      <a16:colId xmlns:a16="http://schemas.microsoft.com/office/drawing/2014/main" val="1943154136"/>
                    </a:ext>
                  </a:extLst>
                </a:gridCol>
                <a:gridCol w="1151813">
                  <a:extLst>
                    <a:ext uri="{9D8B030D-6E8A-4147-A177-3AD203B41FA5}">
                      <a16:colId xmlns:a16="http://schemas.microsoft.com/office/drawing/2014/main" val="1906479259"/>
                    </a:ext>
                  </a:extLst>
                </a:gridCol>
              </a:tblGrid>
              <a:tr h="528364">
                <a:tc>
                  <a:txBody>
                    <a:bodyPr/>
                    <a:lstStyle/>
                    <a:p>
                      <a:r>
                        <a:rPr lang="en-US" dirty="0" smtClean="0"/>
                        <a:t>synonym</a:t>
                      </a:r>
                      <a:endParaRPr lang="en-US" dirty="0"/>
                    </a:p>
                  </a:txBody>
                  <a:tcPr/>
                </a:tc>
                <a:tc>
                  <a:txBody>
                    <a:bodyPr/>
                    <a:lstStyle/>
                    <a:p>
                      <a:r>
                        <a:rPr lang="en-US" dirty="0" smtClean="0"/>
                        <a:t>joy</a:t>
                      </a:r>
                      <a:endParaRPr lang="en-US" dirty="0"/>
                    </a:p>
                  </a:txBody>
                  <a:tcPr/>
                </a:tc>
                <a:tc>
                  <a:txBody>
                    <a:bodyPr/>
                    <a:lstStyle/>
                    <a:p>
                      <a:r>
                        <a:rPr lang="en-US" dirty="0" smtClean="0"/>
                        <a:t>achievement</a:t>
                      </a:r>
                      <a:endParaRPr lang="en-US" dirty="0"/>
                    </a:p>
                  </a:txBody>
                  <a:tcPr/>
                </a:tc>
                <a:tc>
                  <a:txBody>
                    <a:bodyPr/>
                    <a:lstStyle/>
                    <a:p>
                      <a:r>
                        <a:rPr lang="en-US" dirty="0" smtClean="0"/>
                        <a:t>pleasure</a:t>
                      </a:r>
                      <a:endParaRPr lang="en-US" dirty="0"/>
                    </a:p>
                  </a:txBody>
                  <a:tcPr/>
                </a:tc>
                <a:tc>
                  <a:txBody>
                    <a:bodyPr/>
                    <a:lstStyle/>
                    <a:p>
                      <a:r>
                        <a:rPr lang="en-US" dirty="0" smtClean="0"/>
                        <a:t>awesome</a:t>
                      </a:r>
                      <a:endParaRPr lang="en-US" dirty="0"/>
                    </a:p>
                  </a:txBody>
                  <a:tcPr/>
                </a:tc>
                <a:tc>
                  <a:txBody>
                    <a:bodyPr/>
                    <a:lstStyle/>
                    <a:p>
                      <a:r>
                        <a:rPr lang="en-US" dirty="0" smtClean="0"/>
                        <a:t>happiness</a:t>
                      </a:r>
                      <a:endParaRPr lang="en-US" dirty="0"/>
                    </a:p>
                  </a:txBody>
                  <a:tcPr/>
                </a:tc>
                <a:tc>
                  <a:txBody>
                    <a:bodyPr/>
                    <a:lstStyle/>
                    <a:p>
                      <a:r>
                        <a:rPr lang="en-US" dirty="0" smtClean="0"/>
                        <a:t>blessed</a:t>
                      </a:r>
                      <a:endParaRPr lang="en-US" dirty="0"/>
                    </a:p>
                  </a:txBody>
                  <a:tcPr/>
                </a:tc>
                <a:extLst>
                  <a:ext uri="{0D108BD9-81ED-4DB2-BD59-A6C34878D82A}">
                    <a16:rowId xmlns:a16="http://schemas.microsoft.com/office/drawing/2014/main" val="1134613916"/>
                  </a:ext>
                </a:extLst>
              </a:tr>
              <a:tr h="370840">
                <a:tc>
                  <a:txBody>
                    <a:bodyPr/>
                    <a:lstStyle/>
                    <a:p>
                      <a:r>
                        <a:rPr lang="en-US" dirty="0" smtClean="0"/>
                        <a:t>Average of entailment probabilities </a:t>
                      </a:r>
                      <a:endParaRPr lang="en-US" dirty="0"/>
                    </a:p>
                  </a:txBody>
                  <a:tcPr/>
                </a:tc>
                <a:tc>
                  <a:txBody>
                    <a:bodyPr/>
                    <a:lstStyle/>
                    <a:p>
                      <a:r>
                        <a:rPr lang="en-US" dirty="0" smtClean="0"/>
                        <a:t>0.83</a:t>
                      </a:r>
                      <a:endParaRPr lang="en-US" dirty="0"/>
                    </a:p>
                  </a:txBody>
                  <a:tcPr/>
                </a:tc>
                <a:tc>
                  <a:txBody>
                    <a:bodyPr/>
                    <a:lstStyle/>
                    <a:p>
                      <a:r>
                        <a:rPr lang="en-US" dirty="0" smtClean="0"/>
                        <a:t>0.72</a:t>
                      </a:r>
                      <a:endParaRPr lang="en-US" dirty="0"/>
                    </a:p>
                  </a:txBody>
                  <a:tcPr/>
                </a:tc>
                <a:tc>
                  <a:txBody>
                    <a:bodyPr/>
                    <a:lstStyle/>
                    <a:p>
                      <a:r>
                        <a:rPr lang="en-US" dirty="0" smtClean="0"/>
                        <a:t>0.85</a:t>
                      </a:r>
                      <a:endParaRPr lang="en-US" dirty="0"/>
                    </a:p>
                  </a:txBody>
                  <a:tcPr/>
                </a:tc>
                <a:tc>
                  <a:txBody>
                    <a:bodyPr/>
                    <a:lstStyle/>
                    <a:p>
                      <a:r>
                        <a:rPr lang="en-US" dirty="0" smtClean="0"/>
                        <a:t>0.75</a:t>
                      </a:r>
                      <a:endParaRPr lang="en-US" dirty="0"/>
                    </a:p>
                  </a:txBody>
                  <a:tcPr/>
                </a:tc>
                <a:tc>
                  <a:txBody>
                    <a:bodyPr/>
                    <a:lstStyle/>
                    <a:p>
                      <a:r>
                        <a:rPr lang="en-US" dirty="0" smtClean="0"/>
                        <a:t>0.87</a:t>
                      </a:r>
                      <a:endParaRPr lang="en-US" dirty="0"/>
                    </a:p>
                  </a:txBody>
                  <a:tcPr/>
                </a:tc>
                <a:tc>
                  <a:txBody>
                    <a:bodyPr/>
                    <a:lstStyle/>
                    <a:p>
                      <a:r>
                        <a:rPr lang="en-US" dirty="0" smtClean="0"/>
                        <a:t>0.67</a:t>
                      </a:r>
                      <a:endParaRPr lang="en-US" dirty="0"/>
                    </a:p>
                  </a:txBody>
                  <a:tcPr/>
                </a:tc>
                <a:extLst>
                  <a:ext uri="{0D108BD9-81ED-4DB2-BD59-A6C34878D82A}">
                    <a16:rowId xmlns:a16="http://schemas.microsoft.com/office/drawing/2014/main" val="497442349"/>
                  </a:ext>
                </a:extLst>
              </a:tr>
            </a:tbl>
          </a:graphicData>
        </a:graphic>
      </p:graphicFrame>
      <p:sp>
        <p:nvSpPr>
          <p:cNvPr id="7" name="TextBox 6"/>
          <p:cNvSpPr txBox="1"/>
          <p:nvPr/>
        </p:nvSpPr>
        <p:spPr>
          <a:xfrm>
            <a:off x="431796" y="2427006"/>
            <a:ext cx="1545771" cy="307777"/>
          </a:xfrm>
          <a:prstGeom prst="rect">
            <a:avLst/>
          </a:prstGeom>
          <a:noFill/>
        </p:spPr>
        <p:txBody>
          <a:bodyPr wrap="square" rtlCol="0">
            <a:spAutoFit/>
          </a:bodyPr>
          <a:lstStyle/>
          <a:p>
            <a:r>
              <a:rPr lang="en-US" dirty="0" smtClean="0"/>
              <a:t>Sadness:</a:t>
            </a:r>
            <a:endParaRPr lang="en-US" dirty="0"/>
          </a:p>
        </p:txBody>
      </p:sp>
      <p:sp>
        <p:nvSpPr>
          <p:cNvPr id="8" name="TextBox 7"/>
          <p:cNvSpPr txBox="1"/>
          <p:nvPr/>
        </p:nvSpPr>
        <p:spPr>
          <a:xfrm>
            <a:off x="486225" y="3853098"/>
            <a:ext cx="7307946" cy="307777"/>
          </a:xfrm>
          <a:prstGeom prst="rect">
            <a:avLst/>
          </a:prstGeom>
          <a:noFill/>
        </p:spPr>
        <p:txBody>
          <a:bodyPr wrap="square" rtlCol="0">
            <a:spAutoFit/>
          </a:bodyPr>
          <a:lstStyle/>
          <a:p>
            <a:r>
              <a:rPr lang="en-US" dirty="0" smtClean="0"/>
              <a:t> </a:t>
            </a:r>
            <a:endParaRPr lang="en-US" dirty="0"/>
          </a:p>
        </p:txBody>
      </p:sp>
      <p:graphicFrame>
        <p:nvGraphicFramePr>
          <p:cNvPr id="9" name="Table 8"/>
          <p:cNvGraphicFramePr>
            <a:graphicFrameLocks noGrp="1"/>
          </p:cNvGraphicFramePr>
          <p:nvPr>
            <p:extLst>
              <p:ext uri="{D42A27DB-BD31-4B8C-83A1-F6EECF244321}">
                <p14:modId xmlns:p14="http://schemas.microsoft.com/office/powerpoint/2010/main" val="936759524"/>
              </p:ext>
            </p:extLst>
          </p:nvPr>
        </p:nvGraphicFramePr>
        <p:xfrm>
          <a:off x="464452" y="2870837"/>
          <a:ext cx="8291647" cy="1463040"/>
        </p:xfrm>
        <a:graphic>
          <a:graphicData uri="http://schemas.openxmlformats.org/drawingml/2006/table">
            <a:tbl>
              <a:tblPr firstRow="1" bandRow="1">
                <a:tableStyleId>{5C22544A-7EE6-4342-B048-85BDC9FD1C3A}</a:tableStyleId>
              </a:tblPr>
              <a:tblGrid>
                <a:gridCol w="1184521">
                  <a:extLst>
                    <a:ext uri="{9D8B030D-6E8A-4147-A177-3AD203B41FA5}">
                      <a16:colId xmlns:a16="http://schemas.microsoft.com/office/drawing/2014/main" val="2659628695"/>
                    </a:ext>
                  </a:extLst>
                </a:gridCol>
                <a:gridCol w="1184521">
                  <a:extLst>
                    <a:ext uri="{9D8B030D-6E8A-4147-A177-3AD203B41FA5}">
                      <a16:colId xmlns:a16="http://schemas.microsoft.com/office/drawing/2014/main" val="3500007172"/>
                    </a:ext>
                  </a:extLst>
                </a:gridCol>
                <a:gridCol w="1184521">
                  <a:extLst>
                    <a:ext uri="{9D8B030D-6E8A-4147-A177-3AD203B41FA5}">
                      <a16:colId xmlns:a16="http://schemas.microsoft.com/office/drawing/2014/main" val="1198418828"/>
                    </a:ext>
                  </a:extLst>
                </a:gridCol>
                <a:gridCol w="1184521">
                  <a:extLst>
                    <a:ext uri="{9D8B030D-6E8A-4147-A177-3AD203B41FA5}">
                      <a16:colId xmlns:a16="http://schemas.microsoft.com/office/drawing/2014/main" val="3945299454"/>
                    </a:ext>
                  </a:extLst>
                </a:gridCol>
                <a:gridCol w="1184521">
                  <a:extLst>
                    <a:ext uri="{9D8B030D-6E8A-4147-A177-3AD203B41FA5}">
                      <a16:colId xmlns:a16="http://schemas.microsoft.com/office/drawing/2014/main" val="2559667161"/>
                    </a:ext>
                  </a:extLst>
                </a:gridCol>
                <a:gridCol w="1184521">
                  <a:extLst>
                    <a:ext uri="{9D8B030D-6E8A-4147-A177-3AD203B41FA5}">
                      <a16:colId xmlns:a16="http://schemas.microsoft.com/office/drawing/2014/main" val="1906041258"/>
                    </a:ext>
                  </a:extLst>
                </a:gridCol>
                <a:gridCol w="1184521">
                  <a:extLst>
                    <a:ext uri="{9D8B030D-6E8A-4147-A177-3AD203B41FA5}">
                      <a16:colId xmlns:a16="http://schemas.microsoft.com/office/drawing/2014/main" val="1451328961"/>
                    </a:ext>
                  </a:extLst>
                </a:gridCol>
              </a:tblGrid>
              <a:tr h="339319">
                <a:tc>
                  <a:txBody>
                    <a:bodyPr/>
                    <a:lstStyle/>
                    <a:p>
                      <a:r>
                        <a:rPr lang="en-US" dirty="0" smtClean="0"/>
                        <a:t>synonym</a:t>
                      </a:r>
                      <a:endParaRPr lang="en-US" dirty="0"/>
                    </a:p>
                  </a:txBody>
                  <a:tcPr/>
                </a:tc>
                <a:tc>
                  <a:txBody>
                    <a:bodyPr/>
                    <a:lstStyle/>
                    <a:p>
                      <a:r>
                        <a:rPr lang="en-US" dirty="0" smtClean="0"/>
                        <a:t>sadness</a:t>
                      </a:r>
                      <a:endParaRPr lang="en-US" dirty="0"/>
                    </a:p>
                  </a:txBody>
                  <a:tcPr/>
                </a:tc>
                <a:tc>
                  <a:txBody>
                    <a:bodyPr/>
                    <a:lstStyle/>
                    <a:p>
                      <a:r>
                        <a:rPr lang="en-US" dirty="0" smtClean="0"/>
                        <a:t>unhappiness</a:t>
                      </a:r>
                      <a:endParaRPr lang="en-US" dirty="0"/>
                    </a:p>
                  </a:txBody>
                  <a:tcPr/>
                </a:tc>
                <a:tc>
                  <a:txBody>
                    <a:bodyPr/>
                    <a:lstStyle/>
                    <a:p>
                      <a:r>
                        <a:rPr lang="en-US" dirty="0" smtClean="0"/>
                        <a:t>grief</a:t>
                      </a:r>
                      <a:endParaRPr lang="en-US" dirty="0"/>
                    </a:p>
                  </a:txBody>
                  <a:tcPr/>
                </a:tc>
                <a:tc>
                  <a:txBody>
                    <a:bodyPr/>
                    <a:lstStyle/>
                    <a:p>
                      <a:r>
                        <a:rPr lang="en-US" dirty="0" smtClean="0"/>
                        <a:t>sorrow</a:t>
                      </a:r>
                      <a:endParaRPr lang="en-US" dirty="0"/>
                    </a:p>
                  </a:txBody>
                  <a:tcPr/>
                </a:tc>
                <a:tc>
                  <a:txBody>
                    <a:bodyPr/>
                    <a:lstStyle/>
                    <a:p>
                      <a:r>
                        <a:rPr lang="en-US" dirty="0" smtClean="0"/>
                        <a:t>loneliness</a:t>
                      </a:r>
                      <a:endParaRPr lang="en-US" dirty="0"/>
                    </a:p>
                  </a:txBody>
                  <a:tcPr/>
                </a:tc>
                <a:tc>
                  <a:txBody>
                    <a:bodyPr/>
                    <a:lstStyle/>
                    <a:p>
                      <a:r>
                        <a:rPr lang="en-US" dirty="0" smtClean="0"/>
                        <a:t>depression</a:t>
                      </a:r>
                      <a:endParaRPr lang="en-US" dirty="0"/>
                    </a:p>
                  </a:txBody>
                  <a:tcPr/>
                </a:tc>
                <a:extLst>
                  <a:ext uri="{0D108BD9-81ED-4DB2-BD59-A6C34878D82A}">
                    <a16:rowId xmlns:a16="http://schemas.microsoft.com/office/drawing/2014/main" val="67134482"/>
                  </a:ext>
                </a:extLst>
              </a:tr>
              <a:tr h="760379">
                <a:tc>
                  <a:txBody>
                    <a:bodyPr/>
                    <a:lstStyle/>
                    <a:p>
                      <a:pPr marL="0" marR="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smtClean="0"/>
                        <a:t>Average of entailment probabilities </a:t>
                      </a:r>
                    </a:p>
                    <a:p>
                      <a:endParaRPr lang="en-US" dirty="0"/>
                    </a:p>
                  </a:txBody>
                  <a:tcPr/>
                </a:tc>
                <a:tc>
                  <a:txBody>
                    <a:bodyPr/>
                    <a:lstStyle/>
                    <a:p>
                      <a:r>
                        <a:rPr lang="en-US" dirty="0" smtClean="0"/>
                        <a:t>0.89</a:t>
                      </a:r>
                      <a:endParaRPr lang="en-US" dirty="0"/>
                    </a:p>
                  </a:txBody>
                  <a:tcPr/>
                </a:tc>
                <a:tc>
                  <a:txBody>
                    <a:bodyPr/>
                    <a:lstStyle/>
                    <a:p>
                      <a:r>
                        <a:rPr lang="en-US" dirty="0" smtClean="0"/>
                        <a:t>0.89</a:t>
                      </a:r>
                      <a:endParaRPr lang="en-US" dirty="0"/>
                    </a:p>
                  </a:txBody>
                  <a:tcPr/>
                </a:tc>
                <a:tc>
                  <a:txBody>
                    <a:bodyPr/>
                    <a:lstStyle/>
                    <a:p>
                      <a:r>
                        <a:rPr lang="en-US" dirty="0" smtClean="0"/>
                        <a:t>0.82</a:t>
                      </a:r>
                      <a:endParaRPr lang="en-US" dirty="0"/>
                    </a:p>
                  </a:txBody>
                  <a:tcPr/>
                </a:tc>
                <a:tc>
                  <a:txBody>
                    <a:bodyPr/>
                    <a:lstStyle/>
                    <a:p>
                      <a:r>
                        <a:rPr lang="en-US" dirty="0" smtClean="0"/>
                        <a:t>0.86</a:t>
                      </a:r>
                      <a:endParaRPr lang="en-US" dirty="0"/>
                    </a:p>
                  </a:txBody>
                  <a:tcPr/>
                </a:tc>
                <a:tc>
                  <a:txBody>
                    <a:bodyPr/>
                    <a:lstStyle/>
                    <a:p>
                      <a:r>
                        <a:rPr lang="en-US" dirty="0" smtClean="0"/>
                        <a:t>0.66</a:t>
                      </a:r>
                      <a:endParaRPr lang="en-US" dirty="0"/>
                    </a:p>
                  </a:txBody>
                  <a:tcPr/>
                </a:tc>
                <a:tc>
                  <a:txBody>
                    <a:bodyPr/>
                    <a:lstStyle/>
                    <a:p>
                      <a:r>
                        <a:rPr lang="en-US" dirty="0" smtClean="0"/>
                        <a:t>0.67</a:t>
                      </a:r>
                      <a:endParaRPr lang="en-US" dirty="0"/>
                    </a:p>
                  </a:txBody>
                  <a:tcPr/>
                </a:tc>
                <a:extLst>
                  <a:ext uri="{0D108BD9-81ED-4DB2-BD59-A6C34878D82A}">
                    <a16:rowId xmlns:a16="http://schemas.microsoft.com/office/drawing/2014/main" val="3997740586"/>
                  </a:ext>
                </a:extLst>
              </a:tr>
            </a:tbl>
          </a:graphicData>
        </a:graphic>
      </p:graphicFrame>
      <p:sp>
        <p:nvSpPr>
          <p:cNvPr id="11" name="TextBox 10"/>
          <p:cNvSpPr txBox="1"/>
          <p:nvPr/>
        </p:nvSpPr>
        <p:spPr>
          <a:xfrm>
            <a:off x="486225" y="549509"/>
            <a:ext cx="1436914" cy="307777"/>
          </a:xfrm>
          <a:prstGeom prst="rect">
            <a:avLst/>
          </a:prstGeom>
          <a:noFill/>
        </p:spPr>
        <p:txBody>
          <a:bodyPr wrap="square" rtlCol="0">
            <a:spAutoFit/>
          </a:bodyPr>
          <a:lstStyle/>
          <a:p>
            <a:r>
              <a:rPr lang="en-US" dirty="0"/>
              <a:t>j</a:t>
            </a:r>
            <a:r>
              <a:rPr lang="en-US" dirty="0" smtClean="0"/>
              <a:t>oy:</a:t>
            </a:r>
            <a:endParaRPr lang="en-US" dirty="0"/>
          </a:p>
        </p:txBody>
      </p:sp>
    </p:spTree>
    <p:extLst>
      <p:ext uri="{BB962C8B-B14F-4D97-AF65-F5344CB8AC3E}">
        <p14:creationId xmlns:p14="http://schemas.microsoft.com/office/powerpoint/2010/main" val="38003869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buNone/>
            </a:pPr>
            <a:r>
              <a:rPr lang="en-US" b="1" dirty="0"/>
              <a:t>average of entailment probabilities for each synonym of the </a:t>
            </a:r>
            <a:r>
              <a:rPr lang="en-US" b="1" dirty="0" smtClean="0"/>
              <a:t>emotion</a:t>
            </a:r>
            <a:endParaRPr lang="en-US"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ltLang="ja" smtClean="0"/>
              <a:t>8</a:t>
            </a:fld>
            <a:endParaRPr lang="ja" altLang="en-US"/>
          </a:p>
        </p:txBody>
      </p:sp>
      <p:graphicFrame>
        <p:nvGraphicFramePr>
          <p:cNvPr id="6" name="Table 5"/>
          <p:cNvGraphicFramePr>
            <a:graphicFrameLocks noGrp="1"/>
          </p:cNvGraphicFramePr>
          <p:nvPr>
            <p:extLst>
              <p:ext uri="{D42A27DB-BD31-4B8C-83A1-F6EECF244321}">
                <p14:modId xmlns:p14="http://schemas.microsoft.com/office/powerpoint/2010/main" val="3851977241"/>
              </p:ext>
            </p:extLst>
          </p:nvPr>
        </p:nvGraphicFramePr>
        <p:xfrm>
          <a:off x="497469" y="952779"/>
          <a:ext cx="8566705" cy="1249680"/>
        </p:xfrm>
        <a:graphic>
          <a:graphicData uri="http://schemas.openxmlformats.org/drawingml/2006/table">
            <a:tbl>
              <a:tblPr firstRow="1" bandRow="1">
                <a:tableStyleId>{5C22544A-7EE6-4342-B048-85BDC9FD1C3A}</a:tableStyleId>
              </a:tblPr>
              <a:tblGrid>
                <a:gridCol w="1223815">
                  <a:extLst>
                    <a:ext uri="{9D8B030D-6E8A-4147-A177-3AD203B41FA5}">
                      <a16:colId xmlns:a16="http://schemas.microsoft.com/office/drawing/2014/main" val="557825247"/>
                    </a:ext>
                  </a:extLst>
                </a:gridCol>
                <a:gridCol w="1223815">
                  <a:extLst>
                    <a:ext uri="{9D8B030D-6E8A-4147-A177-3AD203B41FA5}">
                      <a16:colId xmlns:a16="http://schemas.microsoft.com/office/drawing/2014/main" val="882517201"/>
                    </a:ext>
                  </a:extLst>
                </a:gridCol>
                <a:gridCol w="1223815">
                  <a:extLst>
                    <a:ext uri="{9D8B030D-6E8A-4147-A177-3AD203B41FA5}">
                      <a16:colId xmlns:a16="http://schemas.microsoft.com/office/drawing/2014/main" val="1452558935"/>
                    </a:ext>
                  </a:extLst>
                </a:gridCol>
                <a:gridCol w="1223815">
                  <a:extLst>
                    <a:ext uri="{9D8B030D-6E8A-4147-A177-3AD203B41FA5}">
                      <a16:colId xmlns:a16="http://schemas.microsoft.com/office/drawing/2014/main" val="1532424432"/>
                    </a:ext>
                  </a:extLst>
                </a:gridCol>
                <a:gridCol w="1223815">
                  <a:extLst>
                    <a:ext uri="{9D8B030D-6E8A-4147-A177-3AD203B41FA5}">
                      <a16:colId xmlns:a16="http://schemas.microsoft.com/office/drawing/2014/main" val="2310644927"/>
                    </a:ext>
                  </a:extLst>
                </a:gridCol>
                <a:gridCol w="1223815">
                  <a:extLst>
                    <a:ext uri="{9D8B030D-6E8A-4147-A177-3AD203B41FA5}">
                      <a16:colId xmlns:a16="http://schemas.microsoft.com/office/drawing/2014/main" val="3431827497"/>
                    </a:ext>
                  </a:extLst>
                </a:gridCol>
                <a:gridCol w="1223815">
                  <a:extLst>
                    <a:ext uri="{9D8B030D-6E8A-4147-A177-3AD203B41FA5}">
                      <a16:colId xmlns:a16="http://schemas.microsoft.com/office/drawing/2014/main" val="1326960283"/>
                    </a:ext>
                  </a:extLst>
                </a:gridCol>
              </a:tblGrid>
              <a:tr h="436216">
                <a:tc>
                  <a:txBody>
                    <a:bodyPr/>
                    <a:lstStyle/>
                    <a:p>
                      <a:r>
                        <a:rPr lang="en-US" dirty="0" smtClean="0"/>
                        <a:t>synonym</a:t>
                      </a:r>
                      <a:endParaRPr lang="en-US" dirty="0"/>
                    </a:p>
                  </a:txBody>
                  <a:tcPr/>
                </a:tc>
                <a:tc>
                  <a:txBody>
                    <a:bodyPr/>
                    <a:lstStyle/>
                    <a:p>
                      <a:r>
                        <a:rPr lang="en-US" dirty="0" smtClean="0"/>
                        <a:t>shame</a:t>
                      </a:r>
                      <a:endParaRPr lang="en-US" dirty="0"/>
                    </a:p>
                  </a:txBody>
                  <a:tcPr/>
                </a:tc>
                <a:tc>
                  <a:txBody>
                    <a:bodyPr/>
                    <a:lstStyle/>
                    <a:p>
                      <a:r>
                        <a:rPr lang="en-US" dirty="0" smtClean="0"/>
                        <a:t>humiliation</a:t>
                      </a:r>
                      <a:endParaRPr lang="en-US" dirty="0"/>
                    </a:p>
                  </a:txBody>
                  <a:tcPr/>
                </a:tc>
                <a:tc>
                  <a:txBody>
                    <a:bodyPr/>
                    <a:lstStyle/>
                    <a:p>
                      <a:r>
                        <a:rPr lang="en-US" dirty="0" smtClean="0"/>
                        <a:t>embarrassment</a:t>
                      </a:r>
                      <a:endParaRPr lang="en-US" dirty="0"/>
                    </a:p>
                  </a:txBody>
                  <a:tcPr/>
                </a:tc>
                <a:tc>
                  <a:txBody>
                    <a:bodyPr/>
                    <a:lstStyle/>
                    <a:p>
                      <a:r>
                        <a:rPr lang="en-US" dirty="0" smtClean="0"/>
                        <a:t>disgrace</a:t>
                      </a:r>
                      <a:endParaRPr lang="en-US" dirty="0"/>
                    </a:p>
                  </a:txBody>
                  <a:tcPr/>
                </a:tc>
                <a:tc>
                  <a:txBody>
                    <a:bodyPr/>
                    <a:lstStyle/>
                    <a:p>
                      <a:r>
                        <a:rPr lang="en-US" dirty="0" smtClean="0"/>
                        <a:t>dishonor</a:t>
                      </a:r>
                      <a:endParaRPr lang="en-US" dirty="0"/>
                    </a:p>
                  </a:txBody>
                  <a:tcPr/>
                </a:tc>
                <a:tc>
                  <a:txBody>
                    <a:bodyPr/>
                    <a:lstStyle/>
                    <a:p>
                      <a:r>
                        <a:rPr lang="en-US" dirty="0" smtClean="0"/>
                        <a:t>discredit</a:t>
                      </a:r>
                      <a:endParaRPr lang="en-US" dirty="0"/>
                    </a:p>
                  </a:txBody>
                  <a:tcPr/>
                </a:tc>
                <a:extLst>
                  <a:ext uri="{0D108BD9-81ED-4DB2-BD59-A6C34878D82A}">
                    <a16:rowId xmlns:a16="http://schemas.microsoft.com/office/drawing/2014/main" val="1255629281"/>
                  </a:ext>
                </a:extLst>
              </a:tr>
              <a:tr h="436216">
                <a:tc>
                  <a:txBody>
                    <a:bodyPr/>
                    <a:lstStyle/>
                    <a:p>
                      <a:pPr marL="0" marR="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smtClean="0"/>
                        <a:t>Average of entailment probabilities </a:t>
                      </a:r>
                    </a:p>
                  </a:txBody>
                  <a:tcPr/>
                </a:tc>
                <a:tc>
                  <a:txBody>
                    <a:bodyPr/>
                    <a:lstStyle/>
                    <a:p>
                      <a:r>
                        <a:rPr lang="en-US" dirty="0" smtClean="0"/>
                        <a:t>0.77</a:t>
                      </a:r>
                      <a:endParaRPr lang="en-US" dirty="0"/>
                    </a:p>
                  </a:txBody>
                  <a:tcPr/>
                </a:tc>
                <a:tc>
                  <a:txBody>
                    <a:bodyPr/>
                    <a:lstStyle/>
                    <a:p>
                      <a:r>
                        <a:rPr lang="en-US" dirty="0" smtClean="0"/>
                        <a:t>0.8</a:t>
                      </a:r>
                      <a:endParaRPr lang="en-US" dirty="0"/>
                    </a:p>
                  </a:txBody>
                  <a:tcPr/>
                </a:tc>
                <a:tc>
                  <a:txBody>
                    <a:bodyPr/>
                    <a:lstStyle/>
                    <a:p>
                      <a:r>
                        <a:rPr lang="en-US" dirty="0" smtClean="0"/>
                        <a:t>0.81</a:t>
                      </a:r>
                      <a:endParaRPr lang="en-US" dirty="0"/>
                    </a:p>
                  </a:txBody>
                  <a:tcPr/>
                </a:tc>
                <a:tc>
                  <a:txBody>
                    <a:bodyPr/>
                    <a:lstStyle/>
                    <a:p>
                      <a:r>
                        <a:rPr lang="en-US" dirty="0" smtClean="0"/>
                        <a:t>0.73</a:t>
                      </a:r>
                      <a:endParaRPr lang="en-US" dirty="0"/>
                    </a:p>
                  </a:txBody>
                  <a:tcPr/>
                </a:tc>
                <a:tc>
                  <a:txBody>
                    <a:bodyPr/>
                    <a:lstStyle/>
                    <a:p>
                      <a:r>
                        <a:rPr lang="en-US" dirty="0" smtClean="0"/>
                        <a:t>0.79</a:t>
                      </a:r>
                      <a:endParaRPr lang="en-US" dirty="0"/>
                    </a:p>
                  </a:txBody>
                  <a:tcPr/>
                </a:tc>
                <a:tc>
                  <a:txBody>
                    <a:bodyPr/>
                    <a:lstStyle/>
                    <a:p>
                      <a:r>
                        <a:rPr lang="en-US" dirty="0" smtClean="0"/>
                        <a:t>0.76</a:t>
                      </a:r>
                      <a:endParaRPr lang="en-US" dirty="0"/>
                    </a:p>
                  </a:txBody>
                  <a:tcPr/>
                </a:tc>
                <a:extLst>
                  <a:ext uri="{0D108BD9-81ED-4DB2-BD59-A6C34878D82A}">
                    <a16:rowId xmlns:a16="http://schemas.microsoft.com/office/drawing/2014/main" val="2243125968"/>
                  </a:ext>
                </a:extLst>
              </a:tr>
            </a:tbl>
          </a:graphicData>
        </a:graphic>
      </p:graphicFrame>
      <p:sp>
        <p:nvSpPr>
          <p:cNvPr id="7" name="TextBox 6"/>
          <p:cNvSpPr txBox="1"/>
          <p:nvPr/>
        </p:nvSpPr>
        <p:spPr>
          <a:xfrm>
            <a:off x="439412" y="689429"/>
            <a:ext cx="1897388" cy="307777"/>
          </a:xfrm>
          <a:prstGeom prst="rect">
            <a:avLst/>
          </a:prstGeom>
          <a:noFill/>
        </p:spPr>
        <p:txBody>
          <a:bodyPr wrap="square" rtlCol="0">
            <a:spAutoFit/>
          </a:bodyPr>
          <a:lstStyle/>
          <a:p>
            <a:r>
              <a:rPr lang="en-US" dirty="0" smtClean="0"/>
              <a:t>Shame:</a:t>
            </a:r>
            <a:endParaRPr lang="en-US" dirty="0"/>
          </a:p>
        </p:txBody>
      </p:sp>
      <p:sp>
        <p:nvSpPr>
          <p:cNvPr id="8" name="TextBox 7"/>
          <p:cNvSpPr txBox="1"/>
          <p:nvPr/>
        </p:nvSpPr>
        <p:spPr>
          <a:xfrm>
            <a:off x="311700" y="2431143"/>
            <a:ext cx="8057245" cy="523220"/>
          </a:xfrm>
          <a:prstGeom prst="rect">
            <a:avLst/>
          </a:prstGeom>
          <a:noFill/>
        </p:spPr>
        <p:txBody>
          <a:bodyPr wrap="square" rtlCol="0">
            <a:spAutoFit/>
          </a:bodyPr>
          <a:lstStyle/>
          <a:p>
            <a:r>
              <a:rPr lang="en-US" dirty="0" smtClean="0"/>
              <a:t> </a:t>
            </a:r>
            <a:endParaRPr lang="en-US" dirty="0"/>
          </a:p>
          <a:p>
            <a:r>
              <a:rPr lang="en-US" dirty="0" smtClean="0"/>
              <a:t> </a:t>
            </a:r>
            <a:endParaRPr lang="en-US" dirty="0"/>
          </a:p>
        </p:txBody>
      </p:sp>
      <p:sp>
        <p:nvSpPr>
          <p:cNvPr id="3" name="TextBox 2"/>
          <p:cNvSpPr txBox="1"/>
          <p:nvPr/>
        </p:nvSpPr>
        <p:spPr>
          <a:xfrm>
            <a:off x="616857" y="2286000"/>
            <a:ext cx="6749143" cy="954107"/>
          </a:xfrm>
          <a:prstGeom prst="rect">
            <a:avLst/>
          </a:prstGeom>
          <a:noFill/>
        </p:spPr>
        <p:txBody>
          <a:bodyPr wrap="square" rtlCol="0">
            <a:spAutoFit/>
          </a:bodyPr>
          <a:lstStyle/>
          <a:p>
            <a:endParaRPr lang="en-US" dirty="0" smtClean="0"/>
          </a:p>
          <a:p>
            <a:endParaRPr lang="en-US" dirty="0"/>
          </a:p>
          <a:p>
            <a:endParaRPr lang="en-US" dirty="0" smtClean="0"/>
          </a:p>
          <a:p>
            <a:endParaRPr lang="en-US" dirty="0"/>
          </a:p>
        </p:txBody>
      </p:sp>
    </p:spTree>
    <p:extLst>
      <p:ext uri="{BB962C8B-B14F-4D97-AF65-F5344CB8AC3E}">
        <p14:creationId xmlns:p14="http://schemas.microsoft.com/office/powerpoint/2010/main" val="27330771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buNone/>
            </a:pPr>
            <a:r>
              <a:rPr lang="en-US" b="1" dirty="0"/>
              <a:t>average of entailment probabilities for each synonym of the </a:t>
            </a:r>
            <a:r>
              <a:rPr lang="en-US" b="1" dirty="0" smtClean="0"/>
              <a:t>true emotion</a:t>
            </a:r>
            <a:endParaRPr lang="en-US"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ltLang="ja" smtClean="0"/>
              <a:t>9</a:t>
            </a:fld>
            <a:endParaRPr lang="ja" altLang="en-US"/>
          </a:p>
        </p:txBody>
      </p:sp>
      <p:graphicFrame>
        <p:nvGraphicFramePr>
          <p:cNvPr id="6" name="Table 5"/>
          <p:cNvGraphicFramePr>
            <a:graphicFrameLocks noGrp="1"/>
          </p:cNvGraphicFramePr>
          <p:nvPr>
            <p:extLst>
              <p:ext uri="{D42A27DB-BD31-4B8C-83A1-F6EECF244321}">
                <p14:modId xmlns:p14="http://schemas.microsoft.com/office/powerpoint/2010/main" val="3324926117"/>
              </p:ext>
            </p:extLst>
          </p:nvPr>
        </p:nvGraphicFramePr>
        <p:xfrm>
          <a:off x="595264" y="1569055"/>
          <a:ext cx="8222340" cy="1102360"/>
        </p:xfrm>
        <a:graphic>
          <a:graphicData uri="http://schemas.openxmlformats.org/drawingml/2006/table">
            <a:tbl>
              <a:tblPr firstRow="1" bandRow="1">
                <a:tableStyleId>{5C22544A-7EE6-4342-B048-85BDC9FD1C3A}</a:tableStyleId>
              </a:tblPr>
              <a:tblGrid>
                <a:gridCol w="1174620">
                  <a:extLst>
                    <a:ext uri="{9D8B030D-6E8A-4147-A177-3AD203B41FA5}">
                      <a16:colId xmlns:a16="http://schemas.microsoft.com/office/drawing/2014/main" val="3603832139"/>
                    </a:ext>
                  </a:extLst>
                </a:gridCol>
                <a:gridCol w="1174620">
                  <a:extLst>
                    <a:ext uri="{9D8B030D-6E8A-4147-A177-3AD203B41FA5}">
                      <a16:colId xmlns:a16="http://schemas.microsoft.com/office/drawing/2014/main" val="914479867"/>
                    </a:ext>
                  </a:extLst>
                </a:gridCol>
                <a:gridCol w="1174620">
                  <a:extLst>
                    <a:ext uri="{9D8B030D-6E8A-4147-A177-3AD203B41FA5}">
                      <a16:colId xmlns:a16="http://schemas.microsoft.com/office/drawing/2014/main" val="3830851643"/>
                    </a:ext>
                  </a:extLst>
                </a:gridCol>
                <a:gridCol w="1174620">
                  <a:extLst>
                    <a:ext uri="{9D8B030D-6E8A-4147-A177-3AD203B41FA5}">
                      <a16:colId xmlns:a16="http://schemas.microsoft.com/office/drawing/2014/main" val="2709983437"/>
                    </a:ext>
                  </a:extLst>
                </a:gridCol>
                <a:gridCol w="1174620">
                  <a:extLst>
                    <a:ext uri="{9D8B030D-6E8A-4147-A177-3AD203B41FA5}">
                      <a16:colId xmlns:a16="http://schemas.microsoft.com/office/drawing/2014/main" val="1185082481"/>
                    </a:ext>
                  </a:extLst>
                </a:gridCol>
                <a:gridCol w="1174620">
                  <a:extLst>
                    <a:ext uri="{9D8B030D-6E8A-4147-A177-3AD203B41FA5}">
                      <a16:colId xmlns:a16="http://schemas.microsoft.com/office/drawing/2014/main" val="887422139"/>
                    </a:ext>
                  </a:extLst>
                </a:gridCol>
                <a:gridCol w="1174620">
                  <a:extLst>
                    <a:ext uri="{9D8B030D-6E8A-4147-A177-3AD203B41FA5}">
                      <a16:colId xmlns:a16="http://schemas.microsoft.com/office/drawing/2014/main" val="2650393169"/>
                    </a:ext>
                  </a:extLst>
                </a:gridCol>
              </a:tblGrid>
              <a:tr h="370840">
                <a:tc>
                  <a:txBody>
                    <a:bodyPr/>
                    <a:lstStyle/>
                    <a:p>
                      <a:r>
                        <a:rPr lang="en-US" dirty="0" smtClean="0"/>
                        <a:t>synonyms</a:t>
                      </a:r>
                      <a:endParaRPr lang="en-US" dirty="0"/>
                    </a:p>
                  </a:txBody>
                  <a:tcPr/>
                </a:tc>
                <a:tc>
                  <a:txBody>
                    <a:bodyPr/>
                    <a:lstStyle/>
                    <a:p>
                      <a:r>
                        <a:rPr lang="en-US" dirty="0" smtClean="0"/>
                        <a:t>anger</a:t>
                      </a:r>
                      <a:endParaRPr lang="en-US" dirty="0"/>
                    </a:p>
                  </a:txBody>
                  <a:tcPr/>
                </a:tc>
                <a:tc>
                  <a:txBody>
                    <a:bodyPr/>
                    <a:lstStyle/>
                    <a:p>
                      <a:r>
                        <a:rPr lang="en-US" dirty="0" smtClean="0"/>
                        <a:t>annoyance</a:t>
                      </a:r>
                      <a:endParaRPr lang="en-US" dirty="0"/>
                    </a:p>
                  </a:txBody>
                  <a:tcPr/>
                </a:tc>
                <a:tc>
                  <a:txBody>
                    <a:bodyPr/>
                    <a:lstStyle/>
                    <a:p>
                      <a:r>
                        <a:rPr lang="en-US" dirty="0" smtClean="0"/>
                        <a:t>rage</a:t>
                      </a:r>
                      <a:endParaRPr lang="en-US" dirty="0"/>
                    </a:p>
                  </a:txBody>
                  <a:tcPr/>
                </a:tc>
                <a:tc>
                  <a:txBody>
                    <a:bodyPr/>
                    <a:lstStyle/>
                    <a:p>
                      <a:r>
                        <a:rPr lang="en-US" dirty="0" smtClean="0"/>
                        <a:t>outrage</a:t>
                      </a:r>
                      <a:endParaRPr lang="en-US" dirty="0"/>
                    </a:p>
                  </a:txBody>
                  <a:tcPr/>
                </a:tc>
                <a:tc>
                  <a:txBody>
                    <a:bodyPr/>
                    <a:lstStyle/>
                    <a:p>
                      <a:r>
                        <a:rPr lang="en-US" dirty="0" smtClean="0"/>
                        <a:t>fury</a:t>
                      </a:r>
                      <a:endParaRPr lang="en-US" dirty="0"/>
                    </a:p>
                  </a:txBody>
                  <a:tcPr/>
                </a:tc>
                <a:tc>
                  <a:txBody>
                    <a:bodyPr/>
                    <a:lstStyle/>
                    <a:p>
                      <a:r>
                        <a:rPr lang="en-US" dirty="0" smtClean="0"/>
                        <a:t>irritation</a:t>
                      </a:r>
                      <a:endParaRPr lang="en-US" dirty="0"/>
                    </a:p>
                  </a:txBody>
                  <a:tcPr/>
                </a:tc>
                <a:extLst>
                  <a:ext uri="{0D108BD9-81ED-4DB2-BD59-A6C34878D82A}">
                    <a16:rowId xmlns:a16="http://schemas.microsoft.com/office/drawing/2014/main" val="3073573081"/>
                  </a:ext>
                </a:extLst>
              </a:tr>
              <a:tr h="370840">
                <a:tc>
                  <a:txBody>
                    <a:bodyPr/>
                    <a:lstStyle/>
                    <a:p>
                      <a:r>
                        <a:rPr lang="en-US" dirty="0" smtClean="0"/>
                        <a:t>Average of entailment probabilities </a:t>
                      </a:r>
                      <a:endParaRPr lang="en-US" dirty="0"/>
                    </a:p>
                  </a:txBody>
                  <a:tcPr/>
                </a:tc>
                <a:tc>
                  <a:txBody>
                    <a:bodyPr/>
                    <a:lstStyle/>
                    <a:p>
                      <a:r>
                        <a:rPr lang="en-US" dirty="0" smtClean="0"/>
                        <a:t>0.68</a:t>
                      </a:r>
                      <a:endParaRPr lang="en-US" dirty="0"/>
                    </a:p>
                  </a:txBody>
                  <a:tcPr/>
                </a:tc>
                <a:tc>
                  <a:txBody>
                    <a:bodyPr/>
                    <a:lstStyle/>
                    <a:p>
                      <a:r>
                        <a:rPr lang="en-US" dirty="0" smtClean="0"/>
                        <a:t>0.71</a:t>
                      </a:r>
                      <a:endParaRPr lang="en-US" dirty="0"/>
                    </a:p>
                  </a:txBody>
                  <a:tcPr/>
                </a:tc>
                <a:tc>
                  <a:txBody>
                    <a:bodyPr/>
                    <a:lstStyle/>
                    <a:p>
                      <a:r>
                        <a:rPr lang="en-US" dirty="0" smtClean="0"/>
                        <a:t>0.57</a:t>
                      </a:r>
                      <a:endParaRPr lang="en-US" dirty="0"/>
                    </a:p>
                  </a:txBody>
                  <a:tcPr/>
                </a:tc>
                <a:tc>
                  <a:txBody>
                    <a:bodyPr/>
                    <a:lstStyle/>
                    <a:p>
                      <a:r>
                        <a:rPr lang="en-US" dirty="0" smtClean="0"/>
                        <a:t>0.63</a:t>
                      </a:r>
                      <a:endParaRPr lang="en-US" dirty="0"/>
                    </a:p>
                  </a:txBody>
                  <a:tcPr/>
                </a:tc>
                <a:tc>
                  <a:txBody>
                    <a:bodyPr/>
                    <a:lstStyle/>
                    <a:p>
                      <a:r>
                        <a:rPr lang="en-US" dirty="0" smtClean="0"/>
                        <a:t>0.58</a:t>
                      </a:r>
                      <a:endParaRPr lang="en-US" dirty="0"/>
                    </a:p>
                  </a:txBody>
                  <a:tcPr/>
                </a:tc>
                <a:tc>
                  <a:txBody>
                    <a:bodyPr/>
                    <a:lstStyle/>
                    <a:p>
                      <a:r>
                        <a:rPr lang="en-US" dirty="0" smtClean="0"/>
                        <a:t>0.79</a:t>
                      </a:r>
                      <a:endParaRPr lang="en-US" dirty="0"/>
                    </a:p>
                  </a:txBody>
                  <a:tcPr/>
                </a:tc>
                <a:extLst>
                  <a:ext uri="{0D108BD9-81ED-4DB2-BD59-A6C34878D82A}">
                    <a16:rowId xmlns:a16="http://schemas.microsoft.com/office/drawing/2014/main" val="397868271"/>
                  </a:ext>
                </a:extLst>
              </a:tr>
            </a:tbl>
          </a:graphicData>
        </a:graphic>
      </p:graphicFrame>
      <p:sp>
        <p:nvSpPr>
          <p:cNvPr id="7" name="Rectangle 6"/>
          <p:cNvSpPr/>
          <p:nvPr/>
        </p:nvSpPr>
        <p:spPr>
          <a:xfrm>
            <a:off x="449942" y="691022"/>
            <a:ext cx="8512985" cy="523220"/>
          </a:xfrm>
          <a:prstGeom prst="rect">
            <a:avLst/>
          </a:prstGeom>
        </p:spPr>
        <p:txBody>
          <a:bodyPr wrap="square">
            <a:spAutoFit/>
          </a:bodyPr>
          <a:lstStyle/>
          <a:p>
            <a:r>
              <a:rPr lang="en-US" dirty="0"/>
              <a:t>The average of entailment </a:t>
            </a:r>
            <a:r>
              <a:rPr lang="en-US" dirty="0" smtClean="0"/>
              <a:t>probabilities </a:t>
            </a:r>
            <a:r>
              <a:rPr lang="en-US" dirty="0"/>
              <a:t>for each synonym of </a:t>
            </a:r>
            <a:r>
              <a:rPr lang="en-US" dirty="0" smtClean="0"/>
              <a:t>the true emotion and texts in the dataset (Tec dataset)</a:t>
            </a:r>
            <a:endParaRPr lang="en-US" dirty="0"/>
          </a:p>
        </p:txBody>
      </p:sp>
      <p:graphicFrame>
        <p:nvGraphicFramePr>
          <p:cNvPr id="8" name="Table 7"/>
          <p:cNvGraphicFramePr>
            <a:graphicFrameLocks noGrp="1"/>
          </p:cNvGraphicFramePr>
          <p:nvPr>
            <p:extLst>
              <p:ext uri="{D42A27DB-BD31-4B8C-83A1-F6EECF244321}">
                <p14:modId xmlns:p14="http://schemas.microsoft.com/office/powerpoint/2010/main" val="3571038151"/>
              </p:ext>
            </p:extLst>
          </p:nvPr>
        </p:nvGraphicFramePr>
        <p:xfrm>
          <a:off x="595264" y="3346490"/>
          <a:ext cx="8352967" cy="1102360"/>
        </p:xfrm>
        <a:graphic>
          <a:graphicData uri="http://schemas.openxmlformats.org/drawingml/2006/table">
            <a:tbl>
              <a:tblPr firstRow="1" bandRow="1">
                <a:tableStyleId>{5C22544A-7EE6-4342-B048-85BDC9FD1C3A}</a:tableStyleId>
              </a:tblPr>
              <a:tblGrid>
                <a:gridCol w="1193281">
                  <a:extLst>
                    <a:ext uri="{9D8B030D-6E8A-4147-A177-3AD203B41FA5}">
                      <a16:colId xmlns:a16="http://schemas.microsoft.com/office/drawing/2014/main" val="2515422670"/>
                    </a:ext>
                  </a:extLst>
                </a:gridCol>
                <a:gridCol w="1193281">
                  <a:extLst>
                    <a:ext uri="{9D8B030D-6E8A-4147-A177-3AD203B41FA5}">
                      <a16:colId xmlns:a16="http://schemas.microsoft.com/office/drawing/2014/main" val="711805182"/>
                    </a:ext>
                  </a:extLst>
                </a:gridCol>
                <a:gridCol w="1193281">
                  <a:extLst>
                    <a:ext uri="{9D8B030D-6E8A-4147-A177-3AD203B41FA5}">
                      <a16:colId xmlns:a16="http://schemas.microsoft.com/office/drawing/2014/main" val="3213908025"/>
                    </a:ext>
                  </a:extLst>
                </a:gridCol>
                <a:gridCol w="1193281">
                  <a:extLst>
                    <a:ext uri="{9D8B030D-6E8A-4147-A177-3AD203B41FA5}">
                      <a16:colId xmlns:a16="http://schemas.microsoft.com/office/drawing/2014/main" val="1470325924"/>
                    </a:ext>
                  </a:extLst>
                </a:gridCol>
                <a:gridCol w="1193281">
                  <a:extLst>
                    <a:ext uri="{9D8B030D-6E8A-4147-A177-3AD203B41FA5}">
                      <a16:colId xmlns:a16="http://schemas.microsoft.com/office/drawing/2014/main" val="3784753392"/>
                    </a:ext>
                  </a:extLst>
                </a:gridCol>
                <a:gridCol w="1193281">
                  <a:extLst>
                    <a:ext uri="{9D8B030D-6E8A-4147-A177-3AD203B41FA5}">
                      <a16:colId xmlns:a16="http://schemas.microsoft.com/office/drawing/2014/main" val="3157324177"/>
                    </a:ext>
                  </a:extLst>
                </a:gridCol>
                <a:gridCol w="1193281">
                  <a:extLst>
                    <a:ext uri="{9D8B030D-6E8A-4147-A177-3AD203B41FA5}">
                      <a16:colId xmlns:a16="http://schemas.microsoft.com/office/drawing/2014/main" val="1033398870"/>
                    </a:ext>
                  </a:extLst>
                </a:gridCol>
              </a:tblGrid>
              <a:tr h="370840">
                <a:tc>
                  <a:txBody>
                    <a:bodyPr/>
                    <a:lstStyle/>
                    <a:p>
                      <a:r>
                        <a:rPr lang="en-US" dirty="0" smtClean="0"/>
                        <a:t>synonym</a:t>
                      </a:r>
                      <a:endParaRPr lang="en-US" dirty="0"/>
                    </a:p>
                  </a:txBody>
                  <a:tcPr/>
                </a:tc>
                <a:tc>
                  <a:txBody>
                    <a:bodyPr/>
                    <a:lstStyle/>
                    <a:p>
                      <a:r>
                        <a:rPr lang="en-US" dirty="0" smtClean="0"/>
                        <a:t>disgust</a:t>
                      </a:r>
                      <a:endParaRPr lang="en-US" dirty="0"/>
                    </a:p>
                  </a:txBody>
                  <a:tcPr/>
                </a:tc>
                <a:tc>
                  <a:txBody>
                    <a:bodyPr/>
                    <a:lstStyle/>
                    <a:p>
                      <a:r>
                        <a:rPr lang="en-US" dirty="0" smtClean="0"/>
                        <a:t>loathing</a:t>
                      </a:r>
                      <a:endParaRPr lang="en-US" dirty="0"/>
                    </a:p>
                  </a:txBody>
                  <a:tcPr/>
                </a:tc>
                <a:tc>
                  <a:txBody>
                    <a:bodyPr/>
                    <a:lstStyle/>
                    <a:p>
                      <a:r>
                        <a:rPr lang="en-US" dirty="0" smtClean="0"/>
                        <a:t>bitter</a:t>
                      </a:r>
                      <a:endParaRPr lang="en-US" dirty="0"/>
                    </a:p>
                  </a:txBody>
                  <a:tcPr/>
                </a:tc>
                <a:tc>
                  <a:txBody>
                    <a:bodyPr/>
                    <a:lstStyle/>
                    <a:p>
                      <a:r>
                        <a:rPr lang="en-US" dirty="0" smtClean="0"/>
                        <a:t>ugly</a:t>
                      </a:r>
                      <a:endParaRPr lang="en-US" dirty="0"/>
                    </a:p>
                  </a:txBody>
                  <a:tcPr/>
                </a:tc>
                <a:tc>
                  <a:txBody>
                    <a:bodyPr/>
                    <a:lstStyle/>
                    <a:p>
                      <a:r>
                        <a:rPr lang="en-US" dirty="0" smtClean="0"/>
                        <a:t>repugnance</a:t>
                      </a:r>
                      <a:endParaRPr lang="en-US" dirty="0"/>
                    </a:p>
                  </a:txBody>
                  <a:tcPr/>
                </a:tc>
                <a:tc>
                  <a:txBody>
                    <a:bodyPr/>
                    <a:lstStyle/>
                    <a:p>
                      <a:r>
                        <a:rPr lang="en-US" dirty="0" smtClean="0"/>
                        <a:t>revulsion</a:t>
                      </a:r>
                      <a:endParaRPr lang="en-US" dirty="0"/>
                    </a:p>
                  </a:txBody>
                  <a:tcPr/>
                </a:tc>
                <a:extLst>
                  <a:ext uri="{0D108BD9-81ED-4DB2-BD59-A6C34878D82A}">
                    <a16:rowId xmlns:a16="http://schemas.microsoft.com/office/drawing/2014/main" val="2751846203"/>
                  </a:ext>
                </a:extLst>
              </a:tr>
              <a:tr h="370840">
                <a:tc>
                  <a:txBody>
                    <a:bodyPr/>
                    <a:lstStyle/>
                    <a:p>
                      <a:r>
                        <a:rPr lang="en-US" dirty="0" smtClean="0"/>
                        <a:t>Average of entailment probabilities </a:t>
                      </a:r>
                      <a:endParaRPr lang="en-US" dirty="0"/>
                    </a:p>
                  </a:txBody>
                  <a:tcPr/>
                </a:tc>
                <a:tc>
                  <a:txBody>
                    <a:bodyPr/>
                    <a:lstStyle/>
                    <a:p>
                      <a:r>
                        <a:rPr lang="en-US" dirty="0" smtClean="0"/>
                        <a:t>0.71</a:t>
                      </a:r>
                      <a:endParaRPr lang="en-US" dirty="0"/>
                    </a:p>
                  </a:txBody>
                  <a:tcPr/>
                </a:tc>
                <a:tc>
                  <a:txBody>
                    <a:bodyPr/>
                    <a:lstStyle/>
                    <a:p>
                      <a:r>
                        <a:rPr lang="en-US" dirty="0" smtClean="0"/>
                        <a:t>0.61</a:t>
                      </a:r>
                      <a:endParaRPr lang="en-US" dirty="0"/>
                    </a:p>
                  </a:txBody>
                  <a:tcPr/>
                </a:tc>
                <a:tc>
                  <a:txBody>
                    <a:bodyPr/>
                    <a:lstStyle/>
                    <a:p>
                      <a:r>
                        <a:rPr lang="en-US" dirty="0" smtClean="0"/>
                        <a:t>0.62</a:t>
                      </a:r>
                      <a:endParaRPr lang="en-US" dirty="0"/>
                    </a:p>
                  </a:txBody>
                  <a:tcPr/>
                </a:tc>
                <a:tc>
                  <a:txBody>
                    <a:bodyPr/>
                    <a:lstStyle/>
                    <a:p>
                      <a:r>
                        <a:rPr lang="en-US" dirty="0" smtClean="0"/>
                        <a:t>0.44</a:t>
                      </a:r>
                      <a:endParaRPr lang="en-US" dirty="0"/>
                    </a:p>
                  </a:txBody>
                  <a:tcPr/>
                </a:tc>
                <a:tc>
                  <a:txBody>
                    <a:bodyPr/>
                    <a:lstStyle/>
                    <a:p>
                      <a:r>
                        <a:rPr lang="en-US" dirty="0" smtClean="0"/>
                        <a:t>0.78</a:t>
                      </a:r>
                      <a:endParaRPr lang="en-US" dirty="0"/>
                    </a:p>
                  </a:txBody>
                  <a:tcPr/>
                </a:tc>
                <a:tc>
                  <a:txBody>
                    <a:bodyPr/>
                    <a:lstStyle/>
                    <a:p>
                      <a:r>
                        <a:rPr lang="en-US" dirty="0" smtClean="0"/>
                        <a:t>0.68</a:t>
                      </a:r>
                      <a:endParaRPr lang="en-US" dirty="0"/>
                    </a:p>
                  </a:txBody>
                  <a:tcPr/>
                </a:tc>
                <a:extLst>
                  <a:ext uri="{0D108BD9-81ED-4DB2-BD59-A6C34878D82A}">
                    <a16:rowId xmlns:a16="http://schemas.microsoft.com/office/drawing/2014/main" val="2053983885"/>
                  </a:ext>
                </a:extLst>
              </a:tr>
            </a:tbl>
          </a:graphicData>
        </a:graphic>
      </p:graphicFrame>
      <p:sp>
        <p:nvSpPr>
          <p:cNvPr id="3" name="TextBox 2"/>
          <p:cNvSpPr txBox="1"/>
          <p:nvPr/>
        </p:nvSpPr>
        <p:spPr>
          <a:xfrm>
            <a:off x="537029" y="1214242"/>
            <a:ext cx="732971" cy="307777"/>
          </a:xfrm>
          <a:prstGeom prst="rect">
            <a:avLst/>
          </a:prstGeom>
          <a:noFill/>
        </p:spPr>
        <p:txBody>
          <a:bodyPr wrap="square" rtlCol="0">
            <a:spAutoFit/>
          </a:bodyPr>
          <a:lstStyle/>
          <a:p>
            <a:r>
              <a:rPr lang="en-US" dirty="0"/>
              <a:t>a</a:t>
            </a:r>
            <a:r>
              <a:rPr lang="en-US" dirty="0" smtClean="0"/>
              <a:t>nger:</a:t>
            </a:r>
            <a:endParaRPr lang="en-US" dirty="0"/>
          </a:p>
        </p:txBody>
      </p:sp>
      <p:sp>
        <p:nvSpPr>
          <p:cNvPr id="5" name="TextBox 4"/>
          <p:cNvSpPr txBox="1"/>
          <p:nvPr/>
        </p:nvSpPr>
        <p:spPr>
          <a:xfrm>
            <a:off x="537029" y="3026229"/>
            <a:ext cx="1008742" cy="307777"/>
          </a:xfrm>
          <a:prstGeom prst="rect">
            <a:avLst/>
          </a:prstGeom>
          <a:noFill/>
        </p:spPr>
        <p:txBody>
          <a:bodyPr wrap="square" rtlCol="0">
            <a:spAutoFit/>
          </a:bodyPr>
          <a:lstStyle/>
          <a:p>
            <a:r>
              <a:rPr lang="en-US" dirty="0" smtClean="0"/>
              <a:t>disgust</a:t>
            </a:r>
            <a:endParaRPr lang="en-US" dirty="0"/>
          </a:p>
        </p:txBody>
      </p:sp>
    </p:spTree>
    <p:extLst>
      <p:ext uri="{BB962C8B-B14F-4D97-AF65-F5344CB8AC3E}">
        <p14:creationId xmlns:p14="http://schemas.microsoft.com/office/powerpoint/2010/main" val="4293156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buNone/>
            </a:pPr>
            <a:r>
              <a:rPr lang="en-US" b="1" dirty="0"/>
              <a:t>average of entailment probabilities for each synonym of the </a:t>
            </a:r>
            <a:r>
              <a:rPr lang="en-US" b="1" dirty="0" smtClean="0"/>
              <a:t>true emotion</a:t>
            </a:r>
            <a:endParaRPr lang="en-US"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ltLang="ja" smtClean="0"/>
              <a:t>10</a:t>
            </a:fld>
            <a:endParaRPr lang="ja" altLang="en-US"/>
          </a:p>
        </p:txBody>
      </p:sp>
      <p:graphicFrame>
        <p:nvGraphicFramePr>
          <p:cNvPr id="5" name="Table 4"/>
          <p:cNvGraphicFramePr>
            <a:graphicFrameLocks noGrp="1"/>
          </p:cNvGraphicFramePr>
          <p:nvPr>
            <p:extLst>
              <p:ext uri="{D42A27DB-BD31-4B8C-83A1-F6EECF244321}">
                <p14:modId xmlns:p14="http://schemas.microsoft.com/office/powerpoint/2010/main" val="159765533"/>
              </p:ext>
            </p:extLst>
          </p:nvPr>
        </p:nvGraphicFramePr>
        <p:xfrm>
          <a:off x="497515" y="1054635"/>
          <a:ext cx="8008658" cy="1102360"/>
        </p:xfrm>
        <a:graphic>
          <a:graphicData uri="http://schemas.openxmlformats.org/drawingml/2006/table">
            <a:tbl>
              <a:tblPr firstRow="1" bandRow="1">
                <a:tableStyleId>{5C22544A-7EE6-4342-B048-85BDC9FD1C3A}</a:tableStyleId>
              </a:tblPr>
              <a:tblGrid>
                <a:gridCol w="1144094">
                  <a:extLst>
                    <a:ext uri="{9D8B030D-6E8A-4147-A177-3AD203B41FA5}">
                      <a16:colId xmlns:a16="http://schemas.microsoft.com/office/drawing/2014/main" val="4049186754"/>
                    </a:ext>
                  </a:extLst>
                </a:gridCol>
                <a:gridCol w="1144094">
                  <a:extLst>
                    <a:ext uri="{9D8B030D-6E8A-4147-A177-3AD203B41FA5}">
                      <a16:colId xmlns:a16="http://schemas.microsoft.com/office/drawing/2014/main" val="1864259392"/>
                    </a:ext>
                  </a:extLst>
                </a:gridCol>
                <a:gridCol w="1144094">
                  <a:extLst>
                    <a:ext uri="{9D8B030D-6E8A-4147-A177-3AD203B41FA5}">
                      <a16:colId xmlns:a16="http://schemas.microsoft.com/office/drawing/2014/main" val="3175270220"/>
                    </a:ext>
                  </a:extLst>
                </a:gridCol>
                <a:gridCol w="1144094">
                  <a:extLst>
                    <a:ext uri="{9D8B030D-6E8A-4147-A177-3AD203B41FA5}">
                      <a16:colId xmlns:a16="http://schemas.microsoft.com/office/drawing/2014/main" val="2053500463"/>
                    </a:ext>
                  </a:extLst>
                </a:gridCol>
                <a:gridCol w="1144094">
                  <a:extLst>
                    <a:ext uri="{9D8B030D-6E8A-4147-A177-3AD203B41FA5}">
                      <a16:colId xmlns:a16="http://schemas.microsoft.com/office/drawing/2014/main" val="1663986125"/>
                    </a:ext>
                  </a:extLst>
                </a:gridCol>
                <a:gridCol w="1144094">
                  <a:extLst>
                    <a:ext uri="{9D8B030D-6E8A-4147-A177-3AD203B41FA5}">
                      <a16:colId xmlns:a16="http://schemas.microsoft.com/office/drawing/2014/main" val="3168953696"/>
                    </a:ext>
                  </a:extLst>
                </a:gridCol>
                <a:gridCol w="1144094">
                  <a:extLst>
                    <a:ext uri="{9D8B030D-6E8A-4147-A177-3AD203B41FA5}">
                      <a16:colId xmlns:a16="http://schemas.microsoft.com/office/drawing/2014/main" val="2105327687"/>
                    </a:ext>
                  </a:extLst>
                </a:gridCol>
              </a:tblGrid>
              <a:tr h="370840">
                <a:tc>
                  <a:txBody>
                    <a:bodyPr/>
                    <a:lstStyle/>
                    <a:p>
                      <a:r>
                        <a:rPr lang="en-US" dirty="0" smtClean="0"/>
                        <a:t>synonym</a:t>
                      </a:r>
                      <a:endParaRPr lang="en-US" dirty="0"/>
                    </a:p>
                  </a:txBody>
                  <a:tcPr/>
                </a:tc>
                <a:tc>
                  <a:txBody>
                    <a:bodyPr/>
                    <a:lstStyle/>
                    <a:p>
                      <a:r>
                        <a:rPr lang="en-US" dirty="0" smtClean="0"/>
                        <a:t>fear</a:t>
                      </a:r>
                      <a:endParaRPr lang="en-US" dirty="0"/>
                    </a:p>
                  </a:txBody>
                  <a:tcPr/>
                </a:tc>
                <a:tc>
                  <a:txBody>
                    <a:bodyPr/>
                    <a:lstStyle/>
                    <a:p>
                      <a:r>
                        <a:rPr lang="en-US" dirty="0" smtClean="0"/>
                        <a:t>horror</a:t>
                      </a:r>
                      <a:endParaRPr lang="en-US" dirty="0"/>
                    </a:p>
                  </a:txBody>
                  <a:tcPr/>
                </a:tc>
                <a:tc>
                  <a:txBody>
                    <a:bodyPr/>
                    <a:lstStyle/>
                    <a:p>
                      <a:r>
                        <a:rPr lang="en-US" dirty="0" smtClean="0"/>
                        <a:t>anxiety</a:t>
                      </a:r>
                      <a:endParaRPr lang="en-US" dirty="0"/>
                    </a:p>
                  </a:txBody>
                  <a:tcPr/>
                </a:tc>
                <a:tc>
                  <a:txBody>
                    <a:bodyPr/>
                    <a:lstStyle/>
                    <a:p>
                      <a:r>
                        <a:rPr lang="en-US" dirty="0" smtClean="0"/>
                        <a:t>terror</a:t>
                      </a:r>
                      <a:endParaRPr lang="en-US" dirty="0"/>
                    </a:p>
                  </a:txBody>
                  <a:tcPr/>
                </a:tc>
                <a:tc>
                  <a:txBody>
                    <a:bodyPr/>
                    <a:lstStyle/>
                    <a:p>
                      <a:r>
                        <a:rPr lang="en-US" dirty="0" smtClean="0"/>
                        <a:t>dread</a:t>
                      </a:r>
                      <a:endParaRPr lang="en-US" dirty="0"/>
                    </a:p>
                  </a:txBody>
                  <a:tcPr/>
                </a:tc>
                <a:tc>
                  <a:txBody>
                    <a:bodyPr/>
                    <a:lstStyle/>
                    <a:p>
                      <a:r>
                        <a:rPr lang="en-US" dirty="0" smtClean="0"/>
                        <a:t>scare</a:t>
                      </a:r>
                      <a:endParaRPr lang="en-US" dirty="0"/>
                    </a:p>
                  </a:txBody>
                  <a:tcPr/>
                </a:tc>
                <a:extLst>
                  <a:ext uri="{0D108BD9-81ED-4DB2-BD59-A6C34878D82A}">
                    <a16:rowId xmlns:a16="http://schemas.microsoft.com/office/drawing/2014/main" val="2373476349"/>
                  </a:ext>
                </a:extLst>
              </a:tr>
              <a:tr h="370840">
                <a:tc>
                  <a:txBody>
                    <a:bodyPr/>
                    <a:lstStyle/>
                    <a:p>
                      <a:r>
                        <a:rPr lang="en-US" dirty="0" smtClean="0"/>
                        <a:t>Average of entailment probabilities </a:t>
                      </a:r>
                      <a:endParaRPr lang="en-US" dirty="0"/>
                    </a:p>
                  </a:txBody>
                  <a:tcPr/>
                </a:tc>
                <a:tc>
                  <a:txBody>
                    <a:bodyPr/>
                    <a:lstStyle/>
                    <a:p>
                      <a:r>
                        <a:rPr lang="en-US" dirty="0" smtClean="0"/>
                        <a:t>0.54</a:t>
                      </a:r>
                      <a:endParaRPr lang="en-US" dirty="0"/>
                    </a:p>
                  </a:txBody>
                  <a:tcPr/>
                </a:tc>
                <a:tc>
                  <a:txBody>
                    <a:bodyPr/>
                    <a:lstStyle/>
                    <a:p>
                      <a:r>
                        <a:rPr lang="en-US" dirty="0" smtClean="0"/>
                        <a:t>0.37</a:t>
                      </a:r>
                      <a:endParaRPr lang="en-US" dirty="0"/>
                    </a:p>
                  </a:txBody>
                  <a:tcPr/>
                </a:tc>
                <a:tc>
                  <a:txBody>
                    <a:bodyPr/>
                    <a:lstStyle/>
                    <a:p>
                      <a:r>
                        <a:rPr lang="en-US" dirty="0" smtClean="0"/>
                        <a:t>0.53</a:t>
                      </a:r>
                      <a:endParaRPr lang="en-US" dirty="0"/>
                    </a:p>
                  </a:txBody>
                  <a:tcPr/>
                </a:tc>
                <a:tc>
                  <a:txBody>
                    <a:bodyPr/>
                    <a:lstStyle/>
                    <a:p>
                      <a:r>
                        <a:rPr lang="en-US" dirty="0" smtClean="0"/>
                        <a:t>0.38</a:t>
                      </a:r>
                      <a:endParaRPr lang="en-US" dirty="0"/>
                    </a:p>
                  </a:txBody>
                  <a:tcPr/>
                </a:tc>
                <a:tc>
                  <a:txBody>
                    <a:bodyPr/>
                    <a:lstStyle/>
                    <a:p>
                      <a:r>
                        <a:rPr lang="en-US" dirty="0" smtClean="0"/>
                        <a:t>0.45</a:t>
                      </a:r>
                      <a:endParaRPr lang="en-US" dirty="0"/>
                    </a:p>
                  </a:txBody>
                  <a:tcPr/>
                </a:tc>
                <a:tc>
                  <a:txBody>
                    <a:bodyPr/>
                    <a:lstStyle/>
                    <a:p>
                      <a:r>
                        <a:rPr lang="en-US" dirty="0" smtClean="0"/>
                        <a:t>0.59</a:t>
                      </a:r>
                      <a:endParaRPr lang="en-US" dirty="0"/>
                    </a:p>
                  </a:txBody>
                  <a:tcPr/>
                </a:tc>
                <a:extLst>
                  <a:ext uri="{0D108BD9-81ED-4DB2-BD59-A6C34878D82A}">
                    <a16:rowId xmlns:a16="http://schemas.microsoft.com/office/drawing/2014/main" val="3384291579"/>
                  </a:ext>
                </a:extLst>
              </a:tr>
            </a:tbl>
          </a:graphicData>
        </a:graphic>
      </p:graphicFrame>
      <p:graphicFrame>
        <p:nvGraphicFramePr>
          <p:cNvPr id="7" name="Table 6"/>
          <p:cNvGraphicFramePr>
            <a:graphicFrameLocks noGrp="1"/>
          </p:cNvGraphicFramePr>
          <p:nvPr>
            <p:extLst>
              <p:ext uri="{D42A27DB-BD31-4B8C-83A1-F6EECF244321}">
                <p14:modId xmlns:p14="http://schemas.microsoft.com/office/powerpoint/2010/main" val="1253425291"/>
              </p:ext>
            </p:extLst>
          </p:nvPr>
        </p:nvGraphicFramePr>
        <p:xfrm>
          <a:off x="540654" y="2965038"/>
          <a:ext cx="8062691" cy="1259884"/>
        </p:xfrm>
        <a:graphic>
          <a:graphicData uri="http://schemas.openxmlformats.org/drawingml/2006/table">
            <a:tbl>
              <a:tblPr firstRow="1" bandRow="1">
                <a:tableStyleId>{5C22544A-7EE6-4342-B048-85BDC9FD1C3A}</a:tableStyleId>
              </a:tblPr>
              <a:tblGrid>
                <a:gridCol w="1151813">
                  <a:extLst>
                    <a:ext uri="{9D8B030D-6E8A-4147-A177-3AD203B41FA5}">
                      <a16:colId xmlns:a16="http://schemas.microsoft.com/office/drawing/2014/main" val="3564254509"/>
                    </a:ext>
                  </a:extLst>
                </a:gridCol>
                <a:gridCol w="1151813">
                  <a:extLst>
                    <a:ext uri="{9D8B030D-6E8A-4147-A177-3AD203B41FA5}">
                      <a16:colId xmlns:a16="http://schemas.microsoft.com/office/drawing/2014/main" val="2423578708"/>
                    </a:ext>
                  </a:extLst>
                </a:gridCol>
                <a:gridCol w="1151813">
                  <a:extLst>
                    <a:ext uri="{9D8B030D-6E8A-4147-A177-3AD203B41FA5}">
                      <a16:colId xmlns:a16="http://schemas.microsoft.com/office/drawing/2014/main" val="3330058820"/>
                    </a:ext>
                  </a:extLst>
                </a:gridCol>
                <a:gridCol w="1151813">
                  <a:extLst>
                    <a:ext uri="{9D8B030D-6E8A-4147-A177-3AD203B41FA5}">
                      <a16:colId xmlns:a16="http://schemas.microsoft.com/office/drawing/2014/main" val="1201558090"/>
                    </a:ext>
                  </a:extLst>
                </a:gridCol>
                <a:gridCol w="1151813">
                  <a:extLst>
                    <a:ext uri="{9D8B030D-6E8A-4147-A177-3AD203B41FA5}">
                      <a16:colId xmlns:a16="http://schemas.microsoft.com/office/drawing/2014/main" val="678461062"/>
                    </a:ext>
                  </a:extLst>
                </a:gridCol>
                <a:gridCol w="1151813">
                  <a:extLst>
                    <a:ext uri="{9D8B030D-6E8A-4147-A177-3AD203B41FA5}">
                      <a16:colId xmlns:a16="http://schemas.microsoft.com/office/drawing/2014/main" val="1943154136"/>
                    </a:ext>
                  </a:extLst>
                </a:gridCol>
                <a:gridCol w="1151813">
                  <a:extLst>
                    <a:ext uri="{9D8B030D-6E8A-4147-A177-3AD203B41FA5}">
                      <a16:colId xmlns:a16="http://schemas.microsoft.com/office/drawing/2014/main" val="1906479259"/>
                    </a:ext>
                  </a:extLst>
                </a:gridCol>
              </a:tblGrid>
              <a:tr h="528364">
                <a:tc>
                  <a:txBody>
                    <a:bodyPr/>
                    <a:lstStyle/>
                    <a:p>
                      <a:r>
                        <a:rPr lang="en-US" dirty="0" smtClean="0"/>
                        <a:t>synonym</a:t>
                      </a:r>
                      <a:endParaRPr lang="en-US" dirty="0"/>
                    </a:p>
                  </a:txBody>
                  <a:tcPr/>
                </a:tc>
                <a:tc>
                  <a:txBody>
                    <a:bodyPr/>
                    <a:lstStyle/>
                    <a:p>
                      <a:r>
                        <a:rPr lang="en-US" dirty="0" smtClean="0"/>
                        <a:t>joy</a:t>
                      </a:r>
                      <a:endParaRPr lang="en-US" dirty="0"/>
                    </a:p>
                  </a:txBody>
                  <a:tcPr/>
                </a:tc>
                <a:tc>
                  <a:txBody>
                    <a:bodyPr/>
                    <a:lstStyle/>
                    <a:p>
                      <a:r>
                        <a:rPr lang="en-US" dirty="0" smtClean="0"/>
                        <a:t>achievement</a:t>
                      </a:r>
                      <a:endParaRPr lang="en-US" dirty="0"/>
                    </a:p>
                  </a:txBody>
                  <a:tcPr/>
                </a:tc>
                <a:tc>
                  <a:txBody>
                    <a:bodyPr/>
                    <a:lstStyle/>
                    <a:p>
                      <a:r>
                        <a:rPr lang="en-US" dirty="0" smtClean="0"/>
                        <a:t>pleasure</a:t>
                      </a:r>
                      <a:endParaRPr lang="en-US" dirty="0"/>
                    </a:p>
                  </a:txBody>
                  <a:tcPr/>
                </a:tc>
                <a:tc>
                  <a:txBody>
                    <a:bodyPr/>
                    <a:lstStyle/>
                    <a:p>
                      <a:r>
                        <a:rPr lang="en-US" dirty="0" smtClean="0"/>
                        <a:t>awesome</a:t>
                      </a:r>
                      <a:endParaRPr lang="en-US" dirty="0"/>
                    </a:p>
                  </a:txBody>
                  <a:tcPr/>
                </a:tc>
                <a:tc>
                  <a:txBody>
                    <a:bodyPr/>
                    <a:lstStyle/>
                    <a:p>
                      <a:r>
                        <a:rPr lang="en-US" dirty="0" smtClean="0"/>
                        <a:t>happiness</a:t>
                      </a:r>
                      <a:endParaRPr lang="en-US" dirty="0"/>
                    </a:p>
                  </a:txBody>
                  <a:tcPr/>
                </a:tc>
                <a:tc>
                  <a:txBody>
                    <a:bodyPr/>
                    <a:lstStyle/>
                    <a:p>
                      <a:r>
                        <a:rPr lang="en-US" dirty="0" smtClean="0"/>
                        <a:t>blessed</a:t>
                      </a:r>
                      <a:endParaRPr lang="en-US" dirty="0"/>
                    </a:p>
                  </a:txBody>
                  <a:tcPr/>
                </a:tc>
                <a:extLst>
                  <a:ext uri="{0D108BD9-81ED-4DB2-BD59-A6C34878D82A}">
                    <a16:rowId xmlns:a16="http://schemas.microsoft.com/office/drawing/2014/main" val="1134613916"/>
                  </a:ext>
                </a:extLst>
              </a:tr>
              <a:tr h="370840">
                <a:tc>
                  <a:txBody>
                    <a:bodyPr/>
                    <a:lstStyle/>
                    <a:p>
                      <a:r>
                        <a:rPr lang="en-US" dirty="0" smtClean="0"/>
                        <a:t>Average of entailment probabilities </a:t>
                      </a:r>
                      <a:endParaRPr lang="en-US" dirty="0"/>
                    </a:p>
                  </a:txBody>
                  <a:tcPr/>
                </a:tc>
                <a:tc>
                  <a:txBody>
                    <a:bodyPr/>
                    <a:lstStyle/>
                    <a:p>
                      <a:r>
                        <a:rPr lang="en-US" dirty="0" smtClean="0"/>
                        <a:t>0.44</a:t>
                      </a:r>
                      <a:endParaRPr lang="en-US" dirty="0"/>
                    </a:p>
                  </a:txBody>
                  <a:tcPr/>
                </a:tc>
                <a:tc>
                  <a:txBody>
                    <a:bodyPr/>
                    <a:lstStyle/>
                    <a:p>
                      <a:r>
                        <a:rPr lang="en-US" dirty="0" smtClean="0"/>
                        <a:t>0.36</a:t>
                      </a:r>
                      <a:endParaRPr lang="en-US" dirty="0"/>
                    </a:p>
                  </a:txBody>
                  <a:tcPr/>
                </a:tc>
                <a:tc>
                  <a:txBody>
                    <a:bodyPr/>
                    <a:lstStyle/>
                    <a:p>
                      <a:r>
                        <a:rPr lang="en-US" dirty="0" smtClean="0"/>
                        <a:t>0.51</a:t>
                      </a:r>
                      <a:endParaRPr lang="en-US" dirty="0"/>
                    </a:p>
                  </a:txBody>
                  <a:tcPr/>
                </a:tc>
                <a:tc>
                  <a:txBody>
                    <a:bodyPr/>
                    <a:lstStyle/>
                    <a:p>
                      <a:r>
                        <a:rPr lang="en-US" dirty="0" smtClean="0"/>
                        <a:t>0.48</a:t>
                      </a:r>
                      <a:endParaRPr lang="en-US" dirty="0"/>
                    </a:p>
                  </a:txBody>
                  <a:tcPr/>
                </a:tc>
                <a:tc>
                  <a:txBody>
                    <a:bodyPr/>
                    <a:lstStyle/>
                    <a:p>
                      <a:r>
                        <a:rPr lang="en-US" dirty="0" smtClean="0"/>
                        <a:t>0.5</a:t>
                      </a:r>
                      <a:endParaRPr lang="en-US" dirty="0"/>
                    </a:p>
                  </a:txBody>
                  <a:tcPr/>
                </a:tc>
                <a:tc>
                  <a:txBody>
                    <a:bodyPr/>
                    <a:lstStyle/>
                    <a:p>
                      <a:r>
                        <a:rPr lang="en-US" dirty="0" smtClean="0"/>
                        <a:t>0.36</a:t>
                      </a:r>
                      <a:endParaRPr lang="en-US" dirty="0"/>
                    </a:p>
                  </a:txBody>
                  <a:tcPr/>
                </a:tc>
                <a:extLst>
                  <a:ext uri="{0D108BD9-81ED-4DB2-BD59-A6C34878D82A}">
                    <a16:rowId xmlns:a16="http://schemas.microsoft.com/office/drawing/2014/main" val="497442349"/>
                  </a:ext>
                </a:extLst>
              </a:tr>
            </a:tbl>
          </a:graphicData>
        </a:graphic>
      </p:graphicFrame>
      <p:sp>
        <p:nvSpPr>
          <p:cNvPr id="3" name="TextBox 2"/>
          <p:cNvSpPr txBox="1"/>
          <p:nvPr/>
        </p:nvSpPr>
        <p:spPr>
          <a:xfrm>
            <a:off x="560612" y="644650"/>
            <a:ext cx="1226457" cy="307777"/>
          </a:xfrm>
          <a:prstGeom prst="rect">
            <a:avLst/>
          </a:prstGeom>
          <a:noFill/>
        </p:spPr>
        <p:txBody>
          <a:bodyPr wrap="square" rtlCol="0">
            <a:spAutoFit/>
          </a:bodyPr>
          <a:lstStyle/>
          <a:p>
            <a:r>
              <a:rPr lang="en-US" dirty="0"/>
              <a:t>f</a:t>
            </a:r>
            <a:r>
              <a:rPr lang="en-US" dirty="0" smtClean="0"/>
              <a:t>ear:</a:t>
            </a:r>
            <a:endParaRPr lang="en-US" dirty="0"/>
          </a:p>
        </p:txBody>
      </p:sp>
      <p:sp>
        <p:nvSpPr>
          <p:cNvPr id="6" name="TextBox 5"/>
          <p:cNvSpPr txBox="1"/>
          <p:nvPr/>
        </p:nvSpPr>
        <p:spPr>
          <a:xfrm>
            <a:off x="540654" y="2407128"/>
            <a:ext cx="1266375" cy="307777"/>
          </a:xfrm>
          <a:prstGeom prst="rect">
            <a:avLst/>
          </a:prstGeom>
          <a:noFill/>
        </p:spPr>
        <p:txBody>
          <a:bodyPr wrap="square" rtlCol="0">
            <a:spAutoFit/>
          </a:bodyPr>
          <a:lstStyle/>
          <a:p>
            <a:r>
              <a:rPr lang="en-US" dirty="0"/>
              <a:t>j</a:t>
            </a:r>
            <a:r>
              <a:rPr lang="en-US" dirty="0" smtClean="0"/>
              <a:t>oy:</a:t>
            </a:r>
            <a:endParaRPr lang="en-US" dirty="0"/>
          </a:p>
        </p:txBody>
      </p:sp>
    </p:spTree>
    <p:extLst>
      <p:ext uri="{BB962C8B-B14F-4D97-AF65-F5344CB8AC3E}">
        <p14:creationId xmlns:p14="http://schemas.microsoft.com/office/powerpoint/2010/main" val="34446214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buNone/>
            </a:pPr>
            <a:r>
              <a:rPr lang="en-US" b="1" dirty="0"/>
              <a:t>average of entailment probabilities for each synonym of the </a:t>
            </a:r>
            <a:r>
              <a:rPr lang="en-US" b="1" dirty="0" smtClean="0"/>
              <a:t>true emotion</a:t>
            </a:r>
            <a:endParaRPr lang="en-US"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ltLang="ja" smtClean="0"/>
              <a:t>11</a:t>
            </a:fld>
            <a:endParaRPr lang="ja" altLang="en-US"/>
          </a:p>
        </p:txBody>
      </p:sp>
      <p:graphicFrame>
        <p:nvGraphicFramePr>
          <p:cNvPr id="5" name="Table 4"/>
          <p:cNvGraphicFramePr>
            <a:graphicFrameLocks noGrp="1"/>
          </p:cNvGraphicFramePr>
          <p:nvPr>
            <p:extLst>
              <p:ext uri="{D42A27DB-BD31-4B8C-83A1-F6EECF244321}">
                <p14:modId xmlns:p14="http://schemas.microsoft.com/office/powerpoint/2010/main" val="264727824"/>
              </p:ext>
            </p:extLst>
          </p:nvPr>
        </p:nvGraphicFramePr>
        <p:xfrm>
          <a:off x="426176" y="1103086"/>
          <a:ext cx="8291647" cy="1463040"/>
        </p:xfrm>
        <a:graphic>
          <a:graphicData uri="http://schemas.openxmlformats.org/drawingml/2006/table">
            <a:tbl>
              <a:tblPr firstRow="1" bandRow="1">
                <a:tableStyleId>{5C22544A-7EE6-4342-B048-85BDC9FD1C3A}</a:tableStyleId>
              </a:tblPr>
              <a:tblGrid>
                <a:gridCol w="1184521">
                  <a:extLst>
                    <a:ext uri="{9D8B030D-6E8A-4147-A177-3AD203B41FA5}">
                      <a16:colId xmlns:a16="http://schemas.microsoft.com/office/drawing/2014/main" val="2659628695"/>
                    </a:ext>
                  </a:extLst>
                </a:gridCol>
                <a:gridCol w="1184521">
                  <a:extLst>
                    <a:ext uri="{9D8B030D-6E8A-4147-A177-3AD203B41FA5}">
                      <a16:colId xmlns:a16="http://schemas.microsoft.com/office/drawing/2014/main" val="3500007172"/>
                    </a:ext>
                  </a:extLst>
                </a:gridCol>
                <a:gridCol w="1184521">
                  <a:extLst>
                    <a:ext uri="{9D8B030D-6E8A-4147-A177-3AD203B41FA5}">
                      <a16:colId xmlns:a16="http://schemas.microsoft.com/office/drawing/2014/main" val="1198418828"/>
                    </a:ext>
                  </a:extLst>
                </a:gridCol>
                <a:gridCol w="1184521">
                  <a:extLst>
                    <a:ext uri="{9D8B030D-6E8A-4147-A177-3AD203B41FA5}">
                      <a16:colId xmlns:a16="http://schemas.microsoft.com/office/drawing/2014/main" val="3945299454"/>
                    </a:ext>
                  </a:extLst>
                </a:gridCol>
                <a:gridCol w="1184521">
                  <a:extLst>
                    <a:ext uri="{9D8B030D-6E8A-4147-A177-3AD203B41FA5}">
                      <a16:colId xmlns:a16="http://schemas.microsoft.com/office/drawing/2014/main" val="2559667161"/>
                    </a:ext>
                  </a:extLst>
                </a:gridCol>
                <a:gridCol w="1184521">
                  <a:extLst>
                    <a:ext uri="{9D8B030D-6E8A-4147-A177-3AD203B41FA5}">
                      <a16:colId xmlns:a16="http://schemas.microsoft.com/office/drawing/2014/main" val="1906041258"/>
                    </a:ext>
                  </a:extLst>
                </a:gridCol>
                <a:gridCol w="1184521">
                  <a:extLst>
                    <a:ext uri="{9D8B030D-6E8A-4147-A177-3AD203B41FA5}">
                      <a16:colId xmlns:a16="http://schemas.microsoft.com/office/drawing/2014/main" val="1451328961"/>
                    </a:ext>
                  </a:extLst>
                </a:gridCol>
              </a:tblGrid>
              <a:tr h="339319">
                <a:tc>
                  <a:txBody>
                    <a:bodyPr/>
                    <a:lstStyle/>
                    <a:p>
                      <a:r>
                        <a:rPr lang="en-US" dirty="0" smtClean="0"/>
                        <a:t>synonym</a:t>
                      </a:r>
                      <a:endParaRPr lang="en-US" dirty="0"/>
                    </a:p>
                  </a:txBody>
                  <a:tcPr/>
                </a:tc>
                <a:tc>
                  <a:txBody>
                    <a:bodyPr/>
                    <a:lstStyle/>
                    <a:p>
                      <a:r>
                        <a:rPr lang="en-US" dirty="0" smtClean="0"/>
                        <a:t>sadness</a:t>
                      </a:r>
                      <a:endParaRPr lang="en-US" dirty="0"/>
                    </a:p>
                  </a:txBody>
                  <a:tcPr/>
                </a:tc>
                <a:tc>
                  <a:txBody>
                    <a:bodyPr/>
                    <a:lstStyle/>
                    <a:p>
                      <a:r>
                        <a:rPr lang="en-US" dirty="0" smtClean="0"/>
                        <a:t>unhappiness</a:t>
                      </a:r>
                      <a:endParaRPr lang="en-US" dirty="0"/>
                    </a:p>
                  </a:txBody>
                  <a:tcPr/>
                </a:tc>
                <a:tc>
                  <a:txBody>
                    <a:bodyPr/>
                    <a:lstStyle/>
                    <a:p>
                      <a:r>
                        <a:rPr lang="en-US" dirty="0" smtClean="0"/>
                        <a:t>grief</a:t>
                      </a:r>
                      <a:endParaRPr lang="en-US" dirty="0"/>
                    </a:p>
                  </a:txBody>
                  <a:tcPr/>
                </a:tc>
                <a:tc>
                  <a:txBody>
                    <a:bodyPr/>
                    <a:lstStyle/>
                    <a:p>
                      <a:r>
                        <a:rPr lang="en-US" dirty="0" smtClean="0"/>
                        <a:t>sorrow</a:t>
                      </a:r>
                      <a:endParaRPr lang="en-US" dirty="0"/>
                    </a:p>
                  </a:txBody>
                  <a:tcPr/>
                </a:tc>
                <a:tc>
                  <a:txBody>
                    <a:bodyPr/>
                    <a:lstStyle/>
                    <a:p>
                      <a:r>
                        <a:rPr lang="en-US" dirty="0" smtClean="0"/>
                        <a:t>loneliness</a:t>
                      </a:r>
                      <a:endParaRPr lang="en-US" dirty="0"/>
                    </a:p>
                  </a:txBody>
                  <a:tcPr/>
                </a:tc>
                <a:tc>
                  <a:txBody>
                    <a:bodyPr/>
                    <a:lstStyle/>
                    <a:p>
                      <a:r>
                        <a:rPr lang="en-US" dirty="0" smtClean="0"/>
                        <a:t>depression</a:t>
                      </a:r>
                      <a:endParaRPr lang="en-US" dirty="0"/>
                    </a:p>
                  </a:txBody>
                  <a:tcPr/>
                </a:tc>
                <a:extLst>
                  <a:ext uri="{0D108BD9-81ED-4DB2-BD59-A6C34878D82A}">
                    <a16:rowId xmlns:a16="http://schemas.microsoft.com/office/drawing/2014/main" val="67134482"/>
                  </a:ext>
                </a:extLst>
              </a:tr>
              <a:tr h="760379">
                <a:tc>
                  <a:txBody>
                    <a:bodyPr/>
                    <a:lstStyle/>
                    <a:p>
                      <a:pPr marL="0" marR="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smtClean="0"/>
                        <a:t>Average of entailment probabilities </a:t>
                      </a:r>
                    </a:p>
                    <a:p>
                      <a:endParaRPr lang="en-US" dirty="0"/>
                    </a:p>
                  </a:txBody>
                  <a:tcPr/>
                </a:tc>
                <a:tc>
                  <a:txBody>
                    <a:bodyPr/>
                    <a:lstStyle/>
                    <a:p>
                      <a:r>
                        <a:rPr lang="en-US" dirty="0" smtClean="0"/>
                        <a:t>0.58</a:t>
                      </a:r>
                      <a:endParaRPr lang="en-US" dirty="0"/>
                    </a:p>
                  </a:txBody>
                  <a:tcPr/>
                </a:tc>
                <a:tc>
                  <a:txBody>
                    <a:bodyPr/>
                    <a:lstStyle/>
                    <a:p>
                      <a:r>
                        <a:rPr lang="en-US" dirty="0" smtClean="0"/>
                        <a:t>0.63</a:t>
                      </a:r>
                      <a:endParaRPr lang="en-US" dirty="0"/>
                    </a:p>
                  </a:txBody>
                  <a:tcPr/>
                </a:tc>
                <a:tc>
                  <a:txBody>
                    <a:bodyPr/>
                    <a:lstStyle/>
                    <a:p>
                      <a:r>
                        <a:rPr lang="en-US" dirty="0" smtClean="0"/>
                        <a:t>0.5</a:t>
                      </a:r>
                      <a:endParaRPr lang="en-US" dirty="0"/>
                    </a:p>
                  </a:txBody>
                  <a:tcPr/>
                </a:tc>
                <a:tc>
                  <a:txBody>
                    <a:bodyPr/>
                    <a:lstStyle/>
                    <a:p>
                      <a:r>
                        <a:rPr lang="en-US" dirty="0" smtClean="0"/>
                        <a:t>0.52</a:t>
                      </a:r>
                      <a:endParaRPr lang="en-US" dirty="0"/>
                    </a:p>
                  </a:txBody>
                  <a:tcPr/>
                </a:tc>
                <a:tc>
                  <a:txBody>
                    <a:bodyPr/>
                    <a:lstStyle/>
                    <a:p>
                      <a:r>
                        <a:rPr lang="en-US" dirty="0" smtClean="0"/>
                        <a:t>0.4</a:t>
                      </a:r>
                      <a:endParaRPr lang="en-US" dirty="0"/>
                    </a:p>
                  </a:txBody>
                  <a:tcPr/>
                </a:tc>
                <a:tc>
                  <a:txBody>
                    <a:bodyPr/>
                    <a:lstStyle/>
                    <a:p>
                      <a:r>
                        <a:rPr lang="en-US" dirty="0" smtClean="0"/>
                        <a:t>0.39</a:t>
                      </a:r>
                      <a:endParaRPr lang="en-US" dirty="0"/>
                    </a:p>
                  </a:txBody>
                  <a:tcPr/>
                </a:tc>
                <a:extLst>
                  <a:ext uri="{0D108BD9-81ED-4DB2-BD59-A6C34878D82A}">
                    <a16:rowId xmlns:a16="http://schemas.microsoft.com/office/drawing/2014/main" val="3997740586"/>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3916047635"/>
              </p:ext>
            </p:extLst>
          </p:nvPr>
        </p:nvGraphicFramePr>
        <p:xfrm>
          <a:off x="426176" y="3151683"/>
          <a:ext cx="8485596" cy="1411209"/>
        </p:xfrm>
        <a:graphic>
          <a:graphicData uri="http://schemas.openxmlformats.org/drawingml/2006/table">
            <a:tbl>
              <a:tblPr firstRow="1" bandRow="1">
                <a:tableStyleId>{5C22544A-7EE6-4342-B048-85BDC9FD1C3A}</a:tableStyleId>
              </a:tblPr>
              <a:tblGrid>
                <a:gridCol w="1212228">
                  <a:extLst>
                    <a:ext uri="{9D8B030D-6E8A-4147-A177-3AD203B41FA5}">
                      <a16:colId xmlns:a16="http://schemas.microsoft.com/office/drawing/2014/main" val="286882485"/>
                    </a:ext>
                  </a:extLst>
                </a:gridCol>
                <a:gridCol w="1212228">
                  <a:extLst>
                    <a:ext uri="{9D8B030D-6E8A-4147-A177-3AD203B41FA5}">
                      <a16:colId xmlns:a16="http://schemas.microsoft.com/office/drawing/2014/main" val="2812343128"/>
                    </a:ext>
                  </a:extLst>
                </a:gridCol>
                <a:gridCol w="1212228">
                  <a:extLst>
                    <a:ext uri="{9D8B030D-6E8A-4147-A177-3AD203B41FA5}">
                      <a16:colId xmlns:a16="http://schemas.microsoft.com/office/drawing/2014/main" val="2645869493"/>
                    </a:ext>
                  </a:extLst>
                </a:gridCol>
                <a:gridCol w="1212228">
                  <a:extLst>
                    <a:ext uri="{9D8B030D-6E8A-4147-A177-3AD203B41FA5}">
                      <a16:colId xmlns:a16="http://schemas.microsoft.com/office/drawing/2014/main" val="3739022664"/>
                    </a:ext>
                  </a:extLst>
                </a:gridCol>
                <a:gridCol w="1212228">
                  <a:extLst>
                    <a:ext uri="{9D8B030D-6E8A-4147-A177-3AD203B41FA5}">
                      <a16:colId xmlns:a16="http://schemas.microsoft.com/office/drawing/2014/main" val="2168483665"/>
                    </a:ext>
                  </a:extLst>
                </a:gridCol>
                <a:gridCol w="1212228">
                  <a:extLst>
                    <a:ext uri="{9D8B030D-6E8A-4147-A177-3AD203B41FA5}">
                      <a16:colId xmlns:a16="http://schemas.microsoft.com/office/drawing/2014/main" val="3782156861"/>
                    </a:ext>
                  </a:extLst>
                </a:gridCol>
                <a:gridCol w="1212228">
                  <a:extLst>
                    <a:ext uri="{9D8B030D-6E8A-4147-A177-3AD203B41FA5}">
                      <a16:colId xmlns:a16="http://schemas.microsoft.com/office/drawing/2014/main" val="2038626982"/>
                    </a:ext>
                  </a:extLst>
                </a:gridCol>
              </a:tblGrid>
              <a:tr h="679689">
                <a:tc>
                  <a:txBody>
                    <a:bodyPr/>
                    <a:lstStyle/>
                    <a:p>
                      <a:r>
                        <a:rPr lang="en-US" dirty="0" smtClean="0"/>
                        <a:t>synonym</a:t>
                      </a:r>
                      <a:endParaRPr lang="en-US" dirty="0"/>
                    </a:p>
                  </a:txBody>
                  <a:tcPr/>
                </a:tc>
                <a:tc>
                  <a:txBody>
                    <a:bodyPr/>
                    <a:lstStyle/>
                    <a:p>
                      <a:r>
                        <a:rPr lang="en-US" dirty="0" smtClean="0"/>
                        <a:t>surprise</a:t>
                      </a:r>
                      <a:endParaRPr lang="en-US" dirty="0"/>
                    </a:p>
                  </a:txBody>
                  <a:tcPr/>
                </a:tc>
                <a:tc>
                  <a:txBody>
                    <a:bodyPr/>
                    <a:lstStyle/>
                    <a:p>
                      <a:r>
                        <a:rPr lang="en-US" dirty="0" smtClean="0"/>
                        <a:t>astonishment</a:t>
                      </a:r>
                      <a:endParaRPr lang="en-US" dirty="0"/>
                    </a:p>
                  </a:txBody>
                  <a:tcPr/>
                </a:tc>
                <a:tc>
                  <a:txBody>
                    <a:bodyPr/>
                    <a:lstStyle/>
                    <a:p>
                      <a:r>
                        <a:rPr lang="en-US" dirty="0" smtClean="0"/>
                        <a:t>amazement</a:t>
                      </a:r>
                      <a:endParaRPr lang="en-US" dirty="0"/>
                    </a:p>
                  </a:txBody>
                  <a:tcPr/>
                </a:tc>
                <a:tc>
                  <a:txBody>
                    <a:bodyPr/>
                    <a:lstStyle/>
                    <a:p>
                      <a:r>
                        <a:rPr lang="en-US" dirty="0" smtClean="0"/>
                        <a:t>impression</a:t>
                      </a:r>
                      <a:endParaRPr lang="en-US" dirty="0"/>
                    </a:p>
                  </a:txBody>
                  <a:tcPr/>
                </a:tc>
                <a:tc>
                  <a:txBody>
                    <a:bodyPr/>
                    <a:lstStyle/>
                    <a:p>
                      <a:r>
                        <a:rPr lang="en-US" dirty="0" smtClean="0"/>
                        <a:t>perplexity</a:t>
                      </a:r>
                      <a:endParaRPr lang="en-US" dirty="0"/>
                    </a:p>
                  </a:txBody>
                  <a:tcPr/>
                </a:tc>
                <a:tc>
                  <a:txBody>
                    <a:bodyPr/>
                    <a:lstStyle/>
                    <a:p>
                      <a:r>
                        <a:rPr lang="en-US" dirty="0" smtClean="0"/>
                        <a:t>shock</a:t>
                      </a:r>
                      <a:endParaRPr lang="en-US" dirty="0"/>
                    </a:p>
                  </a:txBody>
                  <a:tcPr/>
                </a:tc>
                <a:extLst>
                  <a:ext uri="{0D108BD9-81ED-4DB2-BD59-A6C34878D82A}">
                    <a16:rowId xmlns:a16="http://schemas.microsoft.com/office/drawing/2014/main" val="692467817"/>
                  </a:ext>
                </a:extLst>
              </a:tr>
              <a:tr h="554025">
                <a:tc>
                  <a:txBody>
                    <a:bodyPr/>
                    <a:lstStyle/>
                    <a:p>
                      <a:pPr marL="0" marR="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smtClean="0"/>
                        <a:t>Average of entailment probabilities </a:t>
                      </a:r>
                    </a:p>
                  </a:txBody>
                  <a:tcPr/>
                </a:tc>
                <a:tc>
                  <a:txBody>
                    <a:bodyPr/>
                    <a:lstStyle/>
                    <a:p>
                      <a:r>
                        <a:rPr lang="en-US" dirty="0" smtClean="0"/>
                        <a:t>0.82</a:t>
                      </a:r>
                      <a:endParaRPr lang="en-US" dirty="0"/>
                    </a:p>
                  </a:txBody>
                  <a:tcPr/>
                </a:tc>
                <a:tc>
                  <a:txBody>
                    <a:bodyPr/>
                    <a:lstStyle/>
                    <a:p>
                      <a:r>
                        <a:rPr lang="en-US" dirty="0" smtClean="0"/>
                        <a:t>0.7</a:t>
                      </a:r>
                      <a:endParaRPr lang="en-US" dirty="0"/>
                    </a:p>
                  </a:txBody>
                  <a:tcPr/>
                </a:tc>
                <a:tc>
                  <a:txBody>
                    <a:bodyPr/>
                    <a:lstStyle/>
                    <a:p>
                      <a:r>
                        <a:rPr lang="en-US" dirty="0" smtClean="0"/>
                        <a:t>0.65</a:t>
                      </a:r>
                      <a:endParaRPr lang="en-US" dirty="0"/>
                    </a:p>
                  </a:txBody>
                  <a:tcPr/>
                </a:tc>
                <a:tc>
                  <a:txBody>
                    <a:bodyPr/>
                    <a:lstStyle/>
                    <a:p>
                      <a:r>
                        <a:rPr lang="en-US" dirty="0" smtClean="0"/>
                        <a:t>0.74</a:t>
                      </a:r>
                      <a:endParaRPr lang="en-US" dirty="0"/>
                    </a:p>
                  </a:txBody>
                  <a:tcPr/>
                </a:tc>
                <a:tc>
                  <a:txBody>
                    <a:bodyPr/>
                    <a:lstStyle/>
                    <a:p>
                      <a:r>
                        <a:rPr lang="en-US" dirty="0" smtClean="0"/>
                        <a:t>0.64</a:t>
                      </a:r>
                      <a:endParaRPr lang="en-US" dirty="0"/>
                    </a:p>
                  </a:txBody>
                  <a:tcPr/>
                </a:tc>
                <a:tc>
                  <a:txBody>
                    <a:bodyPr/>
                    <a:lstStyle/>
                    <a:p>
                      <a:r>
                        <a:rPr lang="en-US" dirty="0" smtClean="0"/>
                        <a:t>0.56</a:t>
                      </a:r>
                      <a:endParaRPr lang="en-US" dirty="0"/>
                    </a:p>
                  </a:txBody>
                  <a:tcPr/>
                </a:tc>
                <a:extLst>
                  <a:ext uri="{0D108BD9-81ED-4DB2-BD59-A6C34878D82A}">
                    <a16:rowId xmlns:a16="http://schemas.microsoft.com/office/drawing/2014/main" val="832399350"/>
                  </a:ext>
                </a:extLst>
              </a:tr>
            </a:tbl>
          </a:graphicData>
        </a:graphic>
      </p:graphicFrame>
      <p:sp>
        <p:nvSpPr>
          <p:cNvPr id="3" name="TextBox 2"/>
          <p:cNvSpPr txBox="1"/>
          <p:nvPr/>
        </p:nvSpPr>
        <p:spPr>
          <a:xfrm>
            <a:off x="653143" y="703943"/>
            <a:ext cx="1306286" cy="307777"/>
          </a:xfrm>
          <a:prstGeom prst="rect">
            <a:avLst/>
          </a:prstGeom>
          <a:noFill/>
        </p:spPr>
        <p:txBody>
          <a:bodyPr wrap="square" rtlCol="0">
            <a:spAutoFit/>
          </a:bodyPr>
          <a:lstStyle/>
          <a:p>
            <a:r>
              <a:rPr lang="en-US" dirty="0" smtClean="0"/>
              <a:t>Sadness:</a:t>
            </a:r>
            <a:endParaRPr lang="en-US" dirty="0"/>
          </a:p>
        </p:txBody>
      </p:sp>
      <p:sp>
        <p:nvSpPr>
          <p:cNvPr id="7" name="TextBox 6"/>
          <p:cNvSpPr txBox="1"/>
          <p:nvPr/>
        </p:nvSpPr>
        <p:spPr>
          <a:xfrm>
            <a:off x="478971" y="2743200"/>
            <a:ext cx="1204686" cy="307777"/>
          </a:xfrm>
          <a:prstGeom prst="rect">
            <a:avLst/>
          </a:prstGeom>
          <a:noFill/>
        </p:spPr>
        <p:txBody>
          <a:bodyPr wrap="square" rtlCol="0">
            <a:spAutoFit/>
          </a:bodyPr>
          <a:lstStyle/>
          <a:p>
            <a:r>
              <a:rPr lang="en-US" dirty="0" smtClean="0"/>
              <a:t>Surprise:</a:t>
            </a:r>
            <a:endParaRPr lang="en-US" dirty="0"/>
          </a:p>
        </p:txBody>
      </p:sp>
    </p:spTree>
    <p:extLst>
      <p:ext uri="{BB962C8B-B14F-4D97-AF65-F5344CB8AC3E}">
        <p14:creationId xmlns:p14="http://schemas.microsoft.com/office/powerpoint/2010/main" val="15393252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buNone/>
            </a:pPr>
            <a:r>
              <a:rPr lang="en-US" b="1" dirty="0" smtClean="0"/>
              <a:t>Comparing the average </a:t>
            </a:r>
            <a:r>
              <a:rPr lang="en-US" b="1" dirty="0"/>
              <a:t>of entailment </a:t>
            </a:r>
            <a:r>
              <a:rPr lang="en-US" b="1" dirty="0" smtClean="0"/>
              <a:t>probabilities of synonyms</a:t>
            </a:r>
            <a:endParaRPr lang="en-US"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ltLang="ja" smtClean="0"/>
              <a:t>12</a:t>
            </a:fld>
            <a:endParaRPr lang="ja" altLang="en-US"/>
          </a:p>
        </p:txBody>
      </p:sp>
      <p:sp>
        <p:nvSpPr>
          <p:cNvPr id="6" name="TextBox 5"/>
          <p:cNvSpPr txBox="1"/>
          <p:nvPr/>
        </p:nvSpPr>
        <p:spPr>
          <a:xfrm>
            <a:off x="232227" y="615294"/>
            <a:ext cx="8447315" cy="4185761"/>
          </a:xfrm>
          <a:prstGeom prst="rect">
            <a:avLst/>
          </a:prstGeom>
          <a:noFill/>
        </p:spPr>
        <p:txBody>
          <a:bodyPr wrap="square" rtlCol="0">
            <a:spAutoFit/>
          </a:bodyPr>
          <a:lstStyle/>
          <a:p>
            <a:pPr>
              <a:lnSpc>
                <a:spcPct val="150000"/>
              </a:lnSpc>
            </a:pPr>
            <a:r>
              <a:rPr lang="en-US" dirty="0"/>
              <a:t>The synonyms </a:t>
            </a:r>
            <a:r>
              <a:rPr lang="en-US" dirty="0" smtClean="0"/>
              <a:t>of each emotion that </a:t>
            </a:r>
            <a:r>
              <a:rPr lang="en-US" dirty="0"/>
              <a:t>had </a:t>
            </a:r>
            <a:r>
              <a:rPr lang="en-US" dirty="0" smtClean="0"/>
              <a:t>high </a:t>
            </a:r>
            <a:r>
              <a:rPr lang="en-US" dirty="0"/>
              <a:t>average of entailment </a:t>
            </a:r>
            <a:r>
              <a:rPr lang="en-US" dirty="0" smtClean="0"/>
              <a:t>probabilities (according to last slides) in two datasets:</a:t>
            </a:r>
          </a:p>
          <a:p>
            <a:pPr>
              <a:lnSpc>
                <a:spcPct val="150000"/>
              </a:lnSpc>
            </a:pPr>
            <a:r>
              <a:rPr lang="en-US" dirty="0" smtClean="0"/>
              <a:t>anger</a:t>
            </a:r>
            <a:r>
              <a:rPr lang="en-US" dirty="0"/>
              <a:t>: </a:t>
            </a:r>
            <a:r>
              <a:rPr lang="en-US" dirty="0" smtClean="0"/>
              <a:t>anger, irritation</a:t>
            </a:r>
          </a:p>
          <a:p>
            <a:pPr>
              <a:lnSpc>
                <a:spcPct val="150000"/>
              </a:lnSpc>
            </a:pPr>
            <a:r>
              <a:rPr lang="en-US" dirty="0" smtClean="0"/>
              <a:t>Disgust</a:t>
            </a:r>
            <a:r>
              <a:rPr lang="en-US" dirty="0"/>
              <a:t>: repugnance</a:t>
            </a:r>
          </a:p>
          <a:p>
            <a:pPr>
              <a:lnSpc>
                <a:spcPct val="150000"/>
              </a:lnSpc>
            </a:pPr>
            <a:r>
              <a:rPr lang="en-US" dirty="0"/>
              <a:t>Fear: scare</a:t>
            </a:r>
          </a:p>
          <a:p>
            <a:pPr>
              <a:lnSpc>
                <a:spcPct val="150000"/>
              </a:lnSpc>
            </a:pPr>
            <a:r>
              <a:rPr lang="en-US" dirty="0"/>
              <a:t>Guilt: culpability</a:t>
            </a:r>
          </a:p>
          <a:p>
            <a:pPr>
              <a:lnSpc>
                <a:spcPct val="150000"/>
              </a:lnSpc>
            </a:pPr>
            <a:r>
              <a:rPr lang="en-US" dirty="0"/>
              <a:t>Joy: happiness</a:t>
            </a:r>
          </a:p>
          <a:p>
            <a:pPr>
              <a:lnSpc>
                <a:spcPct val="150000"/>
              </a:lnSpc>
            </a:pPr>
            <a:r>
              <a:rPr lang="en-US" dirty="0"/>
              <a:t>Sadness: unhappiness</a:t>
            </a:r>
          </a:p>
          <a:p>
            <a:pPr>
              <a:lnSpc>
                <a:spcPct val="150000"/>
              </a:lnSpc>
            </a:pPr>
            <a:r>
              <a:rPr lang="en-US" dirty="0"/>
              <a:t>Shame: </a:t>
            </a:r>
            <a:r>
              <a:rPr lang="en-US" dirty="0" smtClean="0"/>
              <a:t>embarrassment</a:t>
            </a:r>
          </a:p>
          <a:p>
            <a:pPr>
              <a:lnSpc>
                <a:spcPct val="150000"/>
              </a:lnSpc>
            </a:pPr>
            <a:r>
              <a:rPr lang="en-US" dirty="0" smtClean="0"/>
              <a:t>Surprise: surprise</a:t>
            </a:r>
            <a:endParaRPr lang="en-US" dirty="0"/>
          </a:p>
          <a:p>
            <a:pPr>
              <a:lnSpc>
                <a:spcPct val="150000"/>
              </a:lnSpc>
            </a:pPr>
            <a:r>
              <a:rPr lang="en-US" dirty="0" smtClean="0"/>
              <a:t>Considering only these synonyms for each emotion can’t lead to improvements.</a:t>
            </a:r>
          </a:p>
          <a:p>
            <a:pPr>
              <a:lnSpc>
                <a:spcPct val="150000"/>
              </a:lnSpc>
            </a:pPr>
            <a:r>
              <a:rPr lang="en-US" dirty="0" smtClean="0"/>
              <a:t>(</a:t>
            </a:r>
            <a:r>
              <a:rPr lang="en-US" dirty="0" err="1" smtClean="0"/>
              <a:t>Isear</a:t>
            </a:r>
            <a:r>
              <a:rPr lang="en-US" dirty="0" smtClean="0"/>
              <a:t> dataset: Macro average F1: 0.58, Tec dataset: Macro average F1:0.38)</a:t>
            </a:r>
            <a:endParaRPr lang="en-US" dirty="0"/>
          </a:p>
          <a:p>
            <a:endParaRPr lang="en-US" dirty="0"/>
          </a:p>
        </p:txBody>
      </p:sp>
    </p:spTree>
    <p:extLst>
      <p:ext uri="{BB962C8B-B14F-4D97-AF65-F5344CB8AC3E}">
        <p14:creationId xmlns:p14="http://schemas.microsoft.com/office/powerpoint/2010/main" val="32594844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buNone/>
            </a:pPr>
            <a:r>
              <a:rPr lang="en-US" b="1" dirty="0" smtClean="0"/>
              <a:t>Some of findings</a:t>
            </a:r>
            <a:endParaRPr lang="en-US" b="1"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ltLang="ja" smtClean="0"/>
              <a:t>13</a:t>
            </a:fld>
            <a:endParaRPr lang="ja" altLang="en-US"/>
          </a:p>
        </p:txBody>
      </p:sp>
      <p:sp>
        <p:nvSpPr>
          <p:cNvPr id="6" name="TextBox 5"/>
          <p:cNvSpPr txBox="1"/>
          <p:nvPr/>
        </p:nvSpPr>
        <p:spPr>
          <a:xfrm>
            <a:off x="889000" y="878114"/>
            <a:ext cx="7366000" cy="1708160"/>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dirty="0" smtClean="0"/>
              <a:t>The complexity and length of sentences are different.</a:t>
            </a:r>
          </a:p>
          <a:p>
            <a:pPr marL="285750" indent="-285750">
              <a:lnSpc>
                <a:spcPct val="150000"/>
              </a:lnSpc>
              <a:buFont typeface="Arial" panose="020B0604020202020204" pitchFamily="34" charset="0"/>
              <a:buChar char="•"/>
            </a:pPr>
            <a:r>
              <a:rPr lang="en-US" dirty="0" smtClean="0"/>
              <a:t>Some of the sentences are ambiguous.</a:t>
            </a:r>
          </a:p>
          <a:p>
            <a:pPr marL="285750" indent="-285750">
              <a:lnSpc>
                <a:spcPct val="150000"/>
              </a:lnSpc>
              <a:buFont typeface="Arial" panose="020B0604020202020204" pitchFamily="34" charset="0"/>
              <a:buChar char="•"/>
            </a:pPr>
            <a:r>
              <a:rPr lang="en-US" dirty="0" smtClean="0"/>
              <a:t>So, Considering some of the synonyms can’t lead to improvements for the whole dataset. The proper synonyms for each text are different.</a:t>
            </a:r>
          </a:p>
          <a:p>
            <a:pPr>
              <a:lnSpc>
                <a:spcPct val="150000"/>
              </a:lnSpc>
            </a:pPr>
            <a:r>
              <a:rPr lang="en-US" dirty="0" smtClean="0"/>
              <a:t>  </a:t>
            </a:r>
            <a:endParaRPr lang="en-US" dirty="0"/>
          </a:p>
        </p:txBody>
      </p:sp>
    </p:spTree>
    <p:extLst>
      <p:ext uri="{BB962C8B-B14F-4D97-AF65-F5344CB8AC3E}">
        <p14:creationId xmlns:p14="http://schemas.microsoft.com/office/powerpoint/2010/main" val="25028567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buNone/>
            </a:pPr>
            <a:r>
              <a:rPr lang="en-US" b="1" dirty="0" smtClean="0"/>
              <a:t>Another idea to us synonyms of emotions </a:t>
            </a:r>
            <a:endParaRPr lang="en-US" b="1"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ltLang="ja" smtClean="0"/>
              <a:t>14</a:t>
            </a:fld>
            <a:endParaRPr lang="ja" altLang="en-US"/>
          </a:p>
        </p:txBody>
      </p:sp>
      <p:sp>
        <p:nvSpPr>
          <p:cNvPr id="5" name="TextBox 4"/>
          <p:cNvSpPr txBox="1"/>
          <p:nvPr/>
        </p:nvSpPr>
        <p:spPr>
          <a:xfrm>
            <a:off x="558800" y="907143"/>
            <a:ext cx="7620750" cy="2031325"/>
          </a:xfrm>
          <a:prstGeom prst="rect">
            <a:avLst/>
          </a:prstGeom>
          <a:noFill/>
        </p:spPr>
        <p:txBody>
          <a:bodyPr wrap="square" rtlCol="0">
            <a:spAutoFit/>
          </a:bodyPr>
          <a:lstStyle/>
          <a:p>
            <a:r>
              <a:rPr lang="en-US" dirty="0" smtClean="0"/>
              <a:t>Since the features and complexity of texts in the datasets are different, the proper synonyms of each emotion should be selected according to each text.</a:t>
            </a:r>
          </a:p>
          <a:p>
            <a:endParaRPr lang="en-US" dirty="0" smtClean="0"/>
          </a:p>
          <a:p>
            <a:r>
              <a:rPr lang="en-US" dirty="0" smtClean="0"/>
              <a:t>So, another </a:t>
            </a:r>
            <a:r>
              <a:rPr lang="en-US" dirty="0"/>
              <a:t>idea to use synonyms can be selecting the 2 synonyms (prompt of synonym) of each emotion  that have highest entailment probabilities with the text and getting their </a:t>
            </a:r>
            <a:r>
              <a:rPr lang="en-US" dirty="0" smtClean="0"/>
              <a:t>average of them </a:t>
            </a:r>
            <a:r>
              <a:rPr lang="en-US" dirty="0"/>
              <a:t>as the entailment probability of the emotion and selecting the emotion that has highest average of entailment probabilities as the predicted emotion (</a:t>
            </a:r>
            <a:r>
              <a:rPr lang="en-US" dirty="0" err="1"/>
              <a:t>Isear</a:t>
            </a:r>
            <a:r>
              <a:rPr lang="en-US" dirty="0"/>
              <a:t> dataset: Macro average F1:0.62, Tec dataset: Macro average F1: 0.36)</a:t>
            </a:r>
          </a:p>
          <a:p>
            <a:endParaRPr lang="en-US" dirty="0"/>
          </a:p>
        </p:txBody>
      </p:sp>
    </p:spTree>
    <p:extLst>
      <p:ext uri="{BB962C8B-B14F-4D97-AF65-F5344CB8AC3E}">
        <p14:creationId xmlns:p14="http://schemas.microsoft.com/office/powerpoint/2010/main" val="12731623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buNone/>
            </a:pPr>
            <a:r>
              <a:rPr lang="en-US" b="1" dirty="0"/>
              <a:t>Another idea to us synonyms of emotions</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altLang="ja" smtClean="0"/>
              <a:t>15</a:t>
            </a:fld>
            <a:endParaRPr lang="ja" altLang="en-US"/>
          </a:p>
        </p:txBody>
      </p:sp>
      <p:sp>
        <p:nvSpPr>
          <p:cNvPr id="5" name="TextBox 4"/>
          <p:cNvSpPr txBox="1"/>
          <p:nvPr/>
        </p:nvSpPr>
        <p:spPr>
          <a:xfrm>
            <a:off x="311700" y="878114"/>
            <a:ext cx="8099329" cy="1815882"/>
          </a:xfrm>
          <a:prstGeom prst="rect">
            <a:avLst/>
          </a:prstGeom>
          <a:noFill/>
        </p:spPr>
        <p:txBody>
          <a:bodyPr wrap="square" rtlCol="0">
            <a:spAutoFit/>
          </a:bodyPr>
          <a:lstStyle/>
          <a:p>
            <a:r>
              <a:rPr lang="en-US" dirty="0"/>
              <a:t>Combining the results of using all of the synonyms and the result of using 2 synonyms with highest entailment probability can have little improvement for first dataset</a:t>
            </a:r>
            <a:r>
              <a:rPr lang="en-US" dirty="0" smtClean="0"/>
              <a:t>. (getting average of entailment probabilities of each emotion for each text in two results as the entailment probability of the emotion) </a:t>
            </a:r>
            <a:endParaRPr lang="en-US" dirty="0"/>
          </a:p>
          <a:p>
            <a:endParaRPr lang="en-US" dirty="0"/>
          </a:p>
          <a:p>
            <a:pPr>
              <a:lnSpc>
                <a:spcPct val="150000"/>
              </a:lnSpc>
            </a:pPr>
            <a:r>
              <a:rPr lang="en-US" dirty="0" err="1"/>
              <a:t>Isear</a:t>
            </a:r>
            <a:r>
              <a:rPr lang="en-US" dirty="0"/>
              <a:t> dataset: Macro average F1:0.64</a:t>
            </a:r>
          </a:p>
          <a:p>
            <a:pPr>
              <a:lnSpc>
                <a:spcPct val="150000"/>
              </a:lnSpc>
            </a:pPr>
            <a:r>
              <a:rPr lang="en-US" dirty="0"/>
              <a:t>Tec dataset: Macro average F1: 0.37</a:t>
            </a:r>
          </a:p>
          <a:p>
            <a:endParaRPr lang="en-US" dirty="0"/>
          </a:p>
        </p:txBody>
      </p:sp>
    </p:spTree>
    <p:extLst>
      <p:ext uri="{BB962C8B-B14F-4D97-AF65-F5344CB8AC3E}">
        <p14:creationId xmlns:p14="http://schemas.microsoft.com/office/powerpoint/2010/main" val="1982261137"/>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156114</TotalTime>
  <Words>1081</Words>
  <Application>Microsoft Office PowerPoint</Application>
  <PresentationFormat>On-screen Show (16:9)</PresentationFormat>
  <Paragraphs>292</Paragraphs>
  <Slides>15</Slides>
  <Notes>8</Notes>
  <HiddenSlides>0</HiddenSlides>
  <MMClips>0</MMClips>
  <ScaleCrop>false</ScaleCrop>
  <HeadingPairs>
    <vt:vector size="6" baseType="variant">
      <vt:variant>
        <vt:lpstr>Fonts Used</vt:lpstr>
      </vt:variant>
      <vt:variant>
        <vt:i4>1</vt:i4>
      </vt:variant>
      <vt:variant>
        <vt:lpstr>Theme</vt:lpstr>
      </vt:variant>
      <vt:variant>
        <vt:i4>2</vt:i4>
      </vt:variant>
      <vt:variant>
        <vt:lpstr>Slide Titles</vt:lpstr>
      </vt:variant>
      <vt:variant>
        <vt:i4>15</vt:i4>
      </vt:variant>
    </vt:vector>
  </HeadingPairs>
  <TitlesOfParts>
    <vt:vector size="18" baseType="lpstr">
      <vt:lpstr>Arial</vt:lpstr>
      <vt:lpstr>Simple Light</vt:lpstr>
      <vt:lpstr>Simple Light</vt:lpstr>
      <vt:lpstr>Zero shot emotion classification in text (analyzing the results of using synonyms of emotions and other ideas) </vt:lpstr>
      <vt:lpstr>Using synonyms of emotions (review)</vt:lpstr>
      <vt:lpstr>Using synonyms of emotions (review) </vt:lpstr>
      <vt:lpstr>PowerPoint Presentation</vt:lpstr>
      <vt:lpstr>average of entailment probabilities for each synonym of the true emotion</vt:lpstr>
      <vt:lpstr>average of entailment probabilities for each synonym of the true emotion</vt:lpstr>
      <vt:lpstr>average of entailment probabilities for each synonym of the emotion</vt:lpstr>
      <vt:lpstr>average of entailment probabilities for each synonym of the emotion</vt:lpstr>
      <vt:lpstr>average of entailment probabilities for each synonym of the true emotion</vt:lpstr>
      <vt:lpstr>average of entailment probabilities for each synonym of the true emotion</vt:lpstr>
      <vt:lpstr>average of entailment probabilities for each synonym of the true emotion</vt:lpstr>
      <vt:lpstr>Comparing the average of entailment probabilities of synonyms</vt:lpstr>
      <vt:lpstr>Some of findings</vt:lpstr>
      <vt:lpstr>Another idea to us synonyms of emotions </vt:lpstr>
      <vt:lpstr>Another idea to us synonyms of emotions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zero shot emotion classification in text (using prompt)</dc:title>
  <cp:lastModifiedBy>tabejamaat</cp:lastModifiedBy>
  <cp:revision>1517</cp:revision>
  <dcterms:modified xsi:type="dcterms:W3CDTF">2025-12-21T04:49:20Z</dcterms:modified>
</cp:coreProperties>
</file>