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3" r:id="rId1"/>
    <p:sldMasterId id="2147483654" r:id="rId2"/>
  </p:sldMasterIdLst>
  <p:notesMasterIdLst>
    <p:notesMasterId r:id="rId23"/>
  </p:notesMasterIdLst>
  <p:sldIdLst>
    <p:sldId id="256" r:id="rId3"/>
    <p:sldId id="321" r:id="rId4"/>
    <p:sldId id="331" r:id="rId5"/>
    <p:sldId id="333" r:id="rId6"/>
    <p:sldId id="324" r:id="rId7"/>
    <p:sldId id="325" r:id="rId8"/>
    <p:sldId id="322" r:id="rId9"/>
    <p:sldId id="334" r:id="rId10"/>
    <p:sldId id="335" r:id="rId11"/>
    <p:sldId id="336" r:id="rId12"/>
    <p:sldId id="338" r:id="rId13"/>
    <p:sldId id="344" r:id="rId14"/>
    <p:sldId id="337" r:id="rId15"/>
    <p:sldId id="343" r:id="rId16"/>
    <p:sldId id="339" r:id="rId17"/>
    <p:sldId id="340" r:id="rId18"/>
    <p:sldId id="345" r:id="rId19"/>
    <p:sldId id="346" r:id="rId20"/>
    <p:sldId id="341" r:id="rId21"/>
    <p:sldId id="342"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254"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dc1d83022f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2dc1d83022f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3858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5137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93727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21292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p:cSld name="CUSTOM">
    <p:spTree>
      <p:nvGrpSpPr>
        <p:cNvPr id="1" name="Shape 12"/>
        <p:cNvGrpSpPr/>
        <p:nvPr/>
      </p:nvGrpSpPr>
      <p:grpSpPr>
        <a:xfrm>
          <a:off x="0" y="0"/>
          <a:ext cx="0" cy="0"/>
          <a:chOff x="0" y="0"/>
          <a:chExt cx="0" cy="0"/>
        </a:xfrm>
      </p:grpSpPr>
      <p:sp>
        <p:nvSpPr>
          <p:cNvPr id="13" name="Google Shape;13;p2"/>
          <p:cNvSpPr txBox="1">
            <a:spLocks noGrp="1"/>
          </p:cNvSpPr>
          <p:nvPr>
            <p:ph type="sldNum" idx="12"/>
          </p:nvPr>
        </p:nvSpPr>
        <p:spPr>
          <a:xfrm>
            <a:off x="8397284" y="48166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6" name="Google Shape;16;p3"/>
          <p:cNvSpPr txBox="1">
            <a:spLocks noGrp="1"/>
          </p:cNvSpPr>
          <p:nvPr>
            <p:ph type="body" idx="1"/>
          </p:nvPr>
        </p:nvSpPr>
        <p:spPr>
          <a:xfrm>
            <a:off x="311700" y="738975"/>
            <a:ext cx="8520600" cy="3938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 name="Google Shape;17;p3"/>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4"/>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
        <p:nvSpPr>
          <p:cNvPr id="20" name="Google Shape;20;p4"/>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21" name="Google Shape;21;p4"/>
          <p:cNvSpPr txBox="1">
            <a:spLocks noGrp="1"/>
          </p:cNvSpPr>
          <p:nvPr>
            <p:ph type="body" idx="1"/>
          </p:nvPr>
        </p:nvSpPr>
        <p:spPr>
          <a:xfrm>
            <a:off x="311700" y="738975"/>
            <a:ext cx="8520600" cy="3938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4"/>
        <p:cNvGrpSpPr/>
        <p:nvPr/>
      </p:nvGrpSpPr>
      <p:grpSpPr>
        <a:xfrm>
          <a:off x="0" y="0"/>
          <a:ext cx="0" cy="0"/>
          <a:chOff x="0" y="0"/>
          <a:chExt cx="0" cy="0"/>
        </a:xfrm>
      </p:grpSpPr>
      <p:sp>
        <p:nvSpPr>
          <p:cNvPr id="35" name="Google Shape;35;p6"/>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ja"/>
              <a:t>‹#›</a:t>
            </a:fld>
            <a:endParaRPr/>
          </a:p>
        </p:txBody>
      </p:sp>
      <p:sp>
        <p:nvSpPr>
          <p:cNvPr id="36" name="Google Shape;36;p6"/>
          <p:cNvSpPr txBox="1">
            <a:spLocks noGrp="1"/>
          </p:cNvSpPr>
          <p:nvPr>
            <p:ph type="title"/>
          </p:nvPr>
        </p:nvSpPr>
        <p:spPr>
          <a:xfrm>
            <a:off x="2190300" y="850600"/>
            <a:ext cx="6315900" cy="129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100"/>
              <a:buNone/>
              <a:defRPr sz="3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1047300" y="2675200"/>
            <a:ext cx="7049400" cy="1485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7" name="Google Shape;7;p1"/>
          <p:cNvSpPr/>
          <p:nvPr/>
        </p:nvSpPr>
        <p:spPr>
          <a:xfrm>
            <a:off x="-75" y="0"/>
            <a:ext cx="9144000" cy="538500"/>
          </a:xfrm>
          <a:prstGeom prst="rect">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8;p1"/>
          <p:cNvSpPr/>
          <p:nvPr/>
        </p:nvSpPr>
        <p:spPr>
          <a:xfrm>
            <a:off x="50" y="4883400"/>
            <a:ext cx="9144000" cy="260100"/>
          </a:xfrm>
          <a:prstGeom prst="rect">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9;p1"/>
          <p:cNvSpPr/>
          <p:nvPr/>
        </p:nvSpPr>
        <p:spPr>
          <a:xfrm>
            <a:off x="-75" y="4892700"/>
            <a:ext cx="1197600" cy="241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solidFill>
                  <a:schemeClr val="lt1"/>
                </a:solidFill>
              </a:rPr>
              <a:t>有次研@2024</a:t>
            </a:r>
            <a:endParaRPr sz="1200">
              <a:solidFill>
                <a:schemeClr val="lt1"/>
              </a:solidFill>
            </a:endParaRPr>
          </a:p>
        </p:txBody>
      </p:sp>
      <p:sp>
        <p:nvSpPr>
          <p:cNvPr id="10" name="Google Shape;10;p1"/>
          <p:cNvSpPr txBox="1">
            <a:spLocks noGrp="1"/>
          </p:cNvSpPr>
          <p:nvPr>
            <p:ph type="sldNum" idx="12"/>
          </p:nvPr>
        </p:nvSpPr>
        <p:spPr>
          <a:xfrm>
            <a:off x="8397284" y="48166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lt1"/>
                </a:solidFill>
              </a:defRPr>
            </a:lvl1pPr>
            <a:lvl2pPr lvl="1" algn="r">
              <a:buNone/>
              <a:defRPr sz="1300">
                <a:solidFill>
                  <a:schemeClr val="lt1"/>
                </a:solidFill>
              </a:defRPr>
            </a:lvl2pPr>
            <a:lvl3pPr lvl="2" algn="r">
              <a:buNone/>
              <a:defRPr sz="1300">
                <a:solidFill>
                  <a:schemeClr val="lt1"/>
                </a:solidFill>
              </a:defRPr>
            </a:lvl3pPr>
            <a:lvl4pPr lvl="3" algn="r">
              <a:buNone/>
              <a:defRPr sz="1300">
                <a:solidFill>
                  <a:schemeClr val="lt1"/>
                </a:solidFill>
              </a:defRPr>
            </a:lvl4pPr>
            <a:lvl5pPr lvl="4" algn="r">
              <a:buNone/>
              <a:defRPr sz="1300">
                <a:solidFill>
                  <a:schemeClr val="lt1"/>
                </a:solidFill>
              </a:defRPr>
            </a:lvl5pPr>
            <a:lvl6pPr lvl="5" algn="r">
              <a:buNone/>
              <a:defRPr sz="1300">
                <a:solidFill>
                  <a:schemeClr val="lt1"/>
                </a:solidFill>
              </a:defRPr>
            </a:lvl6pPr>
            <a:lvl7pPr lvl="6" algn="r">
              <a:buNone/>
              <a:defRPr sz="1300">
                <a:solidFill>
                  <a:schemeClr val="lt1"/>
                </a:solidFill>
              </a:defRPr>
            </a:lvl7pPr>
            <a:lvl8pPr lvl="7" algn="r">
              <a:buNone/>
              <a:defRPr sz="1300">
                <a:solidFill>
                  <a:schemeClr val="lt1"/>
                </a:solidFill>
              </a:defRPr>
            </a:lvl8pPr>
            <a:lvl9pPr lvl="8" algn="r">
              <a:buNone/>
              <a:defRPr sz="1300">
                <a:solidFill>
                  <a:schemeClr val="lt1"/>
                </a:solidFill>
              </a:defRPr>
            </a:lvl9pPr>
          </a:lstStyle>
          <a:p>
            <a:pPr marL="0" lvl="0" indent="0" algn="r" rtl="0">
              <a:spcBef>
                <a:spcPts val="0"/>
              </a:spcBef>
              <a:spcAft>
                <a:spcPts val="0"/>
              </a:spcAft>
              <a:buNone/>
            </a:pPr>
            <a:fld id="{00000000-1234-1234-1234-123412341234}" type="slidenum">
              <a:rPr lang="ja"/>
              <a:t>‹#›</a:t>
            </a:fld>
            <a:endParaRPr/>
          </a:p>
        </p:txBody>
      </p:sp>
      <p:pic>
        <p:nvPicPr>
          <p:cNvPr id="11" name="Google Shape;11;p1"/>
          <p:cNvPicPr preferRelativeResize="0"/>
          <p:nvPr/>
        </p:nvPicPr>
        <p:blipFill rotWithShape="1">
          <a:blip r:embed="rId5">
            <a:alphaModFix/>
          </a:blip>
          <a:srcRect t="3484" r="2865"/>
          <a:stretch/>
        </p:blipFill>
        <p:spPr>
          <a:xfrm>
            <a:off x="50" y="0"/>
            <a:ext cx="541957" cy="5384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2"/>
        <p:cNvGrpSpPr/>
        <p:nvPr/>
      </p:nvGrpSpPr>
      <p:grpSpPr>
        <a:xfrm>
          <a:off x="0" y="0"/>
          <a:ext cx="0" cy="0"/>
          <a:chOff x="0" y="0"/>
          <a:chExt cx="0" cy="0"/>
        </a:xfrm>
      </p:grpSpPr>
      <p:sp>
        <p:nvSpPr>
          <p:cNvPr id="23" name="Google Shape;23;p5"/>
          <p:cNvSpPr/>
          <p:nvPr/>
        </p:nvSpPr>
        <p:spPr>
          <a:xfrm>
            <a:off x="0" y="578125"/>
            <a:ext cx="9144000" cy="1739700"/>
          </a:xfrm>
          <a:prstGeom prst="rect">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 name="Google Shape;24;p5"/>
          <p:cNvSpPr/>
          <p:nvPr/>
        </p:nvSpPr>
        <p:spPr>
          <a:xfrm>
            <a:off x="50" y="4883400"/>
            <a:ext cx="9144000" cy="260100"/>
          </a:xfrm>
          <a:prstGeom prst="rect">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 name="Google Shape;25;p5"/>
          <p:cNvSpPr txBox="1">
            <a:spLocks noGrp="1"/>
          </p:cNvSpPr>
          <p:nvPr>
            <p:ph type="sldNum" idx="12"/>
          </p:nvPr>
        </p:nvSpPr>
        <p:spPr>
          <a:xfrm>
            <a:off x="8179550" y="4843650"/>
            <a:ext cx="964500" cy="339600"/>
          </a:xfrm>
          <a:prstGeom prst="rect">
            <a:avLst/>
          </a:prstGeom>
          <a:noFill/>
          <a:ln>
            <a:noFill/>
          </a:ln>
        </p:spPr>
        <p:txBody>
          <a:bodyPr spcFirstLastPara="1" wrap="square" lIns="91425" tIns="91425" rIns="91425" bIns="91425" anchor="ctr" anchorCtr="0">
            <a:noAutofit/>
          </a:bodyPr>
          <a:lstStyle>
            <a:lvl1pPr lvl="0" algn="ctr" rtl="0">
              <a:lnSpc>
                <a:spcPct val="90000"/>
              </a:lnSpc>
              <a:buNone/>
              <a:defRPr>
                <a:solidFill>
                  <a:schemeClr val="lt1"/>
                </a:solidFill>
              </a:defRPr>
            </a:lvl1pPr>
            <a:lvl2pPr lvl="1" algn="ctr" rtl="0">
              <a:lnSpc>
                <a:spcPct val="90000"/>
              </a:lnSpc>
              <a:buNone/>
              <a:defRPr>
                <a:solidFill>
                  <a:schemeClr val="lt1"/>
                </a:solidFill>
              </a:defRPr>
            </a:lvl2pPr>
            <a:lvl3pPr lvl="2" algn="ctr" rtl="0">
              <a:lnSpc>
                <a:spcPct val="90000"/>
              </a:lnSpc>
              <a:buNone/>
              <a:defRPr>
                <a:solidFill>
                  <a:schemeClr val="lt1"/>
                </a:solidFill>
              </a:defRPr>
            </a:lvl3pPr>
            <a:lvl4pPr lvl="3" algn="ctr" rtl="0">
              <a:lnSpc>
                <a:spcPct val="90000"/>
              </a:lnSpc>
              <a:buNone/>
              <a:defRPr>
                <a:solidFill>
                  <a:schemeClr val="lt1"/>
                </a:solidFill>
              </a:defRPr>
            </a:lvl4pPr>
            <a:lvl5pPr lvl="4" algn="ctr" rtl="0">
              <a:lnSpc>
                <a:spcPct val="90000"/>
              </a:lnSpc>
              <a:buNone/>
              <a:defRPr>
                <a:solidFill>
                  <a:schemeClr val="lt1"/>
                </a:solidFill>
              </a:defRPr>
            </a:lvl5pPr>
            <a:lvl6pPr lvl="5" algn="ctr" rtl="0">
              <a:lnSpc>
                <a:spcPct val="90000"/>
              </a:lnSpc>
              <a:buNone/>
              <a:defRPr>
                <a:solidFill>
                  <a:schemeClr val="lt1"/>
                </a:solidFill>
              </a:defRPr>
            </a:lvl6pPr>
            <a:lvl7pPr lvl="6" algn="ctr" rtl="0">
              <a:lnSpc>
                <a:spcPct val="90000"/>
              </a:lnSpc>
              <a:buNone/>
              <a:defRPr>
                <a:solidFill>
                  <a:schemeClr val="lt1"/>
                </a:solidFill>
              </a:defRPr>
            </a:lvl7pPr>
            <a:lvl8pPr lvl="7" algn="ctr" rtl="0">
              <a:lnSpc>
                <a:spcPct val="90000"/>
              </a:lnSpc>
              <a:buNone/>
              <a:defRPr>
                <a:solidFill>
                  <a:schemeClr val="lt1"/>
                </a:solidFill>
              </a:defRPr>
            </a:lvl8pPr>
            <a:lvl9pPr lvl="8" algn="ctr" rtl="0">
              <a:lnSpc>
                <a:spcPct val="90000"/>
              </a:lnSpc>
              <a:buNone/>
              <a:defRPr>
                <a:solidFill>
                  <a:schemeClr val="lt1"/>
                </a:solidFill>
              </a:defRPr>
            </a:lvl9pPr>
          </a:lstStyle>
          <a:p>
            <a:pPr marL="0" lvl="0" indent="0" algn="ctr" rtl="0">
              <a:spcBef>
                <a:spcPts val="0"/>
              </a:spcBef>
              <a:spcAft>
                <a:spcPts val="0"/>
              </a:spcAft>
              <a:buNone/>
            </a:pPr>
            <a:r>
              <a:rPr lang="ja"/>
              <a:t>page. </a:t>
            </a:r>
            <a:fld id="{00000000-1234-1234-1234-123412341234}" type="slidenum">
              <a:rPr lang="ja"/>
              <a:t>‹#›</a:t>
            </a:fld>
            <a:endParaRPr/>
          </a:p>
        </p:txBody>
      </p:sp>
      <p:sp>
        <p:nvSpPr>
          <p:cNvPr id="26" name="Google Shape;26;p5"/>
          <p:cNvSpPr/>
          <p:nvPr/>
        </p:nvSpPr>
        <p:spPr>
          <a:xfrm>
            <a:off x="-75" y="4892700"/>
            <a:ext cx="1197600" cy="241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solidFill>
                  <a:schemeClr val="lt1"/>
                </a:solidFill>
              </a:rPr>
              <a:t>有次研@2024</a:t>
            </a:r>
            <a:endParaRPr sz="1200">
              <a:solidFill>
                <a:schemeClr val="lt1"/>
              </a:solidFill>
            </a:endParaRPr>
          </a:p>
        </p:txBody>
      </p:sp>
      <p:pic>
        <p:nvPicPr>
          <p:cNvPr id="27" name="Google Shape;27;p5"/>
          <p:cNvPicPr preferRelativeResize="0"/>
          <p:nvPr/>
        </p:nvPicPr>
        <p:blipFill rotWithShape="1">
          <a:blip r:embed="rId3">
            <a:alphaModFix/>
          </a:blip>
          <a:srcRect/>
          <a:stretch/>
        </p:blipFill>
        <p:spPr>
          <a:xfrm>
            <a:off x="40" y="4517909"/>
            <a:ext cx="2130970" cy="278496"/>
          </a:xfrm>
          <a:prstGeom prst="rect">
            <a:avLst/>
          </a:prstGeom>
          <a:noFill/>
          <a:ln>
            <a:noFill/>
          </a:ln>
        </p:spPr>
      </p:pic>
      <p:sp>
        <p:nvSpPr>
          <p:cNvPr id="28" name="Google Shape;28;p5"/>
          <p:cNvSpPr/>
          <p:nvPr/>
        </p:nvSpPr>
        <p:spPr>
          <a:xfrm>
            <a:off x="0" y="4796388"/>
            <a:ext cx="3102246" cy="47250"/>
          </a:xfrm>
          <a:custGeom>
            <a:avLst/>
            <a:gdLst/>
            <a:ahLst/>
            <a:cxnLst/>
            <a:rect l="l" t="t" r="r" b="b"/>
            <a:pathLst>
              <a:path w="21600" h="21600" extrusionOk="0">
                <a:moveTo>
                  <a:pt x="0" y="0"/>
                </a:moveTo>
                <a:lnTo>
                  <a:pt x="21600" y="0"/>
                </a:lnTo>
                <a:lnTo>
                  <a:pt x="21600" y="21600"/>
                </a:lnTo>
                <a:lnTo>
                  <a:pt x="0" y="21600"/>
                </a:lnTo>
                <a:close/>
              </a:path>
            </a:pathLst>
          </a:custGeom>
          <a:gradFill>
            <a:gsLst>
              <a:gs pos="0">
                <a:srgbClr val="000000"/>
              </a:gs>
              <a:gs pos="100000">
                <a:srgbClr val="FFFFFF"/>
              </a:gs>
            </a:gsLst>
            <a:lin ang="0" scaled="0"/>
          </a:gradFill>
          <a:ln>
            <a:noFill/>
          </a:ln>
        </p:spPr>
      </p:sp>
      <p:sp>
        <p:nvSpPr>
          <p:cNvPr id="29" name="Google Shape;29;p5"/>
          <p:cNvSpPr txBox="1"/>
          <p:nvPr/>
        </p:nvSpPr>
        <p:spPr>
          <a:xfrm>
            <a:off x="1828800" y="789600"/>
            <a:ext cx="7049400" cy="14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 name="Google Shape;30;p5"/>
          <p:cNvSpPr txBox="1"/>
          <p:nvPr/>
        </p:nvSpPr>
        <p:spPr>
          <a:xfrm>
            <a:off x="170050" y="3732025"/>
            <a:ext cx="2932200" cy="82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 name="Google Shape;31;p5"/>
          <p:cNvSpPr txBox="1">
            <a:spLocks noGrp="1"/>
          </p:cNvSpPr>
          <p:nvPr>
            <p:ph type="title"/>
          </p:nvPr>
        </p:nvSpPr>
        <p:spPr>
          <a:xfrm>
            <a:off x="2190300" y="850600"/>
            <a:ext cx="6315900" cy="129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100"/>
              <a:buNone/>
              <a:defRPr sz="3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1047350" y="2675200"/>
            <a:ext cx="7049400" cy="14853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33" name="Google Shape;33;p5"/>
          <p:cNvPicPr preferRelativeResize="0"/>
          <p:nvPr/>
        </p:nvPicPr>
        <p:blipFill rotWithShape="1">
          <a:blip r:embed="rId4">
            <a:alphaModFix/>
          </a:blip>
          <a:srcRect t="3484" r="2865"/>
          <a:stretch/>
        </p:blipFill>
        <p:spPr>
          <a:xfrm>
            <a:off x="50" y="578125"/>
            <a:ext cx="1750879" cy="17397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1461654" y="1003000"/>
            <a:ext cx="7682346" cy="929710"/>
          </a:xfrm>
          <a:prstGeom prst="rect">
            <a:avLst/>
          </a:prstGeom>
        </p:spPr>
        <p:txBody>
          <a:bodyPr spcFirstLastPara="1" wrap="square" lIns="91425" tIns="91425" rIns="91425" bIns="91425" anchor="ctr" anchorCtr="0">
            <a:noAutofit/>
          </a:bodyPr>
          <a:lstStyle/>
          <a:p>
            <a:pPr lvl="0">
              <a:lnSpc>
                <a:spcPct val="115000"/>
              </a:lnSpc>
            </a:pPr>
            <a:r>
              <a:rPr lang="en-US" sz="2000" b="1" spc="-5" dirty="0"/>
              <a:t>Z</a:t>
            </a:r>
            <a:r>
              <a:rPr lang="en-US" sz="2000" b="1" spc="-5" dirty="0" smtClean="0"/>
              <a:t>ero </a:t>
            </a:r>
            <a:r>
              <a:rPr lang="en-US" sz="2000" b="1" spc="-5" dirty="0"/>
              <a:t>shot emotion classification in </a:t>
            </a:r>
            <a:r>
              <a:rPr lang="en-US" sz="2000" b="1" spc="-5" dirty="0" smtClean="0"/>
              <a:t>text (analyzing the results of using synonyms of emotions)</a:t>
            </a:r>
            <a:r>
              <a:rPr lang="en-US" sz="2400" b="1" spc="-5" dirty="0" smtClean="0"/>
              <a:t/>
            </a:r>
            <a:br>
              <a:rPr lang="en-US" sz="2400" b="1" spc="-5" dirty="0" smtClean="0"/>
            </a:br>
            <a:endParaRPr sz="2400" b="1" dirty="0">
              <a:solidFill>
                <a:schemeClr val="dk1"/>
              </a:solidFill>
            </a:endParaRPr>
          </a:p>
        </p:txBody>
      </p:sp>
      <p:sp>
        <p:nvSpPr>
          <p:cNvPr id="46" name="Google Shape;46;p8"/>
          <p:cNvSpPr txBox="1">
            <a:spLocks noGrp="1"/>
          </p:cNvSpPr>
          <p:nvPr>
            <p:ph type="sldNum" idx="12"/>
          </p:nvPr>
        </p:nvSpPr>
        <p:spPr>
          <a:xfrm>
            <a:off x="8634984" y="4827126"/>
            <a:ext cx="5487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US" altLang="ja"/>
              <a:t>1</a:t>
            </a:fld>
            <a:endParaRPr dirty="0"/>
          </a:p>
        </p:txBody>
      </p:sp>
      <p:sp>
        <p:nvSpPr>
          <p:cNvPr id="2" name="Rectangle 1"/>
          <p:cNvSpPr/>
          <p:nvPr/>
        </p:nvSpPr>
        <p:spPr>
          <a:xfrm>
            <a:off x="221673" y="3636363"/>
            <a:ext cx="4572000" cy="738664"/>
          </a:xfrm>
          <a:prstGeom prst="rect">
            <a:avLst/>
          </a:prstGeom>
        </p:spPr>
        <p:txBody>
          <a:bodyPr>
            <a:spAutoFit/>
          </a:bodyPr>
          <a:lstStyle/>
          <a:p>
            <a:pPr>
              <a:lnSpc>
                <a:spcPct val="150000"/>
              </a:lnSpc>
            </a:pPr>
            <a:r>
              <a:rPr lang="en-US" dirty="0"/>
              <a:t>Gita </a:t>
            </a:r>
            <a:r>
              <a:rPr lang="en-US" dirty="0" err="1"/>
              <a:t>Tabe</a:t>
            </a:r>
            <a:r>
              <a:rPr lang="en-US" dirty="0"/>
              <a:t> </a:t>
            </a:r>
            <a:r>
              <a:rPr lang="en-US" dirty="0" err="1"/>
              <a:t>Jamaat</a:t>
            </a:r>
            <a:endParaRPr lang="en-US" dirty="0"/>
          </a:p>
          <a:p>
            <a:pPr>
              <a:lnSpc>
                <a:spcPct val="150000"/>
              </a:lnSpc>
            </a:pPr>
            <a:r>
              <a:rPr lang="en-US" dirty="0"/>
              <a:t>Student ID: 237-D8905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smtClean="0"/>
              <a:t>Using synonyms of emotions (review)</a:t>
            </a:r>
            <a:endParaRPr lang="en-US" sz="16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a:t>
            </a:fld>
            <a:endParaRPr lang="ja" altLang="en-US"/>
          </a:p>
        </p:txBody>
      </p:sp>
      <p:sp>
        <p:nvSpPr>
          <p:cNvPr id="3" name="TextBox 2"/>
          <p:cNvSpPr txBox="1"/>
          <p:nvPr/>
        </p:nvSpPr>
        <p:spPr>
          <a:xfrm>
            <a:off x="486229" y="740229"/>
            <a:ext cx="7794171" cy="523220"/>
          </a:xfrm>
          <a:prstGeom prst="rect">
            <a:avLst/>
          </a:prstGeom>
          <a:noFill/>
        </p:spPr>
        <p:txBody>
          <a:bodyPr wrap="square" rtlCol="0">
            <a:spAutoFit/>
          </a:bodyPr>
          <a:lstStyle/>
          <a:p>
            <a:r>
              <a:rPr lang="en-US" dirty="0" smtClean="0"/>
              <a:t>I checked the </a:t>
            </a:r>
            <a:r>
              <a:rPr lang="en-US" dirty="0"/>
              <a:t>entailment probabilities </a:t>
            </a:r>
            <a:r>
              <a:rPr lang="en-US" dirty="0" smtClean="0"/>
              <a:t>between synonyms of emotions and text using </a:t>
            </a:r>
            <a:r>
              <a:rPr lang="en-US" dirty="0" err="1" smtClean="0"/>
              <a:t>Deberta</a:t>
            </a:r>
            <a:r>
              <a:rPr lang="en-US" dirty="0" smtClean="0"/>
              <a:t> model.</a:t>
            </a:r>
            <a:endParaRPr lang="en-US" dirty="0"/>
          </a:p>
        </p:txBody>
      </p:sp>
      <p:sp>
        <p:nvSpPr>
          <p:cNvPr id="11" name="TextBox 10"/>
          <p:cNvSpPr txBox="1"/>
          <p:nvPr/>
        </p:nvSpPr>
        <p:spPr>
          <a:xfrm>
            <a:off x="486229" y="1431684"/>
            <a:ext cx="7712368" cy="954107"/>
          </a:xfrm>
          <a:prstGeom prst="rect">
            <a:avLst/>
          </a:prstGeom>
          <a:noFill/>
        </p:spPr>
        <p:txBody>
          <a:bodyPr wrap="none" rtlCol="0">
            <a:spAutoFit/>
          </a:bodyPr>
          <a:lstStyle/>
          <a:p>
            <a:endParaRPr lang="en-US" dirty="0" smtClean="0"/>
          </a:p>
          <a:p>
            <a:r>
              <a:rPr lang="en-US" dirty="0" smtClean="0"/>
              <a:t>One idea to use synonyms can be measuring the average of </a:t>
            </a:r>
            <a:r>
              <a:rPr lang="en-US" dirty="0"/>
              <a:t>entailment probabilities </a:t>
            </a:r>
            <a:r>
              <a:rPr lang="en-US" dirty="0" smtClean="0"/>
              <a:t>between </a:t>
            </a:r>
          </a:p>
          <a:p>
            <a:r>
              <a:rPr lang="en-US" dirty="0" smtClean="0"/>
              <a:t>synonyms of the emotion (Or the prompts of synonyms) and the text and selecting the emotion </a:t>
            </a:r>
          </a:p>
          <a:p>
            <a:r>
              <a:rPr lang="en-US" dirty="0" smtClean="0"/>
              <a:t>that has highest average of entailment probabilities as the predicted emotion</a:t>
            </a:r>
            <a:endParaRPr lang="en-US" dirty="0"/>
          </a:p>
        </p:txBody>
      </p:sp>
      <p:sp>
        <p:nvSpPr>
          <p:cNvPr id="7" name="Rectangle 6"/>
          <p:cNvSpPr/>
          <p:nvPr/>
        </p:nvSpPr>
        <p:spPr>
          <a:xfrm>
            <a:off x="486228" y="2740776"/>
            <a:ext cx="7932057" cy="954107"/>
          </a:xfrm>
          <a:prstGeom prst="rect">
            <a:avLst/>
          </a:prstGeom>
        </p:spPr>
        <p:txBody>
          <a:bodyPr wrap="square">
            <a:spAutoFit/>
          </a:bodyPr>
          <a:lstStyle/>
          <a:p>
            <a:r>
              <a:rPr lang="en-US" dirty="0"/>
              <a:t>Another idea can be considering a set of synonyms for each emotion and checking their entailment probabilities with the text and selecting the highest one as the entailment probability of the emotion with the text, then selecting the emotion that has highest entailment probability with the text as the predicted emotion. </a:t>
            </a:r>
          </a:p>
        </p:txBody>
      </p:sp>
    </p:spTree>
    <p:extLst>
      <p:ext uri="{BB962C8B-B14F-4D97-AF65-F5344CB8AC3E}">
        <p14:creationId xmlns:p14="http://schemas.microsoft.com/office/powerpoint/2010/main" val="36160028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a:t>Using synonyms of </a:t>
            </a:r>
            <a:r>
              <a:rPr lang="en-US" sz="1600" b="1" dirty="0" smtClean="0"/>
              <a:t>emotions (review) </a:t>
            </a:r>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641409917"/>
              </p:ext>
            </p:extLst>
          </p:nvPr>
        </p:nvGraphicFramePr>
        <p:xfrm>
          <a:off x="311700" y="754743"/>
          <a:ext cx="8456644" cy="4023360"/>
        </p:xfrm>
        <a:graphic>
          <a:graphicData uri="http://schemas.openxmlformats.org/drawingml/2006/table">
            <a:tbl>
              <a:tblPr firstRow="1" bandRow="1">
                <a:tableStyleId>{5C22544A-7EE6-4342-B048-85BDC9FD1C3A}</a:tableStyleId>
              </a:tblPr>
              <a:tblGrid>
                <a:gridCol w="4228322">
                  <a:extLst>
                    <a:ext uri="{9D8B030D-6E8A-4147-A177-3AD203B41FA5}">
                      <a16:colId xmlns:a16="http://schemas.microsoft.com/office/drawing/2014/main" val="1825852549"/>
                    </a:ext>
                  </a:extLst>
                </a:gridCol>
                <a:gridCol w="4228322">
                  <a:extLst>
                    <a:ext uri="{9D8B030D-6E8A-4147-A177-3AD203B41FA5}">
                      <a16:colId xmlns:a16="http://schemas.microsoft.com/office/drawing/2014/main" val="2023759085"/>
                    </a:ext>
                  </a:extLst>
                </a:gridCol>
              </a:tblGrid>
              <a:tr h="257535">
                <a:tc>
                  <a:txBody>
                    <a:bodyPr/>
                    <a:lstStyle/>
                    <a:p>
                      <a:r>
                        <a:rPr lang="en-US" dirty="0" smtClean="0"/>
                        <a:t>emotion</a:t>
                      </a:r>
                      <a:endParaRPr lang="en-US" dirty="0"/>
                    </a:p>
                  </a:txBody>
                  <a:tcPr/>
                </a:tc>
                <a:tc>
                  <a:txBody>
                    <a:bodyPr/>
                    <a:lstStyle/>
                    <a:p>
                      <a:r>
                        <a:rPr lang="en-US" dirty="0" smtClean="0"/>
                        <a:t>synonyms</a:t>
                      </a:r>
                      <a:endParaRPr lang="en-US" dirty="0"/>
                    </a:p>
                  </a:txBody>
                  <a:tcPr/>
                </a:tc>
                <a:extLst>
                  <a:ext uri="{0D108BD9-81ED-4DB2-BD59-A6C34878D82A}">
                    <a16:rowId xmlns:a16="http://schemas.microsoft.com/office/drawing/2014/main" val="1607590363"/>
                  </a:ext>
                </a:extLst>
              </a:tr>
              <a:tr h="437810">
                <a:tc>
                  <a:txBody>
                    <a:bodyPr/>
                    <a:lstStyle/>
                    <a:p>
                      <a:r>
                        <a:rPr lang="en-US" dirty="0" smtClean="0"/>
                        <a:t>sadness</a:t>
                      </a:r>
                      <a:endParaRPr lang="en-US" dirty="0"/>
                    </a:p>
                  </a:txBody>
                  <a:tcPr/>
                </a:tc>
                <a:tc>
                  <a:txBody>
                    <a:bodyPr/>
                    <a:lstStyle/>
                    <a:p>
                      <a:r>
                        <a:rPr lang="en-US" dirty="0" smtClean="0"/>
                        <a:t>sadness, unhappiness, grief, sorrow, loneliness, depression</a:t>
                      </a:r>
                      <a:endParaRPr lang="en-US" dirty="0"/>
                    </a:p>
                  </a:txBody>
                  <a:tcPr/>
                </a:tc>
                <a:extLst>
                  <a:ext uri="{0D108BD9-81ED-4DB2-BD59-A6C34878D82A}">
                    <a16:rowId xmlns:a16="http://schemas.microsoft.com/office/drawing/2014/main" val="808457880"/>
                  </a:ext>
                </a:extLst>
              </a:tr>
              <a:tr h="437810">
                <a:tc>
                  <a:txBody>
                    <a:bodyPr/>
                    <a:lstStyle/>
                    <a:p>
                      <a:r>
                        <a:rPr lang="en-US" dirty="0" smtClean="0"/>
                        <a:t>joy</a:t>
                      </a:r>
                      <a:endParaRPr lang="en-US" dirty="0"/>
                    </a:p>
                  </a:txBody>
                  <a:tcPr/>
                </a:tc>
                <a:tc>
                  <a:txBody>
                    <a:bodyPr/>
                    <a:lstStyle/>
                    <a:p>
                      <a:r>
                        <a:rPr lang="en-US" dirty="0" smtClean="0"/>
                        <a:t>joy, an achievement, pleasure, the awesome, happiness, the blessing</a:t>
                      </a:r>
                      <a:endParaRPr lang="en-US" dirty="0"/>
                    </a:p>
                  </a:txBody>
                  <a:tcPr/>
                </a:tc>
                <a:extLst>
                  <a:ext uri="{0D108BD9-81ED-4DB2-BD59-A6C34878D82A}">
                    <a16:rowId xmlns:a16="http://schemas.microsoft.com/office/drawing/2014/main" val="2740971849"/>
                  </a:ext>
                </a:extLst>
              </a:tr>
              <a:tr h="257535">
                <a:tc>
                  <a:txBody>
                    <a:bodyPr/>
                    <a:lstStyle/>
                    <a:p>
                      <a:r>
                        <a:rPr lang="en-US" dirty="0" smtClean="0"/>
                        <a:t>anger</a:t>
                      </a:r>
                      <a:endParaRPr lang="en-US" dirty="0"/>
                    </a:p>
                  </a:txBody>
                  <a:tcPr/>
                </a:tc>
                <a:tc>
                  <a:txBody>
                    <a:bodyPr/>
                    <a:lstStyle/>
                    <a:p>
                      <a:r>
                        <a:rPr lang="en-US" dirty="0" smtClean="0"/>
                        <a:t>anger, annoyance, rage, outrage, fury, irritation</a:t>
                      </a:r>
                      <a:endParaRPr lang="en-US" dirty="0"/>
                    </a:p>
                  </a:txBody>
                  <a:tcPr/>
                </a:tc>
                <a:extLst>
                  <a:ext uri="{0D108BD9-81ED-4DB2-BD59-A6C34878D82A}">
                    <a16:rowId xmlns:a16="http://schemas.microsoft.com/office/drawing/2014/main" val="1038599901"/>
                  </a:ext>
                </a:extLst>
              </a:tr>
              <a:tr h="437810">
                <a:tc>
                  <a:txBody>
                    <a:bodyPr/>
                    <a:lstStyle/>
                    <a:p>
                      <a:r>
                        <a:rPr lang="en-US" dirty="0" smtClean="0"/>
                        <a:t>disgust</a:t>
                      </a:r>
                      <a:endParaRPr lang="en-US" dirty="0"/>
                    </a:p>
                  </a:txBody>
                  <a:tcPr/>
                </a:tc>
                <a:tc>
                  <a:txBody>
                    <a:bodyPr/>
                    <a:lstStyle/>
                    <a:p>
                      <a:r>
                        <a:rPr lang="en-US" dirty="0" smtClean="0"/>
                        <a:t>disgust, loathing, bitterness, ugliness, repugnance, revulsion</a:t>
                      </a:r>
                      <a:endParaRPr lang="en-US" dirty="0"/>
                    </a:p>
                  </a:txBody>
                  <a:tcPr/>
                </a:tc>
                <a:extLst>
                  <a:ext uri="{0D108BD9-81ED-4DB2-BD59-A6C34878D82A}">
                    <a16:rowId xmlns:a16="http://schemas.microsoft.com/office/drawing/2014/main" val="2052755806"/>
                  </a:ext>
                </a:extLst>
              </a:tr>
              <a:tr h="257535">
                <a:tc>
                  <a:txBody>
                    <a:bodyPr/>
                    <a:lstStyle/>
                    <a:p>
                      <a:r>
                        <a:rPr lang="en-US" dirty="0" smtClean="0"/>
                        <a:t>fear</a:t>
                      </a:r>
                      <a:endParaRPr lang="en-US" dirty="0"/>
                    </a:p>
                  </a:txBody>
                  <a:tcPr/>
                </a:tc>
                <a:tc>
                  <a:txBody>
                    <a:bodyPr/>
                    <a:lstStyle/>
                    <a:p>
                      <a:r>
                        <a:rPr lang="en-US" dirty="0" smtClean="0"/>
                        <a:t>fear, horror, anxiety, terror, dread, scare</a:t>
                      </a:r>
                      <a:endParaRPr lang="en-US" dirty="0"/>
                    </a:p>
                  </a:txBody>
                  <a:tcPr/>
                </a:tc>
                <a:extLst>
                  <a:ext uri="{0D108BD9-81ED-4DB2-BD59-A6C34878D82A}">
                    <a16:rowId xmlns:a16="http://schemas.microsoft.com/office/drawing/2014/main" val="3532770206"/>
                  </a:ext>
                </a:extLst>
              </a:tr>
              <a:tr h="437810">
                <a:tc>
                  <a:txBody>
                    <a:bodyPr/>
                    <a:lstStyle/>
                    <a:p>
                      <a:r>
                        <a:rPr lang="en-US" dirty="0" smtClean="0"/>
                        <a:t>surprise</a:t>
                      </a:r>
                      <a:endParaRPr lang="en-US" dirty="0"/>
                    </a:p>
                  </a:txBody>
                  <a:tcPr/>
                </a:tc>
                <a:tc>
                  <a:txBody>
                    <a:bodyPr/>
                    <a:lstStyle/>
                    <a:p>
                      <a:r>
                        <a:rPr lang="en-US" dirty="0" smtClean="0"/>
                        <a:t>surprise, astonishment, amazement, impression, perplexity, shock</a:t>
                      </a:r>
                      <a:endParaRPr lang="en-US" dirty="0"/>
                    </a:p>
                  </a:txBody>
                  <a:tcPr/>
                </a:tc>
                <a:extLst>
                  <a:ext uri="{0D108BD9-81ED-4DB2-BD59-A6C34878D82A}">
                    <a16:rowId xmlns:a16="http://schemas.microsoft.com/office/drawing/2014/main" val="134064499"/>
                  </a:ext>
                </a:extLst>
              </a:tr>
              <a:tr h="437810">
                <a:tc>
                  <a:txBody>
                    <a:bodyPr/>
                    <a:lstStyle/>
                    <a:p>
                      <a:r>
                        <a:rPr lang="en-US" dirty="0" smtClean="0"/>
                        <a:t>shame</a:t>
                      </a:r>
                      <a:endParaRPr lang="en-US" dirty="0"/>
                    </a:p>
                  </a:txBody>
                  <a:tcPr/>
                </a:tc>
                <a:tc>
                  <a:txBody>
                    <a:bodyPr/>
                    <a:lstStyle/>
                    <a:p>
                      <a:r>
                        <a:rPr lang="en-US" dirty="0" smtClean="0"/>
                        <a:t>shame, humiliation, embarrassment, disgrace, dishonor, discredit</a:t>
                      </a:r>
                      <a:endParaRPr lang="en-US" dirty="0"/>
                    </a:p>
                  </a:txBody>
                  <a:tcPr/>
                </a:tc>
                <a:extLst>
                  <a:ext uri="{0D108BD9-81ED-4DB2-BD59-A6C34878D82A}">
                    <a16:rowId xmlns:a16="http://schemas.microsoft.com/office/drawing/2014/main" val="3187374583"/>
                  </a:ext>
                </a:extLst>
              </a:tr>
              <a:tr h="437810">
                <a:tc>
                  <a:txBody>
                    <a:bodyPr/>
                    <a:lstStyle/>
                    <a:p>
                      <a:r>
                        <a:rPr lang="en-US" dirty="0" smtClean="0"/>
                        <a:t>guilt</a:t>
                      </a:r>
                      <a:endParaRPr lang="en-US" dirty="0"/>
                    </a:p>
                  </a:txBody>
                  <a:tcPr/>
                </a:tc>
                <a:tc>
                  <a:txBody>
                    <a:bodyPr/>
                    <a:lstStyle/>
                    <a:p>
                      <a:r>
                        <a:rPr lang="en-US" dirty="0" smtClean="0"/>
                        <a:t>guilt, culpability, responsibility, blameworthy, misconduct, regret</a:t>
                      </a:r>
                      <a:endParaRPr lang="en-US" dirty="0"/>
                    </a:p>
                  </a:txBody>
                  <a:tcPr/>
                </a:tc>
                <a:extLst>
                  <a:ext uri="{0D108BD9-81ED-4DB2-BD59-A6C34878D82A}">
                    <a16:rowId xmlns:a16="http://schemas.microsoft.com/office/drawing/2014/main" val="65733916"/>
                  </a:ext>
                </a:extLst>
              </a:tr>
            </a:tbl>
          </a:graphicData>
        </a:graphic>
      </p:graphicFrame>
    </p:spTree>
    <p:extLst>
      <p:ext uri="{BB962C8B-B14F-4D97-AF65-F5344CB8AC3E}">
        <p14:creationId xmlns:p14="http://schemas.microsoft.com/office/powerpoint/2010/main" val="27570297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smtClean="0"/>
              <a:t>Prompts of synonyms (review)</a:t>
            </a:r>
            <a:endParaRPr lang="en-US" sz="16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4</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3120450344"/>
              </p:ext>
            </p:extLst>
          </p:nvPr>
        </p:nvGraphicFramePr>
        <p:xfrm>
          <a:off x="791029" y="1117600"/>
          <a:ext cx="6096000" cy="2722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82460100"/>
                    </a:ext>
                  </a:extLst>
                </a:gridCol>
                <a:gridCol w="2032000">
                  <a:extLst>
                    <a:ext uri="{9D8B030D-6E8A-4147-A177-3AD203B41FA5}">
                      <a16:colId xmlns:a16="http://schemas.microsoft.com/office/drawing/2014/main" val="2899458474"/>
                    </a:ext>
                  </a:extLst>
                </a:gridCol>
                <a:gridCol w="2032000">
                  <a:extLst>
                    <a:ext uri="{9D8B030D-6E8A-4147-A177-3AD203B41FA5}">
                      <a16:colId xmlns:a16="http://schemas.microsoft.com/office/drawing/2014/main" val="3204984617"/>
                    </a:ext>
                  </a:extLst>
                </a:gridCol>
              </a:tblGrid>
              <a:tr h="370840">
                <a:tc>
                  <a:txBody>
                    <a:bodyPr/>
                    <a:lstStyle/>
                    <a:p>
                      <a:pPr algn="ctr"/>
                      <a:r>
                        <a:rPr lang="en-US" dirty="0" smtClean="0"/>
                        <a:t>ID</a:t>
                      </a:r>
                      <a:endParaRPr lang="en-US" dirty="0"/>
                    </a:p>
                  </a:txBody>
                  <a:tcPr/>
                </a:tc>
                <a:tc>
                  <a:txBody>
                    <a:bodyPr/>
                    <a:lstStyle/>
                    <a:p>
                      <a:pPr algn="ctr"/>
                      <a:r>
                        <a:rPr lang="en-US" dirty="0" smtClean="0"/>
                        <a:t>Prompt</a:t>
                      </a:r>
                      <a:endParaRPr lang="en-US" dirty="0"/>
                    </a:p>
                  </a:txBody>
                  <a:tcPr/>
                </a:tc>
                <a:tc>
                  <a:txBody>
                    <a:bodyPr/>
                    <a:lstStyle/>
                    <a:p>
                      <a:r>
                        <a:rPr lang="en-US" dirty="0" smtClean="0"/>
                        <a:t>example</a:t>
                      </a:r>
                      <a:endParaRPr lang="en-US" dirty="0"/>
                    </a:p>
                  </a:txBody>
                  <a:tcPr/>
                </a:tc>
                <a:extLst>
                  <a:ext uri="{0D108BD9-81ED-4DB2-BD59-A6C34878D82A}">
                    <a16:rowId xmlns:a16="http://schemas.microsoft.com/office/drawing/2014/main" val="672118755"/>
                  </a:ext>
                </a:extLst>
              </a:tr>
              <a:tr h="370840">
                <a:tc>
                  <a:txBody>
                    <a:bodyPr/>
                    <a:lstStyle/>
                    <a:p>
                      <a:pPr algn="l"/>
                      <a:r>
                        <a:rPr lang="en-US" dirty="0" smtClean="0"/>
                        <a:t>Emo-s</a:t>
                      </a:r>
                      <a:endParaRPr lang="en-US" dirty="0"/>
                    </a:p>
                  </a:txBody>
                  <a:tcPr/>
                </a:tc>
                <a:tc>
                  <a:txBody>
                    <a:bodyPr/>
                    <a:lstStyle/>
                    <a:p>
                      <a:pPr algn="l"/>
                      <a:r>
                        <a:rPr lang="en-US" dirty="0" smtClean="0"/>
                        <a:t>Emotion synonym</a:t>
                      </a:r>
                      <a:endParaRPr lang="en-US" dirty="0"/>
                    </a:p>
                  </a:txBody>
                  <a:tcPr/>
                </a:tc>
                <a:tc>
                  <a:txBody>
                    <a:bodyPr/>
                    <a:lstStyle/>
                    <a:p>
                      <a:r>
                        <a:rPr lang="en-US" dirty="0" smtClean="0"/>
                        <a:t>happy</a:t>
                      </a:r>
                      <a:endParaRPr lang="en-US" dirty="0"/>
                    </a:p>
                  </a:txBody>
                  <a:tcPr/>
                </a:tc>
                <a:extLst>
                  <a:ext uri="{0D108BD9-81ED-4DB2-BD59-A6C34878D82A}">
                    <a16:rowId xmlns:a16="http://schemas.microsoft.com/office/drawing/2014/main" val="2212575958"/>
                  </a:ext>
                </a:extLst>
              </a:tr>
              <a:tr h="370840">
                <a:tc>
                  <a:txBody>
                    <a:bodyPr/>
                    <a:lstStyle/>
                    <a:p>
                      <a:r>
                        <a:rPr lang="en-US" dirty="0" smtClean="0"/>
                        <a:t>Expr-s</a:t>
                      </a:r>
                      <a:endParaRPr lang="en-US" dirty="0"/>
                    </a:p>
                  </a:txBody>
                  <a:tcPr/>
                </a:tc>
                <a:tc>
                  <a:txBody>
                    <a:bodyPr/>
                    <a:lstStyle/>
                    <a:p>
                      <a:r>
                        <a:rPr lang="en-US" dirty="0" smtClean="0"/>
                        <a:t>“This text </a:t>
                      </a:r>
                      <a:r>
                        <a:rPr lang="en-US" dirty="0" err="1" smtClean="0"/>
                        <a:t>expresses”+emotion</a:t>
                      </a:r>
                      <a:r>
                        <a:rPr lang="en-US" dirty="0" smtClean="0"/>
                        <a:t> synonym</a:t>
                      </a:r>
                      <a:endParaRPr lang="en-US" dirty="0"/>
                    </a:p>
                  </a:txBody>
                  <a:tcPr/>
                </a:tc>
                <a:tc>
                  <a:txBody>
                    <a:bodyPr/>
                    <a:lstStyle/>
                    <a:p>
                      <a:r>
                        <a:rPr lang="en-US" dirty="0" smtClean="0"/>
                        <a:t>This text expresses happiness </a:t>
                      </a:r>
                    </a:p>
                  </a:txBody>
                  <a:tcPr/>
                </a:tc>
                <a:extLst>
                  <a:ext uri="{0D108BD9-81ED-4DB2-BD59-A6C34878D82A}">
                    <a16:rowId xmlns:a16="http://schemas.microsoft.com/office/drawing/2014/main" val="4153487773"/>
                  </a:ext>
                </a:extLst>
              </a:tr>
              <a:tr h="370840">
                <a:tc>
                  <a:txBody>
                    <a:bodyPr/>
                    <a:lstStyle/>
                    <a:p>
                      <a:r>
                        <a:rPr lang="en-US" dirty="0" smtClean="0"/>
                        <a:t>Feels-s</a:t>
                      </a:r>
                      <a:endParaRPr lang="en-US" dirty="0"/>
                    </a:p>
                  </a:txBody>
                  <a:tcPr/>
                </a:tc>
                <a:tc>
                  <a:txBody>
                    <a:bodyPr/>
                    <a:lstStyle/>
                    <a:p>
                      <a:r>
                        <a:rPr lang="en-US" dirty="0" smtClean="0"/>
                        <a:t>“This person </a:t>
                      </a:r>
                      <a:r>
                        <a:rPr lang="en-US" dirty="0" err="1" smtClean="0"/>
                        <a:t>feels”+emotion</a:t>
                      </a:r>
                      <a:r>
                        <a:rPr lang="en-US" dirty="0" smtClean="0"/>
                        <a:t> synonym</a:t>
                      </a:r>
                      <a:endParaRPr lang="en-US" dirty="0"/>
                    </a:p>
                  </a:txBody>
                  <a:tcPr/>
                </a:tc>
                <a:tc>
                  <a:txBody>
                    <a:bodyPr/>
                    <a:lstStyle/>
                    <a:p>
                      <a:r>
                        <a:rPr lang="en-US" dirty="0" smtClean="0"/>
                        <a:t>This person feels happy</a:t>
                      </a:r>
                    </a:p>
                  </a:txBody>
                  <a:tcPr/>
                </a:tc>
                <a:extLst>
                  <a:ext uri="{0D108BD9-81ED-4DB2-BD59-A6C34878D82A}">
                    <a16:rowId xmlns:a16="http://schemas.microsoft.com/office/drawing/2014/main" val="3555123393"/>
                  </a:ext>
                </a:extLst>
              </a:tr>
              <a:tr h="370840">
                <a:tc>
                  <a:txBody>
                    <a:bodyPr/>
                    <a:lstStyle/>
                    <a:p>
                      <a:r>
                        <a:rPr lang="en-US" dirty="0" smtClean="0"/>
                        <a:t>Emotion-s</a:t>
                      </a:r>
                      <a:endParaRPr lang="en-US" dirty="0"/>
                    </a:p>
                  </a:txBody>
                  <a:tcPr/>
                </a:tc>
                <a:tc>
                  <a:txBody>
                    <a:bodyPr/>
                    <a:lstStyle/>
                    <a:p>
                      <a:r>
                        <a:rPr lang="en-US" dirty="0" smtClean="0"/>
                        <a:t>“The emotion is”+ emotion</a:t>
                      </a:r>
                      <a:r>
                        <a:rPr lang="en-US" baseline="0" dirty="0" smtClean="0"/>
                        <a:t> </a:t>
                      </a:r>
                      <a:r>
                        <a:rPr lang="en-US" dirty="0" smtClean="0"/>
                        <a:t>synonym</a:t>
                      </a:r>
                      <a:endParaRPr lang="en-US" dirty="0"/>
                    </a:p>
                  </a:txBody>
                  <a:tcPr/>
                </a:tc>
                <a:tc>
                  <a:txBody>
                    <a:bodyPr/>
                    <a:lstStyle/>
                    <a:p>
                      <a:r>
                        <a:rPr lang="en-US" dirty="0" smtClean="0"/>
                        <a:t>The emotion is happiness</a:t>
                      </a:r>
                      <a:endParaRPr lang="en-US" dirty="0"/>
                    </a:p>
                  </a:txBody>
                  <a:tcPr/>
                </a:tc>
                <a:extLst>
                  <a:ext uri="{0D108BD9-81ED-4DB2-BD59-A6C34878D82A}">
                    <a16:rowId xmlns:a16="http://schemas.microsoft.com/office/drawing/2014/main" val="2682148075"/>
                  </a:ext>
                </a:extLst>
              </a:tr>
            </a:tbl>
          </a:graphicData>
        </a:graphic>
      </p:graphicFrame>
    </p:spTree>
    <p:extLst>
      <p:ext uri="{BB962C8B-B14F-4D97-AF65-F5344CB8AC3E}">
        <p14:creationId xmlns:p14="http://schemas.microsoft.com/office/powerpoint/2010/main" val="33345753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a:t>Using synonyms of </a:t>
            </a:r>
            <a:r>
              <a:rPr lang="en-US" sz="1600" b="1" dirty="0" smtClean="0"/>
              <a:t>emotions (</a:t>
            </a:r>
            <a:r>
              <a:rPr lang="en-US" sz="1600" b="1" dirty="0" err="1" smtClean="0"/>
              <a:t>Isear</a:t>
            </a:r>
            <a:r>
              <a:rPr lang="en-US" sz="1600" b="1" dirty="0" smtClean="0"/>
              <a:t> dataset) (review)</a:t>
            </a:r>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5</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913766030"/>
              </p:ext>
            </p:extLst>
          </p:nvPr>
        </p:nvGraphicFramePr>
        <p:xfrm>
          <a:off x="464457" y="3266785"/>
          <a:ext cx="6096000" cy="12598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288317430"/>
                    </a:ext>
                  </a:extLst>
                </a:gridCol>
                <a:gridCol w="1219200">
                  <a:extLst>
                    <a:ext uri="{9D8B030D-6E8A-4147-A177-3AD203B41FA5}">
                      <a16:colId xmlns:a16="http://schemas.microsoft.com/office/drawing/2014/main" val="2187000636"/>
                    </a:ext>
                  </a:extLst>
                </a:gridCol>
                <a:gridCol w="1219200">
                  <a:extLst>
                    <a:ext uri="{9D8B030D-6E8A-4147-A177-3AD203B41FA5}">
                      <a16:colId xmlns:a16="http://schemas.microsoft.com/office/drawing/2014/main" val="2534759060"/>
                    </a:ext>
                  </a:extLst>
                </a:gridCol>
                <a:gridCol w="1219200">
                  <a:extLst>
                    <a:ext uri="{9D8B030D-6E8A-4147-A177-3AD203B41FA5}">
                      <a16:colId xmlns:a16="http://schemas.microsoft.com/office/drawing/2014/main" val="3403123"/>
                    </a:ext>
                  </a:extLst>
                </a:gridCol>
                <a:gridCol w="1219200">
                  <a:extLst>
                    <a:ext uri="{9D8B030D-6E8A-4147-A177-3AD203B41FA5}">
                      <a16:colId xmlns:a16="http://schemas.microsoft.com/office/drawing/2014/main" val="3328513123"/>
                    </a:ext>
                  </a:extLst>
                </a:gridCol>
              </a:tblGrid>
              <a:tr h="370840">
                <a:tc>
                  <a:txBody>
                    <a:bodyPr/>
                    <a:lstStyle/>
                    <a:p>
                      <a:endParaRPr lang="en-US" dirty="0"/>
                    </a:p>
                  </a:txBody>
                  <a:tcPr/>
                </a:tc>
                <a:tc>
                  <a:txBody>
                    <a:bodyPr/>
                    <a:lstStyle/>
                    <a:p>
                      <a:r>
                        <a:rPr lang="en-US" dirty="0" smtClean="0"/>
                        <a:t>Emo-s</a:t>
                      </a:r>
                      <a:endParaRPr lang="en-US" dirty="0"/>
                    </a:p>
                  </a:txBody>
                  <a:tcPr/>
                </a:tc>
                <a:tc>
                  <a:txBody>
                    <a:bodyPr/>
                    <a:lstStyle/>
                    <a:p>
                      <a:r>
                        <a:rPr lang="en-US" dirty="0" smtClean="0"/>
                        <a:t>Expr</a:t>
                      </a:r>
                      <a:r>
                        <a:rPr lang="en-US" baseline="0" dirty="0" smtClean="0"/>
                        <a:t>-s</a:t>
                      </a:r>
                      <a:endParaRPr lang="en-US" dirty="0"/>
                    </a:p>
                  </a:txBody>
                  <a:tcPr/>
                </a:tc>
                <a:tc>
                  <a:txBody>
                    <a:bodyPr/>
                    <a:lstStyle/>
                    <a:p>
                      <a:r>
                        <a:rPr lang="en-US" dirty="0" smtClean="0"/>
                        <a:t>Emotion-s</a:t>
                      </a:r>
                      <a:endParaRPr lang="en-US" dirty="0"/>
                    </a:p>
                  </a:txBody>
                  <a:tcPr/>
                </a:tc>
                <a:tc>
                  <a:txBody>
                    <a:bodyPr/>
                    <a:lstStyle/>
                    <a:p>
                      <a:r>
                        <a:rPr lang="en-US" dirty="0" smtClean="0"/>
                        <a:t>Feels</a:t>
                      </a:r>
                      <a:r>
                        <a:rPr lang="en-US" baseline="0" dirty="0" smtClean="0"/>
                        <a:t>-s</a:t>
                      </a:r>
                      <a:endParaRPr lang="en-US" dirty="0"/>
                    </a:p>
                  </a:txBody>
                  <a:tcPr/>
                </a:tc>
                <a:extLst>
                  <a:ext uri="{0D108BD9-81ED-4DB2-BD59-A6C34878D82A}">
                    <a16:rowId xmlns:a16="http://schemas.microsoft.com/office/drawing/2014/main" val="2803016027"/>
                  </a:ext>
                </a:extLst>
              </a:tr>
              <a:tr h="240801">
                <a:tc>
                  <a:txBody>
                    <a:bodyPr/>
                    <a:lstStyle/>
                    <a:p>
                      <a:r>
                        <a:rPr lang="en-US" dirty="0" smtClean="0"/>
                        <a:t>Macro averaged F1</a:t>
                      </a:r>
                      <a:endParaRPr lang="en-US" dirty="0"/>
                    </a:p>
                  </a:txBody>
                  <a:tcPr/>
                </a:tc>
                <a:tc>
                  <a:txBody>
                    <a:bodyPr/>
                    <a:lstStyle/>
                    <a:p>
                      <a:r>
                        <a:rPr lang="en-US" dirty="0" smtClean="0"/>
                        <a:t>0.52</a:t>
                      </a:r>
                      <a:endParaRPr lang="en-US" dirty="0"/>
                    </a:p>
                  </a:txBody>
                  <a:tcPr/>
                </a:tc>
                <a:tc>
                  <a:txBody>
                    <a:bodyPr/>
                    <a:lstStyle/>
                    <a:p>
                      <a:r>
                        <a:rPr lang="en-US" dirty="0" smtClean="0"/>
                        <a:t>0.58</a:t>
                      </a:r>
                      <a:endParaRPr lang="en-US" dirty="0"/>
                    </a:p>
                  </a:txBody>
                  <a:tcPr/>
                </a:tc>
                <a:tc>
                  <a:txBody>
                    <a:bodyPr/>
                    <a:lstStyle/>
                    <a:p>
                      <a:r>
                        <a:rPr lang="en-US" dirty="0" smtClean="0"/>
                        <a:t>0.6</a:t>
                      </a:r>
                      <a:endParaRPr lang="en-US" dirty="0"/>
                    </a:p>
                  </a:txBody>
                  <a:tcPr/>
                </a:tc>
                <a:tc>
                  <a:txBody>
                    <a:bodyPr/>
                    <a:lstStyle/>
                    <a:p>
                      <a:r>
                        <a:rPr lang="en-US" dirty="0" smtClean="0"/>
                        <a:t>0.58</a:t>
                      </a:r>
                      <a:endParaRPr lang="en-US" dirty="0"/>
                    </a:p>
                  </a:txBody>
                  <a:tcPr/>
                </a:tc>
                <a:extLst>
                  <a:ext uri="{0D108BD9-81ED-4DB2-BD59-A6C34878D82A}">
                    <a16:rowId xmlns:a16="http://schemas.microsoft.com/office/drawing/2014/main" val="699986581"/>
                  </a:ext>
                </a:extLst>
              </a:tr>
              <a:tr h="370840">
                <a:tc>
                  <a:txBody>
                    <a:bodyPr/>
                    <a:lstStyle/>
                    <a:p>
                      <a:r>
                        <a:rPr lang="en-US" dirty="0" smtClean="0"/>
                        <a:t>accuracy</a:t>
                      </a:r>
                      <a:endParaRPr lang="en-US" dirty="0"/>
                    </a:p>
                  </a:txBody>
                  <a:tcPr/>
                </a:tc>
                <a:tc>
                  <a:txBody>
                    <a:bodyPr/>
                    <a:lstStyle/>
                    <a:p>
                      <a:r>
                        <a:rPr lang="en-US" dirty="0" smtClean="0"/>
                        <a:t>0.53</a:t>
                      </a:r>
                      <a:endParaRPr lang="en-US" dirty="0"/>
                    </a:p>
                  </a:txBody>
                  <a:tcPr/>
                </a:tc>
                <a:tc>
                  <a:txBody>
                    <a:bodyPr/>
                    <a:lstStyle/>
                    <a:p>
                      <a:r>
                        <a:rPr lang="en-US" dirty="0" smtClean="0"/>
                        <a:t>0.59</a:t>
                      </a:r>
                      <a:endParaRPr lang="en-US" dirty="0"/>
                    </a:p>
                  </a:txBody>
                  <a:tcPr/>
                </a:tc>
                <a:tc>
                  <a:txBody>
                    <a:bodyPr/>
                    <a:lstStyle/>
                    <a:p>
                      <a:r>
                        <a:rPr lang="en-US" dirty="0" smtClean="0"/>
                        <a:t>0.6</a:t>
                      </a:r>
                      <a:endParaRPr lang="en-US" dirty="0"/>
                    </a:p>
                  </a:txBody>
                  <a:tcPr/>
                </a:tc>
                <a:tc>
                  <a:txBody>
                    <a:bodyPr/>
                    <a:lstStyle/>
                    <a:p>
                      <a:r>
                        <a:rPr lang="en-US" dirty="0" smtClean="0"/>
                        <a:t>0.59</a:t>
                      </a:r>
                      <a:endParaRPr lang="en-US" dirty="0"/>
                    </a:p>
                  </a:txBody>
                  <a:tcPr/>
                </a:tc>
                <a:extLst>
                  <a:ext uri="{0D108BD9-81ED-4DB2-BD59-A6C34878D82A}">
                    <a16:rowId xmlns:a16="http://schemas.microsoft.com/office/drawing/2014/main" val="2892484191"/>
                  </a:ext>
                </a:extLst>
              </a:tr>
            </a:tbl>
          </a:graphicData>
        </a:graphic>
      </p:graphicFrame>
      <p:sp>
        <p:nvSpPr>
          <p:cNvPr id="7" name="Rectangle 6"/>
          <p:cNvSpPr/>
          <p:nvPr/>
        </p:nvSpPr>
        <p:spPr>
          <a:xfrm>
            <a:off x="406400" y="2915937"/>
            <a:ext cx="6538685" cy="307777"/>
          </a:xfrm>
          <a:prstGeom prst="rect">
            <a:avLst/>
          </a:prstGeom>
        </p:spPr>
        <p:txBody>
          <a:bodyPr wrap="square">
            <a:spAutoFit/>
          </a:bodyPr>
          <a:lstStyle/>
          <a:p>
            <a:r>
              <a:rPr lang="en-US" dirty="0" smtClean="0"/>
              <a:t>Results when using max </a:t>
            </a:r>
            <a:r>
              <a:rPr lang="en-US" dirty="0"/>
              <a:t>of entailment probabilities of synonyms (</a:t>
            </a:r>
            <a:r>
              <a:rPr lang="en-US" dirty="0" err="1"/>
              <a:t>Deberta</a:t>
            </a:r>
            <a:r>
              <a:rPr lang="en-US" dirty="0"/>
              <a:t> model)</a:t>
            </a:r>
          </a:p>
        </p:txBody>
      </p:sp>
      <p:sp>
        <p:nvSpPr>
          <p:cNvPr id="8" name="TextBox 7"/>
          <p:cNvSpPr txBox="1"/>
          <p:nvPr/>
        </p:nvSpPr>
        <p:spPr>
          <a:xfrm>
            <a:off x="406400" y="740229"/>
            <a:ext cx="7932057" cy="523220"/>
          </a:xfrm>
          <a:prstGeom prst="rect">
            <a:avLst/>
          </a:prstGeom>
          <a:noFill/>
        </p:spPr>
        <p:txBody>
          <a:bodyPr wrap="square" rtlCol="0">
            <a:spAutoFit/>
          </a:bodyPr>
          <a:lstStyle/>
          <a:p>
            <a:endParaRPr lang="en-US" dirty="0"/>
          </a:p>
          <a:p>
            <a:endParaRPr lang="en-US" dirty="0"/>
          </a:p>
        </p:txBody>
      </p:sp>
      <p:sp>
        <p:nvSpPr>
          <p:cNvPr id="3" name="Rectangle 2"/>
          <p:cNvSpPr/>
          <p:nvPr/>
        </p:nvSpPr>
        <p:spPr>
          <a:xfrm>
            <a:off x="406400" y="740229"/>
            <a:ext cx="7474857" cy="523220"/>
          </a:xfrm>
          <a:prstGeom prst="rect">
            <a:avLst/>
          </a:prstGeom>
        </p:spPr>
        <p:txBody>
          <a:bodyPr wrap="square">
            <a:spAutoFit/>
          </a:bodyPr>
          <a:lstStyle/>
          <a:p>
            <a:r>
              <a:rPr lang="en-US" dirty="0"/>
              <a:t>Results when using average of entailment probabilities between synonyms of the emotion and text (</a:t>
            </a:r>
            <a:r>
              <a:rPr lang="en-US" dirty="0" err="1"/>
              <a:t>Deberta</a:t>
            </a:r>
            <a:r>
              <a:rPr lang="en-US" dirty="0"/>
              <a:t> model)</a:t>
            </a:r>
          </a:p>
        </p:txBody>
      </p:sp>
      <p:graphicFrame>
        <p:nvGraphicFramePr>
          <p:cNvPr id="9" name="Table 8"/>
          <p:cNvGraphicFramePr>
            <a:graphicFrameLocks noGrp="1"/>
          </p:cNvGraphicFramePr>
          <p:nvPr>
            <p:extLst>
              <p:ext uri="{D42A27DB-BD31-4B8C-83A1-F6EECF244321}">
                <p14:modId xmlns:p14="http://schemas.microsoft.com/office/powerpoint/2010/main" val="842448168"/>
              </p:ext>
            </p:extLst>
          </p:nvPr>
        </p:nvGraphicFramePr>
        <p:xfrm>
          <a:off x="464454" y="1364100"/>
          <a:ext cx="5631545" cy="1473200"/>
        </p:xfrm>
        <a:graphic>
          <a:graphicData uri="http://schemas.openxmlformats.org/drawingml/2006/table">
            <a:tbl>
              <a:tblPr firstRow="1" bandRow="1">
                <a:tableStyleId>{5C22544A-7EE6-4342-B048-85BDC9FD1C3A}</a:tableStyleId>
              </a:tblPr>
              <a:tblGrid>
                <a:gridCol w="1126309">
                  <a:extLst>
                    <a:ext uri="{9D8B030D-6E8A-4147-A177-3AD203B41FA5}">
                      <a16:colId xmlns:a16="http://schemas.microsoft.com/office/drawing/2014/main" val="1603086849"/>
                    </a:ext>
                  </a:extLst>
                </a:gridCol>
                <a:gridCol w="1126309">
                  <a:extLst>
                    <a:ext uri="{9D8B030D-6E8A-4147-A177-3AD203B41FA5}">
                      <a16:colId xmlns:a16="http://schemas.microsoft.com/office/drawing/2014/main" val="2758804003"/>
                    </a:ext>
                  </a:extLst>
                </a:gridCol>
                <a:gridCol w="1126309">
                  <a:extLst>
                    <a:ext uri="{9D8B030D-6E8A-4147-A177-3AD203B41FA5}">
                      <a16:colId xmlns:a16="http://schemas.microsoft.com/office/drawing/2014/main" val="3425075255"/>
                    </a:ext>
                  </a:extLst>
                </a:gridCol>
                <a:gridCol w="1126309">
                  <a:extLst>
                    <a:ext uri="{9D8B030D-6E8A-4147-A177-3AD203B41FA5}">
                      <a16:colId xmlns:a16="http://schemas.microsoft.com/office/drawing/2014/main" val="2622082200"/>
                    </a:ext>
                  </a:extLst>
                </a:gridCol>
                <a:gridCol w="1126309">
                  <a:extLst>
                    <a:ext uri="{9D8B030D-6E8A-4147-A177-3AD203B41FA5}">
                      <a16:colId xmlns:a16="http://schemas.microsoft.com/office/drawing/2014/main" val="3815745169"/>
                    </a:ext>
                  </a:extLst>
                </a:gridCol>
              </a:tblGrid>
              <a:tr h="370840">
                <a:tc>
                  <a:txBody>
                    <a:bodyPr/>
                    <a:lstStyle/>
                    <a:p>
                      <a:endParaRPr lang="en-US" dirty="0"/>
                    </a:p>
                  </a:txBody>
                  <a:tcPr/>
                </a:tc>
                <a:tc>
                  <a:txBody>
                    <a:bodyPr/>
                    <a:lstStyle/>
                    <a:p>
                      <a:r>
                        <a:rPr lang="en-US" dirty="0" smtClean="0"/>
                        <a:t>Emo-s</a:t>
                      </a:r>
                      <a:endParaRPr lang="en-US" dirty="0"/>
                    </a:p>
                  </a:txBody>
                  <a:tcPr/>
                </a:tc>
                <a:tc>
                  <a:txBody>
                    <a:bodyPr/>
                    <a:lstStyle/>
                    <a:p>
                      <a:r>
                        <a:rPr lang="en-US" dirty="0" smtClean="0"/>
                        <a:t>Expr</a:t>
                      </a:r>
                      <a:r>
                        <a:rPr lang="en-US" baseline="0" dirty="0" smtClean="0"/>
                        <a:t>-s</a:t>
                      </a:r>
                      <a:endParaRPr lang="en-US" dirty="0"/>
                    </a:p>
                  </a:txBody>
                  <a:tcPr/>
                </a:tc>
                <a:tc>
                  <a:txBody>
                    <a:bodyPr/>
                    <a:lstStyle/>
                    <a:p>
                      <a:r>
                        <a:rPr lang="en-US" dirty="0" smtClean="0"/>
                        <a:t>Emotion-s</a:t>
                      </a:r>
                      <a:endParaRPr lang="en-US" dirty="0"/>
                    </a:p>
                  </a:txBody>
                  <a:tcPr/>
                </a:tc>
                <a:tc>
                  <a:txBody>
                    <a:bodyPr/>
                    <a:lstStyle/>
                    <a:p>
                      <a:r>
                        <a:rPr lang="en-US" dirty="0" smtClean="0"/>
                        <a:t>Feels</a:t>
                      </a:r>
                      <a:r>
                        <a:rPr lang="en-US" baseline="0" dirty="0" smtClean="0"/>
                        <a:t>-s</a:t>
                      </a:r>
                      <a:endParaRPr lang="en-US" dirty="0"/>
                    </a:p>
                  </a:txBody>
                  <a:tcPr/>
                </a:tc>
                <a:extLst>
                  <a:ext uri="{0D108BD9-81ED-4DB2-BD59-A6C34878D82A}">
                    <a16:rowId xmlns:a16="http://schemas.microsoft.com/office/drawing/2014/main" val="1034021493"/>
                  </a:ext>
                </a:extLst>
              </a:tr>
              <a:tr h="370840">
                <a:tc>
                  <a:txBody>
                    <a:bodyPr/>
                    <a:lstStyle/>
                    <a:p>
                      <a:r>
                        <a:rPr lang="en-US" dirty="0" smtClean="0"/>
                        <a:t>Macro averaged F1</a:t>
                      </a:r>
                      <a:endParaRPr lang="en-US" dirty="0"/>
                    </a:p>
                  </a:txBody>
                  <a:tcPr/>
                </a:tc>
                <a:tc>
                  <a:txBody>
                    <a:bodyPr/>
                    <a:lstStyle/>
                    <a:p>
                      <a:r>
                        <a:rPr lang="en-US" dirty="0" smtClean="0"/>
                        <a:t>0.57</a:t>
                      </a:r>
                      <a:endParaRPr lang="en-US" dirty="0"/>
                    </a:p>
                  </a:txBody>
                  <a:tcPr/>
                </a:tc>
                <a:tc>
                  <a:txBody>
                    <a:bodyPr/>
                    <a:lstStyle/>
                    <a:p>
                      <a:r>
                        <a:rPr lang="en-US" dirty="0" smtClean="0"/>
                        <a:t>0.62</a:t>
                      </a:r>
                      <a:endParaRPr lang="en-US" dirty="0"/>
                    </a:p>
                  </a:txBody>
                  <a:tcPr/>
                </a:tc>
                <a:tc>
                  <a:txBody>
                    <a:bodyPr/>
                    <a:lstStyle/>
                    <a:p>
                      <a:r>
                        <a:rPr lang="en-US" dirty="0" smtClean="0"/>
                        <a:t>0.63</a:t>
                      </a:r>
                      <a:endParaRPr lang="en-US" dirty="0"/>
                    </a:p>
                  </a:txBody>
                  <a:tcPr/>
                </a:tc>
                <a:tc>
                  <a:txBody>
                    <a:bodyPr/>
                    <a:lstStyle/>
                    <a:p>
                      <a:r>
                        <a:rPr lang="en-US" dirty="0" smtClean="0"/>
                        <a:t>0.56</a:t>
                      </a:r>
                      <a:endParaRPr lang="en-US" dirty="0"/>
                    </a:p>
                  </a:txBody>
                  <a:tcPr/>
                </a:tc>
                <a:extLst>
                  <a:ext uri="{0D108BD9-81ED-4DB2-BD59-A6C34878D82A}">
                    <a16:rowId xmlns:a16="http://schemas.microsoft.com/office/drawing/2014/main" val="2145491581"/>
                  </a:ext>
                </a:extLst>
              </a:tr>
              <a:tr h="370840">
                <a:tc>
                  <a:txBody>
                    <a:bodyPr/>
                    <a:lstStyle/>
                    <a:p>
                      <a:r>
                        <a:rPr lang="en-US" dirty="0" smtClean="0"/>
                        <a:t>accuracy</a:t>
                      </a:r>
                      <a:endParaRPr lang="en-US" dirty="0"/>
                    </a:p>
                  </a:txBody>
                  <a:tcPr/>
                </a:tc>
                <a:tc>
                  <a:txBody>
                    <a:bodyPr/>
                    <a:lstStyle/>
                    <a:p>
                      <a:r>
                        <a:rPr lang="en-US" dirty="0" smtClean="0"/>
                        <a:t>0.58</a:t>
                      </a:r>
                      <a:endParaRPr lang="en-US" dirty="0"/>
                    </a:p>
                  </a:txBody>
                  <a:tcPr/>
                </a:tc>
                <a:tc>
                  <a:txBody>
                    <a:bodyPr/>
                    <a:lstStyle/>
                    <a:p>
                      <a:r>
                        <a:rPr lang="en-US" dirty="0" smtClean="0"/>
                        <a:t>0.63</a:t>
                      </a:r>
                      <a:endParaRPr lang="en-US" dirty="0"/>
                    </a:p>
                  </a:txBody>
                  <a:tcPr/>
                </a:tc>
                <a:tc>
                  <a:txBody>
                    <a:bodyPr/>
                    <a:lstStyle/>
                    <a:p>
                      <a:r>
                        <a:rPr lang="en-US" dirty="0" smtClean="0"/>
                        <a:t>0.63</a:t>
                      </a:r>
                      <a:endParaRPr lang="en-US" dirty="0"/>
                    </a:p>
                  </a:txBody>
                  <a:tcPr/>
                </a:tc>
                <a:tc>
                  <a:txBody>
                    <a:bodyPr/>
                    <a:lstStyle/>
                    <a:p>
                      <a:r>
                        <a:rPr lang="en-US" dirty="0" smtClean="0"/>
                        <a:t>0.59</a:t>
                      </a:r>
                      <a:endParaRPr lang="en-US" dirty="0"/>
                    </a:p>
                  </a:txBody>
                  <a:tcPr/>
                </a:tc>
                <a:extLst>
                  <a:ext uri="{0D108BD9-81ED-4DB2-BD59-A6C34878D82A}">
                    <a16:rowId xmlns:a16="http://schemas.microsoft.com/office/drawing/2014/main" val="3837356572"/>
                  </a:ext>
                </a:extLst>
              </a:tr>
            </a:tbl>
          </a:graphicData>
        </a:graphic>
      </p:graphicFrame>
    </p:spTree>
    <p:extLst>
      <p:ext uri="{BB962C8B-B14F-4D97-AF65-F5344CB8AC3E}">
        <p14:creationId xmlns:p14="http://schemas.microsoft.com/office/powerpoint/2010/main" val="32261386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6</a:t>
            </a:fld>
            <a:endParaRPr lang="ja" altLang="en-US"/>
          </a:p>
        </p:txBody>
      </p:sp>
      <p:sp>
        <p:nvSpPr>
          <p:cNvPr id="5" name="TextBox 4"/>
          <p:cNvSpPr txBox="1"/>
          <p:nvPr/>
        </p:nvSpPr>
        <p:spPr>
          <a:xfrm>
            <a:off x="667656" y="0"/>
            <a:ext cx="8418337" cy="584775"/>
          </a:xfrm>
          <a:prstGeom prst="rect">
            <a:avLst/>
          </a:prstGeom>
          <a:noFill/>
        </p:spPr>
        <p:txBody>
          <a:bodyPr wrap="square" rtlCol="0">
            <a:spAutoFit/>
          </a:bodyPr>
          <a:lstStyle/>
          <a:p>
            <a:r>
              <a:rPr lang="en-US" sz="1600" b="1" dirty="0" smtClean="0"/>
              <a:t>Comparing the results of using synonyms with the results of using prompts of emotion names ( </a:t>
            </a:r>
            <a:r>
              <a:rPr lang="en-US" sz="1600" b="1" dirty="0" err="1" smtClean="0"/>
              <a:t>Isear</a:t>
            </a:r>
            <a:r>
              <a:rPr lang="en-US" sz="1600" b="1" dirty="0" smtClean="0"/>
              <a:t> dataset) (review)</a:t>
            </a:r>
            <a:endParaRPr lang="en-US" sz="1600" b="1" dirty="0"/>
          </a:p>
        </p:txBody>
      </p:sp>
      <p:sp>
        <p:nvSpPr>
          <p:cNvPr id="7" name="TextBox 6"/>
          <p:cNvSpPr txBox="1"/>
          <p:nvPr/>
        </p:nvSpPr>
        <p:spPr>
          <a:xfrm>
            <a:off x="667656" y="1081315"/>
            <a:ext cx="7750629" cy="1384995"/>
          </a:xfrm>
          <a:prstGeom prst="rect">
            <a:avLst/>
          </a:prstGeom>
          <a:noFill/>
        </p:spPr>
        <p:txBody>
          <a:bodyPr wrap="square" rtlCol="0">
            <a:spAutoFit/>
          </a:bodyPr>
          <a:lstStyle/>
          <a:p>
            <a:r>
              <a:rPr lang="en-US" dirty="0" smtClean="0"/>
              <a:t>Using average of entailment probabilities of synonyms of the emotion could lead to a little improvements for all 4 prompts. (emo-s: 0.57 to emo-name: 0.54, expr-s: 0.62 to expr-emo:0.61, emotion-s:0.63 to emotion prompt: 0.61,  feels-s: 0.56 to feels-emo: 0.53). </a:t>
            </a:r>
          </a:p>
          <a:p>
            <a:endParaRPr lang="en-US" dirty="0"/>
          </a:p>
          <a:p>
            <a:r>
              <a:rPr lang="en-US" dirty="0" smtClean="0"/>
              <a:t>Using max </a:t>
            </a:r>
            <a:r>
              <a:rPr lang="en-US" dirty="0"/>
              <a:t>of entailment probabilities of </a:t>
            </a:r>
            <a:r>
              <a:rPr lang="en-US" dirty="0" smtClean="0"/>
              <a:t>synonyms could lead to improvement for </a:t>
            </a:r>
            <a:r>
              <a:rPr lang="en-US" dirty="0" err="1" smtClean="0"/>
              <a:t>feels_emo</a:t>
            </a:r>
            <a:r>
              <a:rPr lang="en-US" dirty="0" smtClean="0"/>
              <a:t> prompt (Feels_s:0.58 to Feels_emo:0.54) , but not for </a:t>
            </a:r>
            <a:r>
              <a:rPr lang="en-US" dirty="0" err="1" smtClean="0"/>
              <a:t>expr_s</a:t>
            </a:r>
            <a:r>
              <a:rPr lang="en-US" dirty="0" smtClean="0"/>
              <a:t> and </a:t>
            </a:r>
            <a:r>
              <a:rPr lang="en-US" dirty="0" err="1" smtClean="0"/>
              <a:t>emotion_s</a:t>
            </a:r>
            <a:r>
              <a:rPr lang="en-US" dirty="0" smtClean="0"/>
              <a:t> and </a:t>
            </a:r>
            <a:r>
              <a:rPr lang="en-US" dirty="0" err="1" smtClean="0"/>
              <a:t>emo_s</a:t>
            </a:r>
            <a:r>
              <a:rPr lang="en-US" dirty="0" smtClean="0"/>
              <a:t> prompt.</a:t>
            </a:r>
            <a:endParaRPr lang="en-US" dirty="0"/>
          </a:p>
        </p:txBody>
      </p:sp>
    </p:spTree>
    <p:extLst>
      <p:ext uri="{BB962C8B-B14F-4D97-AF65-F5344CB8AC3E}">
        <p14:creationId xmlns:p14="http://schemas.microsoft.com/office/powerpoint/2010/main" val="12009962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Using synonyms of </a:t>
            </a:r>
            <a:r>
              <a:rPr lang="en-US" b="1" dirty="0" smtClean="0"/>
              <a:t>emotions (Tec dataset)(review)</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7</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4109991784"/>
              </p:ext>
            </p:extLst>
          </p:nvPr>
        </p:nvGraphicFramePr>
        <p:xfrm>
          <a:off x="695778" y="1236750"/>
          <a:ext cx="6096000" cy="12598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236033493"/>
                    </a:ext>
                  </a:extLst>
                </a:gridCol>
                <a:gridCol w="1219200">
                  <a:extLst>
                    <a:ext uri="{9D8B030D-6E8A-4147-A177-3AD203B41FA5}">
                      <a16:colId xmlns:a16="http://schemas.microsoft.com/office/drawing/2014/main" val="1040517384"/>
                    </a:ext>
                  </a:extLst>
                </a:gridCol>
                <a:gridCol w="1219200">
                  <a:extLst>
                    <a:ext uri="{9D8B030D-6E8A-4147-A177-3AD203B41FA5}">
                      <a16:colId xmlns:a16="http://schemas.microsoft.com/office/drawing/2014/main" val="2898996740"/>
                    </a:ext>
                  </a:extLst>
                </a:gridCol>
                <a:gridCol w="1219200">
                  <a:extLst>
                    <a:ext uri="{9D8B030D-6E8A-4147-A177-3AD203B41FA5}">
                      <a16:colId xmlns:a16="http://schemas.microsoft.com/office/drawing/2014/main" val="161988414"/>
                    </a:ext>
                  </a:extLst>
                </a:gridCol>
                <a:gridCol w="1219200">
                  <a:extLst>
                    <a:ext uri="{9D8B030D-6E8A-4147-A177-3AD203B41FA5}">
                      <a16:colId xmlns:a16="http://schemas.microsoft.com/office/drawing/2014/main" val="3951463705"/>
                    </a:ext>
                  </a:extLst>
                </a:gridCol>
              </a:tblGrid>
              <a:tr h="370840">
                <a:tc>
                  <a:txBody>
                    <a:bodyPr/>
                    <a:lstStyle/>
                    <a:p>
                      <a:endParaRPr lang="en-US" dirty="0"/>
                    </a:p>
                  </a:txBody>
                  <a:tcPr/>
                </a:tc>
                <a:tc>
                  <a:txBody>
                    <a:bodyPr/>
                    <a:lstStyle/>
                    <a:p>
                      <a:r>
                        <a:rPr lang="en-US" dirty="0" smtClean="0"/>
                        <a:t>Emo-s</a:t>
                      </a:r>
                      <a:endParaRPr lang="en-US" dirty="0"/>
                    </a:p>
                  </a:txBody>
                  <a:tcPr/>
                </a:tc>
                <a:tc>
                  <a:txBody>
                    <a:bodyPr/>
                    <a:lstStyle/>
                    <a:p>
                      <a:r>
                        <a:rPr lang="en-US" dirty="0" smtClean="0"/>
                        <a:t>Expr</a:t>
                      </a:r>
                      <a:r>
                        <a:rPr lang="en-US" baseline="0" dirty="0" smtClean="0"/>
                        <a:t>-s</a:t>
                      </a:r>
                      <a:endParaRPr lang="en-US" dirty="0"/>
                    </a:p>
                  </a:txBody>
                  <a:tcPr/>
                </a:tc>
                <a:tc>
                  <a:txBody>
                    <a:bodyPr/>
                    <a:lstStyle/>
                    <a:p>
                      <a:r>
                        <a:rPr lang="en-US" dirty="0" smtClean="0"/>
                        <a:t>Emotion-s</a:t>
                      </a:r>
                      <a:endParaRPr lang="en-US" dirty="0"/>
                    </a:p>
                  </a:txBody>
                  <a:tcPr/>
                </a:tc>
                <a:tc>
                  <a:txBody>
                    <a:bodyPr/>
                    <a:lstStyle/>
                    <a:p>
                      <a:r>
                        <a:rPr lang="en-US" dirty="0" smtClean="0"/>
                        <a:t>Feels</a:t>
                      </a:r>
                      <a:r>
                        <a:rPr lang="en-US" baseline="0" dirty="0" smtClean="0"/>
                        <a:t>-s</a:t>
                      </a:r>
                      <a:endParaRPr lang="en-US" dirty="0"/>
                    </a:p>
                  </a:txBody>
                  <a:tcPr/>
                </a:tc>
                <a:extLst>
                  <a:ext uri="{0D108BD9-81ED-4DB2-BD59-A6C34878D82A}">
                    <a16:rowId xmlns:a16="http://schemas.microsoft.com/office/drawing/2014/main" val="3219356915"/>
                  </a:ext>
                </a:extLst>
              </a:tr>
              <a:tr h="240801">
                <a:tc>
                  <a:txBody>
                    <a:bodyPr/>
                    <a:lstStyle/>
                    <a:p>
                      <a:r>
                        <a:rPr lang="en-US" dirty="0" smtClean="0"/>
                        <a:t>Macro averaged F1</a:t>
                      </a:r>
                      <a:endParaRPr lang="en-US" dirty="0"/>
                    </a:p>
                  </a:txBody>
                  <a:tcPr/>
                </a:tc>
                <a:tc>
                  <a:txBody>
                    <a:bodyPr/>
                    <a:lstStyle/>
                    <a:p>
                      <a:r>
                        <a:rPr lang="en-US" dirty="0" smtClean="0"/>
                        <a:t>0.37</a:t>
                      </a:r>
                      <a:endParaRPr lang="en-US" dirty="0"/>
                    </a:p>
                  </a:txBody>
                  <a:tcPr/>
                </a:tc>
                <a:tc>
                  <a:txBody>
                    <a:bodyPr/>
                    <a:lstStyle/>
                    <a:p>
                      <a:r>
                        <a:rPr lang="en-US" dirty="0" smtClean="0"/>
                        <a:t>0.29</a:t>
                      </a:r>
                      <a:endParaRPr lang="en-US" dirty="0"/>
                    </a:p>
                  </a:txBody>
                  <a:tcPr/>
                </a:tc>
                <a:tc>
                  <a:txBody>
                    <a:bodyPr/>
                    <a:lstStyle/>
                    <a:p>
                      <a:r>
                        <a:rPr lang="en-US" dirty="0" smtClean="0"/>
                        <a:t>0.35</a:t>
                      </a:r>
                      <a:endParaRPr lang="en-US" dirty="0"/>
                    </a:p>
                  </a:txBody>
                  <a:tcPr/>
                </a:tc>
                <a:tc>
                  <a:txBody>
                    <a:bodyPr/>
                    <a:lstStyle/>
                    <a:p>
                      <a:r>
                        <a:rPr lang="en-US" dirty="0" smtClean="0"/>
                        <a:t>0.34</a:t>
                      </a:r>
                      <a:endParaRPr lang="en-US" dirty="0"/>
                    </a:p>
                  </a:txBody>
                  <a:tcPr/>
                </a:tc>
                <a:extLst>
                  <a:ext uri="{0D108BD9-81ED-4DB2-BD59-A6C34878D82A}">
                    <a16:rowId xmlns:a16="http://schemas.microsoft.com/office/drawing/2014/main" val="2371208109"/>
                  </a:ext>
                </a:extLst>
              </a:tr>
              <a:tr h="370840">
                <a:tc>
                  <a:txBody>
                    <a:bodyPr/>
                    <a:lstStyle/>
                    <a:p>
                      <a:r>
                        <a:rPr lang="en-US" dirty="0" smtClean="0"/>
                        <a:t>accuracy</a:t>
                      </a:r>
                      <a:endParaRPr lang="en-US" dirty="0"/>
                    </a:p>
                  </a:txBody>
                  <a:tcPr/>
                </a:tc>
                <a:tc>
                  <a:txBody>
                    <a:bodyPr/>
                    <a:lstStyle/>
                    <a:p>
                      <a:r>
                        <a:rPr lang="en-US" dirty="0" smtClean="0"/>
                        <a:t>0.42</a:t>
                      </a:r>
                      <a:endParaRPr lang="en-US" dirty="0"/>
                    </a:p>
                  </a:txBody>
                  <a:tcPr/>
                </a:tc>
                <a:tc>
                  <a:txBody>
                    <a:bodyPr/>
                    <a:lstStyle/>
                    <a:p>
                      <a:r>
                        <a:rPr lang="en-US" dirty="0" smtClean="0"/>
                        <a:t>0.31</a:t>
                      </a:r>
                      <a:endParaRPr lang="en-US" dirty="0"/>
                    </a:p>
                  </a:txBody>
                  <a:tcPr/>
                </a:tc>
                <a:tc>
                  <a:txBody>
                    <a:bodyPr/>
                    <a:lstStyle/>
                    <a:p>
                      <a:r>
                        <a:rPr lang="en-US" dirty="0" smtClean="0"/>
                        <a:t>0.39</a:t>
                      </a:r>
                      <a:endParaRPr lang="en-US" dirty="0"/>
                    </a:p>
                  </a:txBody>
                  <a:tcPr/>
                </a:tc>
                <a:tc>
                  <a:txBody>
                    <a:bodyPr/>
                    <a:lstStyle/>
                    <a:p>
                      <a:r>
                        <a:rPr lang="en-US" dirty="0" smtClean="0"/>
                        <a:t>0.38</a:t>
                      </a:r>
                      <a:endParaRPr lang="en-US" dirty="0"/>
                    </a:p>
                  </a:txBody>
                  <a:tcPr/>
                </a:tc>
                <a:extLst>
                  <a:ext uri="{0D108BD9-81ED-4DB2-BD59-A6C34878D82A}">
                    <a16:rowId xmlns:a16="http://schemas.microsoft.com/office/drawing/2014/main" val="1062630849"/>
                  </a:ext>
                </a:extLst>
              </a:tr>
            </a:tbl>
          </a:graphicData>
        </a:graphic>
      </p:graphicFrame>
      <p:sp>
        <p:nvSpPr>
          <p:cNvPr id="6" name="TextBox 5"/>
          <p:cNvSpPr txBox="1"/>
          <p:nvPr/>
        </p:nvSpPr>
        <p:spPr>
          <a:xfrm>
            <a:off x="609599" y="687093"/>
            <a:ext cx="5377543" cy="523220"/>
          </a:xfrm>
          <a:prstGeom prst="rect">
            <a:avLst/>
          </a:prstGeom>
          <a:noFill/>
        </p:spPr>
        <p:txBody>
          <a:bodyPr wrap="square" rtlCol="0">
            <a:spAutoFit/>
          </a:bodyPr>
          <a:lstStyle/>
          <a:p>
            <a:r>
              <a:rPr lang="en-US" dirty="0" smtClean="0"/>
              <a:t>Max of entailment probabilities of </a:t>
            </a:r>
            <a:r>
              <a:rPr lang="en-US" dirty="0"/>
              <a:t>synonyms (</a:t>
            </a:r>
            <a:r>
              <a:rPr lang="en-US" dirty="0" err="1"/>
              <a:t>Deberta</a:t>
            </a:r>
            <a:r>
              <a:rPr lang="en-US" dirty="0"/>
              <a:t> model)</a:t>
            </a: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012154699"/>
              </p:ext>
            </p:extLst>
          </p:nvPr>
        </p:nvGraphicFramePr>
        <p:xfrm>
          <a:off x="695778" y="3033807"/>
          <a:ext cx="6096000" cy="12598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537419094"/>
                    </a:ext>
                  </a:extLst>
                </a:gridCol>
                <a:gridCol w="1219200">
                  <a:extLst>
                    <a:ext uri="{9D8B030D-6E8A-4147-A177-3AD203B41FA5}">
                      <a16:colId xmlns:a16="http://schemas.microsoft.com/office/drawing/2014/main" val="3030130771"/>
                    </a:ext>
                  </a:extLst>
                </a:gridCol>
                <a:gridCol w="1219200">
                  <a:extLst>
                    <a:ext uri="{9D8B030D-6E8A-4147-A177-3AD203B41FA5}">
                      <a16:colId xmlns:a16="http://schemas.microsoft.com/office/drawing/2014/main" val="1860547080"/>
                    </a:ext>
                  </a:extLst>
                </a:gridCol>
                <a:gridCol w="1219200">
                  <a:extLst>
                    <a:ext uri="{9D8B030D-6E8A-4147-A177-3AD203B41FA5}">
                      <a16:colId xmlns:a16="http://schemas.microsoft.com/office/drawing/2014/main" val="2930093666"/>
                    </a:ext>
                  </a:extLst>
                </a:gridCol>
                <a:gridCol w="1219200">
                  <a:extLst>
                    <a:ext uri="{9D8B030D-6E8A-4147-A177-3AD203B41FA5}">
                      <a16:colId xmlns:a16="http://schemas.microsoft.com/office/drawing/2014/main" val="2642925187"/>
                    </a:ext>
                  </a:extLst>
                </a:gridCol>
              </a:tblGrid>
              <a:tr h="370840">
                <a:tc>
                  <a:txBody>
                    <a:bodyPr/>
                    <a:lstStyle/>
                    <a:p>
                      <a:endParaRPr lang="en-US" dirty="0"/>
                    </a:p>
                  </a:txBody>
                  <a:tcPr/>
                </a:tc>
                <a:tc>
                  <a:txBody>
                    <a:bodyPr/>
                    <a:lstStyle/>
                    <a:p>
                      <a:r>
                        <a:rPr lang="en-US" dirty="0" smtClean="0"/>
                        <a:t>Emo-s</a:t>
                      </a:r>
                      <a:endParaRPr lang="en-US" dirty="0"/>
                    </a:p>
                  </a:txBody>
                  <a:tcPr/>
                </a:tc>
                <a:tc>
                  <a:txBody>
                    <a:bodyPr/>
                    <a:lstStyle/>
                    <a:p>
                      <a:r>
                        <a:rPr lang="en-US" dirty="0" smtClean="0"/>
                        <a:t>Expr</a:t>
                      </a:r>
                      <a:r>
                        <a:rPr lang="en-US" baseline="0" dirty="0" smtClean="0"/>
                        <a:t>-s</a:t>
                      </a:r>
                      <a:endParaRPr lang="en-US" dirty="0"/>
                    </a:p>
                  </a:txBody>
                  <a:tcPr/>
                </a:tc>
                <a:tc>
                  <a:txBody>
                    <a:bodyPr/>
                    <a:lstStyle/>
                    <a:p>
                      <a:r>
                        <a:rPr lang="en-US" dirty="0" smtClean="0"/>
                        <a:t>Emotion-s</a:t>
                      </a:r>
                      <a:endParaRPr lang="en-US" dirty="0"/>
                    </a:p>
                  </a:txBody>
                  <a:tcPr/>
                </a:tc>
                <a:tc>
                  <a:txBody>
                    <a:bodyPr/>
                    <a:lstStyle/>
                    <a:p>
                      <a:r>
                        <a:rPr lang="en-US" dirty="0" smtClean="0"/>
                        <a:t>Feels</a:t>
                      </a:r>
                      <a:r>
                        <a:rPr lang="en-US" baseline="0" dirty="0" smtClean="0"/>
                        <a:t>-s</a:t>
                      </a:r>
                      <a:endParaRPr lang="en-US" dirty="0"/>
                    </a:p>
                  </a:txBody>
                  <a:tcPr/>
                </a:tc>
                <a:extLst>
                  <a:ext uri="{0D108BD9-81ED-4DB2-BD59-A6C34878D82A}">
                    <a16:rowId xmlns:a16="http://schemas.microsoft.com/office/drawing/2014/main" val="698447986"/>
                  </a:ext>
                </a:extLst>
              </a:tr>
              <a:tr h="240801">
                <a:tc>
                  <a:txBody>
                    <a:bodyPr/>
                    <a:lstStyle/>
                    <a:p>
                      <a:r>
                        <a:rPr lang="en-US" dirty="0" smtClean="0"/>
                        <a:t>Macro averaged F1</a:t>
                      </a:r>
                      <a:endParaRPr lang="en-US" dirty="0"/>
                    </a:p>
                  </a:txBody>
                  <a:tcPr/>
                </a:tc>
                <a:tc>
                  <a:txBody>
                    <a:bodyPr/>
                    <a:lstStyle/>
                    <a:p>
                      <a:r>
                        <a:rPr lang="en-US" dirty="0" smtClean="0"/>
                        <a:t>0.32</a:t>
                      </a:r>
                      <a:endParaRPr lang="en-US" dirty="0"/>
                    </a:p>
                  </a:txBody>
                  <a:tcPr/>
                </a:tc>
                <a:tc>
                  <a:txBody>
                    <a:bodyPr/>
                    <a:lstStyle/>
                    <a:p>
                      <a:r>
                        <a:rPr lang="en-US" dirty="0" smtClean="0"/>
                        <a:t>0.36</a:t>
                      </a:r>
                      <a:endParaRPr lang="en-US" dirty="0"/>
                    </a:p>
                  </a:txBody>
                  <a:tcPr/>
                </a:tc>
                <a:tc>
                  <a:txBody>
                    <a:bodyPr/>
                    <a:lstStyle/>
                    <a:p>
                      <a:r>
                        <a:rPr lang="en-US" dirty="0" smtClean="0"/>
                        <a:t>0.38</a:t>
                      </a:r>
                      <a:endParaRPr lang="en-US" dirty="0"/>
                    </a:p>
                  </a:txBody>
                  <a:tcPr/>
                </a:tc>
                <a:tc>
                  <a:txBody>
                    <a:bodyPr/>
                    <a:lstStyle/>
                    <a:p>
                      <a:r>
                        <a:rPr lang="en-US" dirty="0" smtClean="0"/>
                        <a:t>0.36</a:t>
                      </a:r>
                      <a:endParaRPr lang="en-US" dirty="0"/>
                    </a:p>
                  </a:txBody>
                  <a:tcPr/>
                </a:tc>
                <a:extLst>
                  <a:ext uri="{0D108BD9-81ED-4DB2-BD59-A6C34878D82A}">
                    <a16:rowId xmlns:a16="http://schemas.microsoft.com/office/drawing/2014/main" val="4184863874"/>
                  </a:ext>
                </a:extLst>
              </a:tr>
              <a:tr h="370840">
                <a:tc>
                  <a:txBody>
                    <a:bodyPr/>
                    <a:lstStyle/>
                    <a:p>
                      <a:r>
                        <a:rPr lang="en-US" dirty="0" smtClean="0"/>
                        <a:t>accuracy</a:t>
                      </a:r>
                      <a:endParaRPr lang="en-US" dirty="0"/>
                    </a:p>
                  </a:txBody>
                  <a:tcPr/>
                </a:tc>
                <a:tc>
                  <a:txBody>
                    <a:bodyPr/>
                    <a:lstStyle/>
                    <a:p>
                      <a:r>
                        <a:rPr lang="en-US" dirty="0" smtClean="0"/>
                        <a:t>0.36</a:t>
                      </a:r>
                      <a:endParaRPr lang="en-US" dirty="0"/>
                    </a:p>
                  </a:txBody>
                  <a:tcPr/>
                </a:tc>
                <a:tc>
                  <a:txBody>
                    <a:bodyPr/>
                    <a:lstStyle/>
                    <a:p>
                      <a:r>
                        <a:rPr lang="en-US" dirty="0" smtClean="0"/>
                        <a:t>0.41</a:t>
                      </a:r>
                      <a:endParaRPr lang="en-US" dirty="0"/>
                    </a:p>
                  </a:txBody>
                  <a:tcPr/>
                </a:tc>
                <a:tc>
                  <a:txBody>
                    <a:bodyPr/>
                    <a:lstStyle/>
                    <a:p>
                      <a:r>
                        <a:rPr lang="en-US" dirty="0" smtClean="0"/>
                        <a:t>0.41</a:t>
                      </a:r>
                      <a:endParaRPr lang="en-US" dirty="0"/>
                    </a:p>
                  </a:txBody>
                  <a:tcPr/>
                </a:tc>
                <a:tc>
                  <a:txBody>
                    <a:bodyPr/>
                    <a:lstStyle/>
                    <a:p>
                      <a:r>
                        <a:rPr lang="en-US" dirty="0" smtClean="0"/>
                        <a:t>0.41</a:t>
                      </a:r>
                      <a:endParaRPr lang="en-US" dirty="0"/>
                    </a:p>
                  </a:txBody>
                  <a:tcPr/>
                </a:tc>
                <a:extLst>
                  <a:ext uri="{0D108BD9-81ED-4DB2-BD59-A6C34878D82A}">
                    <a16:rowId xmlns:a16="http://schemas.microsoft.com/office/drawing/2014/main" val="2051877157"/>
                  </a:ext>
                </a:extLst>
              </a:tr>
            </a:tbl>
          </a:graphicData>
        </a:graphic>
      </p:graphicFrame>
      <p:sp>
        <p:nvSpPr>
          <p:cNvPr id="7" name="TextBox 6"/>
          <p:cNvSpPr txBox="1"/>
          <p:nvPr/>
        </p:nvSpPr>
        <p:spPr>
          <a:xfrm>
            <a:off x="609599" y="2712174"/>
            <a:ext cx="5377542" cy="738664"/>
          </a:xfrm>
          <a:prstGeom prst="rect">
            <a:avLst/>
          </a:prstGeom>
          <a:noFill/>
        </p:spPr>
        <p:txBody>
          <a:bodyPr wrap="square" rtlCol="0">
            <a:spAutoFit/>
          </a:bodyPr>
          <a:lstStyle/>
          <a:p>
            <a:r>
              <a:rPr lang="en-US" dirty="0" smtClean="0"/>
              <a:t>average </a:t>
            </a:r>
            <a:r>
              <a:rPr lang="en-US" dirty="0"/>
              <a:t>of entailment probabilities of synonyms (</a:t>
            </a:r>
            <a:r>
              <a:rPr lang="en-US" dirty="0" err="1"/>
              <a:t>Deberta</a:t>
            </a:r>
            <a:r>
              <a:rPr lang="en-US" dirty="0"/>
              <a:t> model)</a:t>
            </a:r>
          </a:p>
          <a:p>
            <a:endParaRPr lang="en-US" dirty="0"/>
          </a:p>
          <a:p>
            <a:endParaRPr lang="en-US" dirty="0"/>
          </a:p>
        </p:txBody>
      </p:sp>
      <p:sp>
        <p:nvSpPr>
          <p:cNvPr id="9" name="TextBox 8"/>
          <p:cNvSpPr txBox="1"/>
          <p:nvPr/>
        </p:nvSpPr>
        <p:spPr>
          <a:xfrm>
            <a:off x="311700" y="4405086"/>
            <a:ext cx="7946929" cy="523220"/>
          </a:xfrm>
          <a:prstGeom prst="rect">
            <a:avLst/>
          </a:prstGeom>
          <a:noFill/>
        </p:spPr>
        <p:txBody>
          <a:bodyPr wrap="square" rtlCol="0">
            <a:spAutoFit/>
          </a:bodyPr>
          <a:lstStyle/>
          <a:p>
            <a:r>
              <a:rPr lang="en-US" dirty="0" smtClean="0"/>
              <a:t>Using synonyms could not lead to improvements compared to using prompts of emotion names for Tec dataset.</a:t>
            </a:r>
            <a:endParaRPr lang="en-US" dirty="0"/>
          </a:p>
        </p:txBody>
      </p:sp>
    </p:spTree>
    <p:extLst>
      <p:ext uri="{BB962C8B-B14F-4D97-AF65-F5344CB8AC3E}">
        <p14:creationId xmlns:p14="http://schemas.microsoft.com/office/powerpoint/2010/main" val="31355006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The results of using synonyms regarding labels (</a:t>
            </a:r>
            <a:r>
              <a:rPr lang="en-US" b="1" dirty="0" err="1" smtClean="0"/>
              <a:t>Isear</a:t>
            </a:r>
            <a:r>
              <a:rPr lang="en-US" b="1" dirty="0" smtClean="0"/>
              <a:t> dataset)</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8</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2893459381"/>
              </p:ext>
            </p:extLst>
          </p:nvPr>
        </p:nvGraphicFramePr>
        <p:xfrm>
          <a:off x="601631" y="1840904"/>
          <a:ext cx="7242494" cy="741680"/>
        </p:xfrm>
        <a:graphic>
          <a:graphicData uri="http://schemas.openxmlformats.org/drawingml/2006/table">
            <a:tbl>
              <a:tblPr firstRow="1" bandRow="1">
                <a:tableStyleId>{5C22544A-7EE6-4342-B048-85BDC9FD1C3A}</a:tableStyleId>
              </a:tblPr>
              <a:tblGrid>
                <a:gridCol w="932543">
                  <a:extLst>
                    <a:ext uri="{9D8B030D-6E8A-4147-A177-3AD203B41FA5}">
                      <a16:colId xmlns:a16="http://schemas.microsoft.com/office/drawing/2014/main" val="1079165634"/>
                    </a:ext>
                  </a:extLst>
                </a:gridCol>
                <a:gridCol w="714693">
                  <a:extLst>
                    <a:ext uri="{9D8B030D-6E8A-4147-A177-3AD203B41FA5}">
                      <a16:colId xmlns:a16="http://schemas.microsoft.com/office/drawing/2014/main" val="3164245627"/>
                    </a:ext>
                  </a:extLst>
                </a:gridCol>
                <a:gridCol w="932543">
                  <a:extLst>
                    <a:ext uri="{9D8B030D-6E8A-4147-A177-3AD203B41FA5}">
                      <a16:colId xmlns:a16="http://schemas.microsoft.com/office/drawing/2014/main" val="827819565"/>
                    </a:ext>
                  </a:extLst>
                </a:gridCol>
                <a:gridCol w="932543">
                  <a:extLst>
                    <a:ext uri="{9D8B030D-6E8A-4147-A177-3AD203B41FA5}">
                      <a16:colId xmlns:a16="http://schemas.microsoft.com/office/drawing/2014/main" val="3902983307"/>
                    </a:ext>
                  </a:extLst>
                </a:gridCol>
                <a:gridCol w="932543">
                  <a:extLst>
                    <a:ext uri="{9D8B030D-6E8A-4147-A177-3AD203B41FA5}">
                      <a16:colId xmlns:a16="http://schemas.microsoft.com/office/drawing/2014/main" val="2371871515"/>
                    </a:ext>
                  </a:extLst>
                </a:gridCol>
                <a:gridCol w="932543">
                  <a:extLst>
                    <a:ext uri="{9D8B030D-6E8A-4147-A177-3AD203B41FA5}">
                      <a16:colId xmlns:a16="http://schemas.microsoft.com/office/drawing/2014/main" val="523091873"/>
                    </a:ext>
                  </a:extLst>
                </a:gridCol>
                <a:gridCol w="932543">
                  <a:extLst>
                    <a:ext uri="{9D8B030D-6E8A-4147-A177-3AD203B41FA5}">
                      <a16:colId xmlns:a16="http://schemas.microsoft.com/office/drawing/2014/main" val="3182365904"/>
                    </a:ext>
                  </a:extLst>
                </a:gridCol>
                <a:gridCol w="932543">
                  <a:extLst>
                    <a:ext uri="{9D8B030D-6E8A-4147-A177-3AD203B41FA5}">
                      <a16:colId xmlns:a16="http://schemas.microsoft.com/office/drawing/2014/main" val="2833262073"/>
                    </a:ext>
                  </a:extLst>
                </a:gridCol>
              </a:tblGrid>
              <a:tr h="37084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1229853856"/>
                  </a:ext>
                </a:extLst>
              </a:tr>
              <a:tr h="370840">
                <a:tc>
                  <a:txBody>
                    <a:bodyPr/>
                    <a:lstStyle/>
                    <a:p>
                      <a:r>
                        <a:rPr lang="en-US" dirty="0" smtClean="0"/>
                        <a:t>F1 score</a:t>
                      </a:r>
                      <a:endParaRPr lang="en-US" dirty="0"/>
                    </a:p>
                  </a:txBody>
                  <a:tcPr/>
                </a:tc>
                <a:tc>
                  <a:txBody>
                    <a:bodyPr/>
                    <a:lstStyle/>
                    <a:p>
                      <a:r>
                        <a:rPr lang="en-US" dirty="0" smtClean="0"/>
                        <a:t>0.51</a:t>
                      </a:r>
                      <a:endParaRPr lang="en-US" dirty="0"/>
                    </a:p>
                  </a:txBody>
                  <a:tcPr/>
                </a:tc>
                <a:tc>
                  <a:txBody>
                    <a:bodyPr/>
                    <a:lstStyle/>
                    <a:p>
                      <a:r>
                        <a:rPr lang="en-US" dirty="0" smtClean="0"/>
                        <a:t>0.52</a:t>
                      </a:r>
                      <a:endParaRPr lang="en-US" dirty="0"/>
                    </a:p>
                  </a:txBody>
                  <a:tcPr/>
                </a:tc>
                <a:tc>
                  <a:txBody>
                    <a:bodyPr/>
                    <a:lstStyle/>
                    <a:p>
                      <a:r>
                        <a:rPr lang="en-US" dirty="0" smtClean="0"/>
                        <a:t>0.75</a:t>
                      </a:r>
                      <a:endParaRPr lang="en-US" dirty="0"/>
                    </a:p>
                  </a:txBody>
                  <a:tcPr/>
                </a:tc>
                <a:tc>
                  <a:txBody>
                    <a:bodyPr/>
                    <a:lstStyle/>
                    <a:p>
                      <a:r>
                        <a:rPr lang="en-US" dirty="0" smtClean="0"/>
                        <a:t>0.51</a:t>
                      </a:r>
                      <a:endParaRPr lang="en-US" dirty="0"/>
                    </a:p>
                  </a:txBody>
                  <a:tcPr/>
                </a:tc>
                <a:tc>
                  <a:txBody>
                    <a:bodyPr/>
                    <a:lstStyle/>
                    <a:p>
                      <a:r>
                        <a:rPr lang="en-US" dirty="0" smtClean="0"/>
                        <a:t>0.91</a:t>
                      </a:r>
                      <a:endParaRPr lang="en-US" dirty="0"/>
                    </a:p>
                  </a:txBody>
                  <a:tcPr/>
                </a:tc>
                <a:tc>
                  <a:txBody>
                    <a:bodyPr/>
                    <a:lstStyle/>
                    <a:p>
                      <a:r>
                        <a:rPr lang="en-US" dirty="0" smtClean="0"/>
                        <a:t>0.73</a:t>
                      </a:r>
                      <a:endParaRPr lang="en-US" dirty="0"/>
                    </a:p>
                  </a:txBody>
                  <a:tcPr/>
                </a:tc>
                <a:tc>
                  <a:txBody>
                    <a:bodyPr/>
                    <a:lstStyle/>
                    <a:p>
                      <a:r>
                        <a:rPr lang="en-US" dirty="0" smtClean="0"/>
                        <a:t>0.49</a:t>
                      </a:r>
                      <a:endParaRPr lang="en-US" dirty="0"/>
                    </a:p>
                  </a:txBody>
                  <a:tcPr/>
                </a:tc>
                <a:extLst>
                  <a:ext uri="{0D108BD9-81ED-4DB2-BD59-A6C34878D82A}">
                    <a16:rowId xmlns:a16="http://schemas.microsoft.com/office/drawing/2014/main" val="209084462"/>
                  </a:ext>
                </a:extLst>
              </a:tr>
            </a:tbl>
          </a:graphicData>
        </a:graphic>
      </p:graphicFrame>
      <p:sp>
        <p:nvSpPr>
          <p:cNvPr id="7" name="TextBox 6"/>
          <p:cNvSpPr txBox="1"/>
          <p:nvPr/>
        </p:nvSpPr>
        <p:spPr>
          <a:xfrm>
            <a:off x="601630" y="1336192"/>
            <a:ext cx="7680007" cy="307777"/>
          </a:xfrm>
          <a:prstGeom prst="rect">
            <a:avLst/>
          </a:prstGeom>
          <a:noFill/>
        </p:spPr>
        <p:txBody>
          <a:bodyPr wrap="square" rtlCol="0">
            <a:spAutoFit/>
          </a:bodyPr>
          <a:lstStyle/>
          <a:p>
            <a:r>
              <a:rPr lang="en-US" dirty="0" smtClean="0"/>
              <a:t>Results regarding labels when using average of entailment probabilities (emotion-s prompt)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30747151"/>
              </p:ext>
            </p:extLst>
          </p:nvPr>
        </p:nvGraphicFramePr>
        <p:xfrm>
          <a:off x="660393" y="3241185"/>
          <a:ext cx="7242496" cy="741680"/>
        </p:xfrm>
        <a:graphic>
          <a:graphicData uri="http://schemas.openxmlformats.org/drawingml/2006/table">
            <a:tbl>
              <a:tblPr firstRow="1" bandRow="1">
                <a:tableStyleId>{5C22544A-7EE6-4342-B048-85BDC9FD1C3A}</a:tableStyleId>
              </a:tblPr>
              <a:tblGrid>
                <a:gridCol w="905312">
                  <a:extLst>
                    <a:ext uri="{9D8B030D-6E8A-4147-A177-3AD203B41FA5}">
                      <a16:colId xmlns:a16="http://schemas.microsoft.com/office/drawing/2014/main" val="1825694125"/>
                    </a:ext>
                  </a:extLst>
                </a:gridCol>
                <a:gridCol w="905312">
                  <a:extLst>
                    <a:ext uri="{9D8B030D-6E8A-4147-A177-3AD203B41FA5}">
                      <a16:colId xmlns:a16="http://schemas.microsoft.com/office/drawing/2014/main" val="2393783958"/>
                    </a:ext>
                  </a:extLst>
                </a:gridCol>
                <a:gridCol w="905312">
                  <a:extLst>
                    <a:ext uri="{9D8B030D-6E8A-4147-A177-3AD203B41FA5}">
                      <a16:colId xmlns:a16="http://schemas.microsoft.com/office/drawing/2014/main" val="3937578712"/>
                    </a:ext>
                  </a:extLst>
                </a:gridCol>
                <a:gridCol w="905312">
                  <a:extLst>
                    <a:ext uri="{9D8B030D-6E8A-4147-A177-3AD203B41FA5}">
                      <a16:colId xmlns:a16="http://schemas.microsoft.com/office/drawing/2014/main" val="15711771"/>
                    </a:ext>
                  </a:extLst>
                </a:gridCol>
                <a:gridCol w="905312">
                  <a:extLst>
                    <a:ext uri="{9D8B030D-6E8A-4147-A177-3AD203B41FA5}">
                      <a16:colId xmlns:a16="http://schemas.microsoft.com/office/drawing/2014/main" val="4068665517"/>
                    </a:ext>
                  </a:extLst>
                </a:gridCol>
                <a:gridCol w="905312">
                  <a:extLst>
                    <a:ext uri="{9D8B030D-6E8A-4147-A177-3AD203B41FA5}">
                      <a16:colId xmlns:a16="http://schemas.microsoft.com/office/drawing/2014/main" val="1759001837"/>
                    </a:ext>
                  </a:extLst>
                </a:gridCol>
                <a:gridCol w="905312">
                  <a:extLst>
                    <a:ext uri="{9D8B030D-6E8A-4147-A177-3AD203B41FA5}">
                      <a16:colId xmlns:a16="http://schemas.microsoft.com/office/drawing/2014/main" val="2730667634"/>
                    </a:ext>
                  </a:extLst>
                </a:gridCol>
                <a:gridCol w="905312">
                  <a:extLst>
                    <a:ext uri="{9D8B030D-6E8A-4147-A177-3AD203B41FA5}">
                      <a16:colId xmlns:a16="http://schemas.microsoft.com/office/drawing/2014/main" val="3190534737"/>
                    </a:ext>
                  </a:extLst>
                </a:gridCol>
              </a:tblGrid>
              <a:tr h="37084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3849779877"/>
                  </a:ext>
                </a:extLst>
              </a:tr>
              <a:tr h="370840">
                <a:tc>
                  <a:txBody>
                    <a:bodyPr/>
                    <a:lstStyle/>
                    <a:p>
                      <a:r>
                        <a:rPr lang="en-US" dirty="0" smtClean="0"/>
                        <a:t>F1 score</a:t>
                      </a:r>
                      <a:endParaRPr lang="en-US" dirty="0"/>
                    </a:p>
                  </a:txBody>
                  <a:tcPr/>
                </a:tc>
                <a:tc>
                  <a:txBody>
                    <a:bodyPr/>
                    <a:lstStyle/>
                    <a:p>
                      <a:r>
                        <a:rPr lang="en-US" dirty="0" smtClean="0"/>
                        <a:t>0.49</a:t>
                      </a:r>
                      <a:endParaRPr lang="en-US" dirty="0"/>
                    </a:p>
                  </a:txBody>
                  <a:tcPr/>
                </a:tc>
                <a:tc>
                  <a:txBody>
                    <a:bodyPr/>
                    <a:lstStyle/>
                    <a:p>
                      <a:r>
                        <a:rPr lang="en-US" dirty="0" smtClean="0"/>
                        <a:t>0.53</a:t>
                      </a:r>
                      <a:endParaRPr lang="en-US" dirty="0"/>
                    </a:p>
                  </a:txBody>
                  <a:tcPr/>
                </a:tc>
                <a:tc>
                  <a:txBody>
                    <a:bodyPr/>
                    <a:lstStyle/>
                    <a:p>
                      <a:r>
                        <a:rPr lang="en-US" dirty="0" smtClean="0"/>
                        <a:t>0.72</a:t>
                      </a:r>
                      <a:endParaRPr lang="en-US" dirty="0"/>
                    </a:p>
                  </a:txBody>
                  <a:tcPr/>
                </a:tc>
                <a:tc>
                  <a:txBody>
                    <a:bodyPr/>
                    <a:lstStyle/>
                    <a:p>
                      <a:r>
                        <a:rPr lang="en-US" dirty="0" smtClean="0"/>
                        <a:t>0.5</a:t>
                      </a:r>
                      <a:endParaRPr lang="en-US" dirty="0"/>
                    </a:p>
                  </a:txBody>
                  <a:tcPr/>
                </a:tc>
                <a:tc>
                  <a:txBody>
                    <a:bodyPr/>
                    <a:lstStyle/>
                    <a:p>
                      <a:r>
                        <a:rPr lang="en-US" dirty="0" smtClean="0"/>
                        <a:t>0.86</a:t>
                      </a:r>
                      <a:endParaRPr lang="en-US" dirty="0"/>
                    </a:p>
                  </a:txBody>
                  <a:tcPr/>
                </a:tc>
                <a:tc>
                  <a:txBody>
                    <a:bodyPr/>
                    <a:lstStyle/>
                    <a:p>
                      <a:r>
                        <a:rPr lang="en-US" dirty="0" smtClean="0"/>
                        <a:t>0.65</a:t>
                      </a:r>
                      <a:endParaRPr lang="en-US" dirty="0"/>
                    </a:p>
                  </a:txBody>
                  <a:tcPr/>
                </a:tc>
                <a:tc>
                  <a:txBody>
                    <a:bodyPr/>
                    <a:lstStyle/>
                    <a:p>
                      <a:r>
                        <a:rPr lang="en-US" dirty="0" smtClean="0"/>
                        <a:t>0.45</a:t>
                      </a:r>
                      <a:endParaRPr lang="en-US" dirty="0"/>
                    </a:p>
                  </a:txBody>
                  <a:tcPr/>
                </a:tc>
                <a:extLst>
                  <a:ext uri="{0D108BD9-81ED-4DB2-BD59-A6C34878D82A}">
                    <a16:rowId xmlns:a16="http://schemas.microsoft.com/office/drawing/2014/main" val="3483257749"/>
                  </a:ext>
                </a:extLst>
              </a:tr>
            </a:tbl>
          </a:graphicData>
        </a:graphic>
      </p:graphicFrame>
      <p:sp>
        <p:nvSpPr>
          <p:cNvPr id="9" name="TextBox 8"/>
          <p:cNvSpPr txBox="1"/>
          <p:nvPr/>
        </p:nvSpPr>
        <p:spPr>
          <a:xfrm>
            <a:off x="601631" y="2779519"/>
            <a:ext cx="7300551" cy="307777"/>
          </a:xfrm>
          <a:prstGeom prst="rect">
            <a:avLst/>
          </a:prstGeom>
          <a:noFill/>
        </p:spPr>
        <p:txBody>
          <a:bodyPr wrap="square" rtlCol="0">
            <a:spAutoFit/>
          </a:bodyPr>
          <a:lstStyle/>
          <a:p>
            <a:r>
              <a:rPr lang="en-US" dirty="0"/>
              <a:t>Results regarding labels when using </a:t>
            </a:r>
            <a:r>
              <a:rPr lang="en-US" dirty="0" smtClean="0"/>
              <a:t>Max </a:t>
            </a:r>
            <a:r>
              <a:rPr lang="en-US" dirty="0"/>
              <a:t>of entailment </a:t>
            </a:r>
            <a:r>
              <a:rPr lang="en-US" dirty="0" smtClean="0"/>
              <a:t>probabilities (emotion-s prompt)</a:t>
            </a:r>
            <a:endParaRPr lang="en-US" dirty="0"/>
          </a:p>
        </p:txBody>
      </p:sp>
      <p:sp>
        <p:nvSpPr>
          <p:cNvPr id="10" name="TextBox 9"/>
          <p:cNvSpPr txBox="1"/>
          <p:nvPr/>
        </p:nvSpPr>
        <p:spPr>
          <a:xfrm>
            <a:off x="951571" y="3982865"/>
            <a:ext cx="5084956" cy="307777"/>
          </a:xfrm>
          <a:prstGeom prst="rect">
            <a:avLst/>
          </a:prstGeom>
          <a:noFill/>
        </p:spPr>
        <p:txBody>
          <a:bodyPr wrap="square" rtlCol="0">
            <a:spAutoFit/>
          </a:bodyPr>
          <a:lstStyle/>
          <a:p>
            <a:r>
              <a:rPr lang="en-US" dirty="0" smtClean="0"/>
              <a:t> </a:t>
            </a:r>
            <a:endParaRPr lang="en-US" dirty="0"/>
          </a:p>
        </p:txBody>
      </p:sp>
      <p:sp>
        <p:nvSpPr>
          <p:cNvPr id="3" name="TextBox 2"/>
          <p:cNvSpPr txBox="1"/>
          <p:nvPr/>
        </p:nvSpPr>
        <p:spPr>
          <a:xfrm>
            <a:off x="558307" y="832697"/>
            <a:ext cx="7621243" cy="307777"/>
          </a:xfrm>
          <a:prstGeom prst="rect">
            <a:avLst/>
          </a:prstGeom>
          <a:noFill/>
        </p:spPr>
        <p:txBody>
          <a:bodyPr wrap="square" rtlCol="0">
            <a:spAutoFit/>
          </a:bodyPr>
          <a:lstStyle/>
          <a:p>
            <a:r>
              <a:rPr lang="en-US" dirty="0" smtClean="0"/>
              <a:t>I checked the F1-score of labels for the result of the prompt that had the best performance.</a:t>
            </a:r>
            <a:endParaRPr lang="en-US" dirty="0"/>
          </a:p>
        </p:txBody>
      </p:sp>
    </p:spTree>
    <p:extLst>
      <p:ext uri="{BB962C8B-B14F-4D97-AF65-F5344CB8AC3E}">
        <p14:creationId xmlns:p14="http://schemas.microsoft.com/office/powerpoint/2010/main" val="1602018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The results of using synonyms regarding </a:t>
            </a:r>
            <a:r>
              <a:rPr lang="en-US" b="1" dirty="0" smtClean="0"/>
              <a:t>labels (Tec dataset)</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9</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3071065671"/>
              </p:ext>
            </p:extLst>
          </p:nvPr>
        </p:nvGraphicFramePr>
        <p:xfrm>
          <a:off x="812797" y="1333947"/>
          <a:ext cx="6727372" cy="795200"/>
        </p:xfrm>
        <a:graphic>
          <a:graphicData uri="http://schemas.openxmlformats.org/drawingml/2006/table">
            <a:tbl>
              <a:tblPr firstRow="1" bandRow="1">
                <a:tableStyleId>{5C22544A-7EE6-4342-B048-85BDC9FD1C3A}</a:tableStyleId>
              </a:tblPr>
              <a:tblGrid>
                <a:gridCol w="1017117">
                  <a:extLst>
                    <a:ext uri="{9D8B030D-6E8A-4147-A177-3AD203B41FA5}">
                      <a16:colId xmlns:a16="http://schemas.microsoft.com/office/drawing/2014/main" val="1617335995"/>
                    </a:ext>
                  </a:extLst>
                </a:gridCol>
                <a:gridCol w="904990">
                  <a:extLst>
                    <a:ext uri="{9D8B030D-6E8A-4147-A177-3AD203B41FA5}">
                      <a16:colId xmlns:a16="http://schemas.microsoft.com/office/drawing/2014/main" val="833956930"/>
                    </a:ext>
                  </a:extLst>
                </a:gridCol>
                <a:gridCol w="961053">
                  <a:extLst>
                    <a:ext uri="{9D8B030D-6E8A-4147-A177-3AD203B41FA5}">
                      <a16:colId xmlns:a16="http://schemas.microsoft.com/office/drawing/2014/main" val="647602862"/>
                    </a:ext>
                  </a:extLst>
                </a:gridCol>
                <a:gridCol w="961053">
                  <a:extLst>
                    <a:ext uri="{9D8B030D-6E8A-4147-A177-3AD203B41FA5}">
                      <a16:colId xmlns:a16="http://schemas.microsoft.com/office/drawing/2014/main" val="702179215"/>
                    </a:ext>
                  </a:extLst>
                </a:gridCol>
                <a:gridCol w="961053">
                  <a:extLst>
                    <a:ext uri="{9D8B030D-6E8A-4147-A177-3AD203B41FA5}">
                      <a16:colId xmlns:a16="http://schemas.microsoft.com/office/drawing/2014/main" val="3475015893"/>
                    </a:ext>
                  </a:extLst>
                </a:gridCol>
                <a:gridCol w="961053">
                  <a:extLst>
                    <a:ext uri="{9D8B030D-6E8A-4147-A177-3AD203B41FA5}">
                      <a16:colId xmlns:a16="http://schemas.microsoft.com/office/drawing/2014/main" val="1070509790"/>
                    </a:ext>
                  </a:extLst>
                </a:gridCol>
                <a:gridCol w="961053">
                  <a:extLst>
                    <a:ext uri="{9D8B030D-6E8A-4147-A177-3AD203B41FA5}">
                      <a16:colId xmlns:a16="http://schemas.microsoft.com/office/drawing/2014/main" val="3719069963"/>
                    </a:ext>
                  </a:extLst>
                </a:gridCol>
              </a:tblGrid>
              <a:tr h="42436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2196563325"/>
                  </a:ext>
                </a:extLst>
              </a:tr>
              <a:tr h="370840">
                <a:tc>
                  <a:txBody>
                    <a:bodyPr/>
                    <a:lstStyle/>
                    <a:p>
                      <a:r>
                        <a:rPr lang="en-US" dirty="0" smtClean="0"/>
                        <a:t>F1 score</a:t>
                      </a:r>
                      <a:endParaRPr lang="en-US" dirty="0"/>
                    </a:p>
                  </a:txBody>
                  <a:tcPr/>
                </a:tc>
                <a:tc>
                  <a:txBody>
                    <a:bodyPr/>
                    <a:lstStyle/>
                    <a:p>
                      <a:r>
                        <a:rPr lang="en-US" dirty="0" smtClean="0"/>
                        <a:t>0.29</a:t>
                      </a:r>
                      <a:endParaRPr lang="en-US" dirty="0"/>
                    </a:p>
                  </a:txBody>
                  <a:tcPr/>
                </a:tc>
                <a:tc>
                  <a:txBody>
                    <a:bodyPr/>
                    <a:lstStyle/>
                    <a:p>
                      <a:r>
                        <a:rPr lang="en-US" dirty="0" smtClean="0"/>
                        <a:t>0.26</a:t>
                      </a:r>
                      <a:endParaRPr lang="en-US" dirty="0"/>
                    </a:p>
                  </a:txBody>
                  <a:tcPr/>
                </a:tc>
                <a:tc>
                  <a:txBody>
                    <a:bodyPr/>
                    <a:lstStyle/>
                    <a:p>
                      <a:r>
                        <a:rPr lang="en-US" dirty="0" smtClean="0"/>
                        <a:t>0.37</a:t>
                      </a:r>
                      <a:endParaRPr lang="en-US" dirty="0"/>
                    </a:p>
                  </a:txBody>
                  <a:tcPr/>
                </a:tc>
                <a:tc>
                  <a:txBody>
                    <a:bodyPr/>
                    <a:lstStyle/>
                    <a:p>
                      <a:r>
                        <a:rPr lang="en-US" dirty="0" smtClean="0"/>
                        <a:t>0.48</a:t>
                      </a:r>
                      <a:endParaRPr lang="en-US" dirty="0"/>
                    </a:p>
                  </a:txBody>
                  <a:tcPr/>
                </a:tc>
                <a:tc>
                  <a:txBody>
                    <a:bodyPr/>
                    <a:lstStyle/>
                    <a:p>
                      <a:r>
                        <a:rPr lang="en-US" dirty="0" smtClean="0"/>
                        <a:t>0.36</a:t>
                      </a:r>
                      <a:endParaRPr lang="en-US" dirty="0"/>
                    </a:p>
                  </a:txBody>
                  <a:tcPr/>
                </a:tc>
                <a:tc>
                  <a:txBody>
                    <a:bodyPr/>
                    <a:lstStyle/>
                    <a:p>
                      <a:r>
                        <a:rPr lang="en-US" dirty="0" smtClean="0"/>
                        <a:t>0.37</a:t>
                      </a:r>
                      <a:endParaRPr lang="en-US" dirty="0"/>
                    </a:p>
                  </a:txBody>
                  <a:tcPr/>
                </a:tc>
                <a:extLst>
                  <a:ext uri="{0D108BD9-81ED-4DB2-BD59-A6C34878D82A}">
                    <a16:rowId xmlns:a16="http://schemas.microsoft.com/office/drawing/2014/main" val="2954990485"/>
                  </a:ext>
                </a:extLst>
              </a:tr>
            </a:tbl>
          </a:graphicData>
        </a:graphic>
      </p:graphicFrame>
      <p:sp>
        <p:nvSpPr>
          <p:cNvPr id="6" name="Rectangle 5"/>
          <p:cNvSpPr/>
          <p:nvPr/>
        </p:nvSpPr>
        <p:spPr>
          <a:xfrm>
            <a:off x="732969" y="763459"/>
            <a:ext cx="7556104" cy="307777"/>
          </a:xfrm>
          <a:prstGeom prst="rect">
            <a:avLst/>
          </a:prstGeom>
        </p:spPr>
        <p:txBody>
          <a:bodyPr wrap="square">
            <a:spAutoFit/>
          </a:bodyPr>
          <a:lstStyle/>
          <a:p>
            <a:r>
              <a:rPr lang="en-US" dirty="0" smtClean="0"/>
              <a:t>Results regarding labels when using </a:t>
            </a:r>
            <a:r>
              <a:rPr lang="en-US" dirty="0"/>
              <a:t>average of entailment probabilities</a:t>
            </a:r>
            <a:r>
              <a:rPr lang="en-US" dirty="0" smtClean="0"/>
              <a:t> (</a:t>
            </a:r>
            <a:r>
              <a:rPr lang="en-US" dirty="0" err="1" smtClean="0"/>
              <a:t>emotion_s</a:t>
            </a:r>
            <a:r>
              <a:rPr lang="en-US" dirty="0" smtClean="0"/>
              <a:t> prompt)</a:t>
            </a:r>
            <a:endParaRPr lang="en-US" dirty="0"/>
          </a:p>
        </p:txBody>
      </p:sp>
      <p:sp>
        <p:nvSpPr>
          <p:cNvPr id="7" name="Rectangle 6"/>
          <p:cNvSpPr/>
          <p:nvPr/>
        </p:nvSpPr>
        <p:spPr>
          <a:xfrm>
            <a:off x="812797" y="2554286"/>
            <a:ext cx="7301436" cy="307777"/>
          </a:xfrm>
          <a:prstGeom prst="rect">
            <a:avLst/>
          </a:prstGeom>
        </p:spPr>
        <p:txBody>
          <a:bodyPr wrap="square">
            <a:spAutoFit/>
          </a:bodyPr>
          <a:lstStyle/>
          <a:p>
            <a:r>
              <a:rPr lang="en-US" dirty="0"/>
              <a:t>Results regarding labels when using </a:t>
            </a:r>
            <a:r>
              <a:rPr lang="en-US" dirty="0" smtClean="0"/>
              <a:t>Max </a:t>
            </a:r>
            <a:r>
              <a:rPr lang="en-US" dirty="0"/>
              <a:t>of entailment </a:t>
            </a:r>
            <a:r>
              <a:rPr lang="en-US" dirty="0" smtClean="0"/>
              <a:t>probabilities</a:t>
            </a:r>
            <a:r>
              <a:rPr lang="en-US" dirty="0"/>
              <a:t> </a:t>
            </a:r>
            <a:r>
              <a:rPr lang="en-US" dirty="0" smtClean="0"/>
              <a:t>(</a:t>
            </a:r>
            <a:r>
              <a:rPr lang="en-US" dirty="0" err="1" smtClean="0"/>
              <a:t>emo_s</a:t>
            </a:r>
            <a:r>
              <a:rPr lang="en-US" dirty="0" smtClean="0"/>
              <a:t> prompt)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43124886"/>
              </p:ext>
            </p:extLst>
          </p:nvPr>
        </p:nvGraphicFramePr>
        <p:xfrm>
          <a:off x="812797" y="3106876"/>
          <a:ext cx="6727372" cy="795200"/>
        </p:xfrm>
        <a:graphic>
          <a:graphicData uri="http://schemas.openxmlformats.org/drawingml/2006/table">
            <a:tbl>
              <a:tblPr firstRow="1" bandRow="1">
                <a:tableStyleId>{5C22544A-7EE6-4342-B048-85BDC9FD1C3A}</a:tableStyleId>
              </a:tblPr>
              <a:tblGrid>
                <a:gridCol w="1017117">
                  <a:extLst>
                    <a:ext uri="{9D8B030D-6E8A-4147-A177-3AD203B41FA5}">
                      <a16:colId xmlns:a16="http://schemas.microsoft.com/office/drawing/2014/main" val="331443318"/>
                    </a:ext>
                  </a:extLst>
                </a:gridCol>
                <a:gridCol w="904990">
                  <a:extLst>
                    <a:ext uri="{9D8B030D-6E8A-4147-A177-3AD203B41FA5}">
                      <a16:colId xmlns:a16="http://schemas.microsoft.com/office/drawing/2014/main" val="856566012"/>
                    </a:ext>
                  </a:extLst>
                </a:gridCol>
                <a:gridCol w="961053">
                  <a:extLst>
                    <a:ext uri="{9D8B030D-6E8A-4147-A177-3AD203B41FA5}">
                      <a16:colId xmlns:a16="http://schemas.microsoft.com/office/drawing/2014/main" val="3321209531"/>
                    </a:ext>
                  </a:extLst>
                </a:gridCol>
                <a:gridCol w="961053">
                  <a:extLst>
                    <a:ext uri="{9D8B030D-6E8A-4147-A177-3AD203B41FA5}">
                      <a16:colId xmlns:a16="http://schemas.microsoft.com/office/drawing/2014/main" val="1520628528"/>
                    </a:ext>
                  </a:extLst>
                </a:gridCol>
                <a:gridCol w="961053">
                  <a:extLst>
                    <a:ext uri="{9D8B030D-6E8A-4147-A177-3AD203B41FA5}">
                      <a16:colId xmlns:a16="http://schemas.microsoft.com/office/drawing/2014/main" val="2151422786"/>
                    </a:ext>
                  </a:extLst>
                </a:gridCol>
                <a:gridCol w="961053">
                  <a:extLst>
                    <a:ext uri="{9D8B030D-6E8A-4147-A177-3AD203B41FA5}">
                      <a16:colId xmlns:a16="http://schemas.microsoft.com/office/drawing/2014/main" val="1834094420"/>
                    </a:ext>
                  </a:extLst>
                </a:gridCol>
                <a:gridCol w="961053">
                  <a:extLst>
                    <a:ext uri="{9D8B030D-6E8A-4147-A177-3AD203B41FA5}">
                      <a16:colId xmlns:a16="http://schemas.microsoft.com/office/drawing/2014/main" val="3250908742"/>
                    </a:ext>
                  </a:extLst>
                </a:gridCol>
              </a:tblGrid>
              <a:tr h="42436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1166651222"/>
                  </a:ext>
                </a:extLst>
              </a:tr>
              <a:tr h="370840">
                <a:tc>
                  <a:txBody>
                    <a:bodyPr/>
                    <a:lstStyle/>
                    <a:p>
                      <a:r>
                        <a:rPr lang="en-US" dirty="0" smtClean="0"/>
                        <a:t>F1 score</a:t>
                      </a:r>
                      <a:endParaRPr lang="en-US" dirty="0"/>
                    </a:p>
                  </a:txBody>
                  <a:tcPr/>
                </a:tc>
                <a:tc>
                  <a:txBody>
                    <a:bodyPr/>
                    <a:lstStyle/>
                    <a:p>
                      <a:r>
                        <a:rPr lang="en-US" dirty="0" smtClean="0"/>
                        <a:t>0.37</a:t>
                      </a:r>
                      <a:endParaRPr lang="en-US" dirty="0"/>
                    </a:p>
                  </a:txBody>
                  <a:tcPr/>
                </a:tc>
                <a:tc>
                  <a:txBody>
                    <a:bodyPr/>
                    <a:lstStyle/>
                    <a:p>
                      <a:r>
                        <a:rPr lang="en-US" dirty="0" smtClean="0"/>
                        <a:t>0.22</a:t>
                      </a:r>
                      <a:endParaRPr lang="en-US" dirty="0"/>
                    </a:p>
                  </a:txBody>
                  <a:tcPr/>
                </a:tc>
                <a:tc>
                  <a:txBody>
                    <a:bodyPr/>
                    <a:lstStyle/>
                    <a:p>
                      <a:r>
                        <a:rPr lang="en-US" dirty="0" smtClean="0"/>
                        <a:t>0.39</a:t>
                      </a:r>
                      <a:endParaRPr lang="en-US" dirty="0"/>
                    </a:p>
                  </a:txBody>
                  <a:tcPr/>
                </a:tc>
                <a:tc>
                  <a:txBody>
                    <a:bodyPr/>
                    <a:lstStyle/>
                    <a:p>
                      <a:r>
                        <a:rPr lang="en-US" dirty="0" smtClean="0"/>
                        <a:t>0.51</a:t>
                      </a:r>
                      <a:endParaRPr lang="en-US" dirty="0"/>
                    </a:p>
                  </a:txBody>
                  <a:tcPr/>
                </a:tc>
                <a:tc>
                  <a:txBody>
                    <a:bodyPr/>
                    <a:lstStyle/>
                    <a:p>
                      <a:r>
                        <a:rPr lang="en-US" dirty="0" smtClean="0"/>
                        <a:t>0.38</a:t>
                      </a:r>
                      <a:endParaRPr lang="en-US" dirty="0"/>
                    </a:p>
                  </a:txBody>
                  <a:tcPr/>
                </a:tc>
                <a:tc>
                  <a:txBody>
                    <a:bodyPr/>
                    <a:lstStyle/>
                    <a:p>
                      <a:r>
                        <a:rPr lang="en-US" dirty="0" smtClean="0"/>
                        <a:t>0.38</a:t>
                      </a:r>
                      <a:endParaRPr lang="en-US" dirty="0"/>
                    </a:p>
                  </a:txBody>
                  <a:tcPr/>
                </a:tc>
                <a:extLst>
                  <a:ext uri="{0D108BD9-81ED-4DB2-BD59-A6C34878D82A}">
                    <a16:rowId xmlns:a16="http://schemas.microsoft.com/office/drawing/2014/main" val="2720700941"/>
                  </a:ext>
                </a:extLst>
              </a:tr>
            </a:tbl>
          </a:graphicData>
        </a:graphic>
      </p:graphicFrame>
    </p:spTree>
    <p:extLst>
      <p:ext uri="{BB962C8B-B14F-4D97-AF65-F5344CB8AC3E}">
        <p14:creationId xmlns:p14="http://schemas.microsoft.com/office/powerpoint/2010/main" val="15322341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Average and variance of entailment probabilities (</a:t>
            </a:r>
            <a:r>
              <a:rPr lang="en-US" b="1" dirty="0" err="1" smtClean="0"/>
              <a:t>Isear</a:t>
            </a:r>
            <a:r>
              <a:rPr lang="en-US" b="1" dirty="0" smtClean="0"/>
              <a:t> dataset)</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10</a:t>
            </a:fld>
            <a:endParaRPr lang="ja" altLang="en-US"/>
          </a:p>
        </p:txBody>
      </p:sp>
      <p:sp>
        <p:nvSpPr>
          <p:cNvPr id="5" name="TextBox 4"/>
          <p:cNvSpPr txBox="1"/>
          <p:nvPr/>
        </p:nvSpPr>
        <p:spPr>
          <a:xfrm>
            <a:off x="656814" y="814367"/>
            <a:ext cx="8394390" cy="2462213"/>
          </a:xfrm>
          <a:prstGeom prst="rect">
            <a:avLst/>
          </a:prstGeom>
          <a:noFill/>
        </p:spPr>
        <p:txBody>
          <a:bodyPr wrap="square" rtlCol="0">
            <a:spAutoFit/>
          </a:bodyPr>
          <a:lstStyle/>
          <a:p>
            <a:r>
              <a:rPr lang="en-US" dirty="0" smtClean="0"/>
              <a:t>Getting average and variance of entailment probabilities for each emotion class(when the true label is the emotion class) (true and wrong predictions)</a:t>
            </a:r>
          </a:p>
          <a:p>
            <a:endParaRPr lang="en-US" dirty="0"/>
          </a:p>
          <a:p>
            <a:r>
              <a:rPr lang="en-US" dirty="0" smtClean="0"/>
              <a:t>Results when using max of entailment probabilities of synonyms of emotions (</a:t>
            </a:r>
            <a:r>
              <a:rPr lang="en-US" dirty="0" err="1" smtClean="0"/>
              <a:t>emotion_s</a:t>
            </a:r>
            <a:r>
              <a:rPr lang="en-US" dirty="0" smtClean="0"/>
              <a:t> prompt), true predictions</a:t>
            </a:r>
            <a:endParaRPr lang="en-US" dirty="0"/>
          </a:p>
          <a:p>
            <a:endParaRPr lang="en-US" dirty="0"/>
          </a:p>
          <a:p>
            <a:endParaRPr lang="en-US" dirty="0" smtClean="0"/>
          </a:p>
          <a:p>
            <a:endParaRPr lang="en-US" dirty="0"/>
          </a:p>
          <a:p>
            <a:endParaRPr lang="en-US" dirty="0" smtClean="0"/>
          </a:p>
          <a:p>
            <a:endParaRPr lang="en-US" dirty="0"/>
          </a:p>
          <a:p>
            <a:r>
              <a:rPr lang="en-US" dirty="0" smtClean="0"/>
              <a:t> </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43107534"/>
              </p:ext>
            </p:extLst>
          </p:nvPr>
        </p:nvGraphicFramePr>
        <p:xfrm>
          <a:off x="772262" y="3822523"/>
          <a:ext cx="7407288" cy="1083354"/>
        </p:xfrm>
        <a:graphic>
          <a:graphicData uri="http://schemas.openxmlformats.org/drawingml/2006/table">
            <a:tbl>
              <a:tblPr firstRow="1" bandRow="1">
                <a:tableStyleId>{5C22544A-7EE6-4342-B048-85BDC9FD1C3A}</a:tableStyleId>
              </a:tblPr>
              <a:tblGrid>
                <a:gridCol w="925911">
                  <a:extLst>
                    <a:ext uri="{9D8B030D-6E8A-4147-A177-3AD203B41FA5}">
                      <a16:colId xmlns:a16="http://schemas.microsoft.com/office/drawing/2014/main" val="4066347779"/>
                    </a:ext>
                  </a:extLst>
                </a:gridCol>
                <a:gridCol w="925911">
                  <a:extLst>
                    <a:ext uri="{9D8B030D-6E8A-4147-A177-3AD203B41FA5}">
                      <a16:colId xmlns:a16="http://schemas.microsoft.com/office/drawing/2014/main" val="3031706030"/>
                    </a:ext>
                  </a:extLst>
                </a:gridCol>
                <a:gridCol w="925911">
                  <a:extLst>
                    <a:ext uri="{9D8B030D-6E8A-4147-A177-3AD203B41FA5}">
                      <a16:colId xmlns:a16="http://schemas.microsoft.com/office/drawing/2014/main" val="3457961183"/>
                    </a:ext>
                  </a:extLst>
                </a:gridCol>
                <a:gridCol w="925911">
                  <a:extLst>
                    <a:ext uri="{9D8B030D-6E8A-4147-A177-3AD203B41FA5}">
                      <a16:colId xmlns:a16="http://schemas.microsoft.com/office/drawing/2014/main" val="1709630577"/>
                    </a:ext>
                  </a:extLst>
                </a:gridCol>
                <a:gridCol w="925911">
                  <a:extLst>
                    <a:ext uri="{9D8B030D-6E8A-4147-A177-3AD203B41FA5}">
                      <a16:colId xmlns:a16="http://schemas.microsoft.com/office/drawing/2014/main" val="454080302"/>
                    </a:ext>
                  </a:extLst>
                </a:gridCol>
                <a:gridCol w="925911">
                  <a:extLst>
                    <a:ext uri="{9D8B030D-6E8A-4147-A177-3AD203B41FA5}">
                      <a16:colId xmlns:a16="http://schemas.microsoft.com/office/drawing/2014/main" val="1741824406"/>
                    </a:ext>
                  </a:extLst>
                </a:gridCol>
                <a:gridCol w="925911">
                  <a:extLst>
                    <a:ext uri="{9D8B030D-6E8A-4147-A177-3AD203B41FA5}">
                      <a16:colId xmlns:a16="http://schemas.microsoft.com/office/drawing/2014/main" val="462712394"/>
                    </a:ext>
                  </a:extLst>
                </a:gridCol>
                <a:gridCol w="925911">
                  <a:extLst>
                    <a:ext uri="{9D8B030D-6E8A-4147-A177-3AD203B41FA5}">
                      <a16:colId xmlns:a16="http://schemas.microsoft.com/office/drawing/2014/main" val="2865600450"/>
                    </a:ext>
                  </a:extLst>
                </a:gridCol>
              </a:tblGrid>
              <a:tr h="341674">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1293498446"/>
                  </a:ext>
                </a:extLst>
              </a:tr>
              <a:tr h="370840">
                <a:tc>
                  <a:txBody>
                    <a:bodyPr/>
                    <a:lstStyle/>
                    <a:p>
                      <a:r>
                        <a:rPr lang="en-US" dirty="0" smtClean="0"/>
                        <a:t>average</a:t>
                      </a:r>
                      <a:endParaRPr lang="en-US" dirty="0"/>
                    </a:p>
                  </a:txBody>
                  <a:tcPr/>
                </a:tc>
                <a:tc>
                  <a:txBody>
                    <a:bodyPr/>
                    <a:lstStyle/>
                    <a:p>
                      <a:r>
                        <a:rPr lang="en-US" dirty="0" smtClean="0"/>
                        <a:t>0.88</a:t>
                      </a:r>
                      <a:endParaRPr lang="en-US" dirty="0"/>
                    </a:p>
                  </a:txBody>
                  <a:tcPr/>
                </a:tc>
                <a:tc>
                  <a:txBody>
                    <a:bodyPr/>
                    <a:lstStyle/>
                    <a:p>
                      <a:r>
                        <a:rPr lang="en-US" dirty="0" smtClean="0"/>
                        <a:t>0.81</a:t>
                      </a:r>
                      <a:endParaRPr lang="en-US" dirty="0"/>
                    </a:p>
                  </a:txBody>
                  <a:tcPr/>
                </a:tc>
                <a:tc>
                  <a:txBody>
                    <a:bodyPr/>
                    <a:lstStyle/>
                    <a:p>
                      <a:r>
                        <a:rPr lang="en-US" dirty="0" smtClean="0"/>
                        <a:t>0.85</a:t>
                      </a:r>
                      <a:endParaRPr lang="en-US" dirty="0"/>
                    </a:p>
                  </a:txBody>
                  <a:tcPr/>
                </a:tc>
                <a:tc>
                  <a:txBody>
                    <a:bodyPr/>
                    <a:lstStyle/>
                    <a:p>
                      <a:r>
                        <a:rPr lang="en-US" dirty="0" smtClean="0"/>
                        <a:t>0.89</a:t>
                      </a:r>
                      <a:endParaRPr lang="en-US" dirty="0"/>
                    </a:p>
                  </a:txBody>
                  <a:tcPr/>
                </a:tc>
                <a:tc>
                  <a:txBody>
                    <a:bodyPr/>
                    <a:lstStyle/>
                    <a:p>
                      <a:r>
                        <a:rPr lang="en-US" dirty="0" smtClean="0"/>
                        <a:t>0.72</a:t>
                      </a:r>
                      <a:endParaRPr lang="en-US" dirty="0"/>
                    </a:p>
                  </a:txBody>
                  <a:tcPr/>
                </a:tc>
                <a:tc>
                  <a:txBody>
                    <a:bodyPr/>
                    <a:lstStyle/>
                    <a:p>
                      <a:r>
                        <a:rPr lang="en-US" dirty="0" smtClean="0"/>
                        <a:t>0.8</a:t>
                      </a:r>
                      <a:endParaRPr lang="en-US" dirty="0"/>
                    </a:p>
                  </a:txBody>
                  <a:tcPr/>
                </a:tc>
                <a:tc>
                  <a:txBody>
                    <a:bodyPr/>
                    <a:lstStyle/>
                    <a:p>
                      <a:r>
                        <a:rPr lang="en-US" dirty="0" smtClean="0"/>
                        <a:t>0.82</a:t>
                      </a:r>
                      <a:endParaRPr lang="en-US" dirty="0"/>
                    </a:p>
                  </a:txBody>
                  <a:tcPr/>
                </a:tc>
                <a:extLst>
                  <a:ext uri="{0D108BD9-81ED-4DB2-BD59-A6C34878D82A}">
                    <a16:rowId xmlns:a16="http://schemas.microsoft.com/office/drawing/2014/main" val="3124212115"/>
                  </a:ext>
                </a:extLst>
              </a:tr>
              <a:tr h="370840">
                <a:tc>
                  <a:txBody>
                    <a:bodyPr/>
                    <a:lstStyle/>
                    <a:p>
                      <a:r>
                        <a:rPr lang="en-US" dirty="0" smtClean="0"/>
                        <a:t>variance</a:t>
                      </a:r>
                      <a:endParaRPr lang="en-US" dirty="0"/>
                    </a:p>
                  </a:txBody>
                  <a:tcPr/>
                </a:tc>
                <a:tc>
                  <a:txBody>
                    <a:bodyPr/>
                    <a:lstStyle/>
                    <a:p>
                      <a:r>
                        <a:rPr lang="en-US" dirty="0" smtClean="0"/>
                        <a:t>0.02</a:t>
                      </a:r>
                      <a:endParaRPr lang="en-US" dirty="0"/>
                    </a:p>
                  </a:txBody>
                  <a:tcPr/>
                </a:tc>
                <a:tc>
                  <a:txBody>
                    <a:bodyPr/>
                    <a:lstStyle/>
                    <a:p>
                      <a:r>
                        <a:rPr lang="en-US" dirty="0" smtClean="0"/>
                        <a:t>0.05</a:t>
                      </a:r>
                      <a:endParaRPr lang="en-US" dirty="0"/>
                    </a:p>
                  </a:txBody>
                  <a:tcPr/>
                </a:tc>
                <a:tc>
                  <a:txBody>
                    <a:bodyPr/>
                    <a:lstStyle/>
                    <a:p>
                      <a:r>
                        <a:rPr lang="en-US" dirty="0" smtClean="0"/>
                        <a:t>0.02</a:t>
                      </a:r>
                      <a:endParaRPr lang="en-US" dirty="0"/>
                    </a:p>
                  </a:txBody>
                  <a:tcPr/>
                </a:tc>
                <a:tc>
                  <a:txBody>
                    <a:bodyPr/>
                    <a:lstStyle/>
                    <a:p>
                      <a:r>
                        <a:rPr lang="en-US" dirty="0" smtClean="0"/>
                        <a:t>0.016</a:t>
                      </a:r>
                      <a:endParaRPr lang="en-US" dirty="0"/>
                    </a:p>
                  </a:txBody>
                  <a:tcPr/>
                </a:tc>
                <a:tc>
                  <a:txBody>
                    <a:bodyPr/>
                    <a:lstStyle/>
                    <a:p>
                      <a:r>
                        <a:rPr lang="en-US" dirty="0" smtClean="0"/>
                        <a:t>0.06</a:t>
                      </a:r>
                      <a:endParaRPr lang="en-US" dirty="0"/>
                    </a:p>
                  </a:txBody>
                  <a:tcPr/>
                </a:tc>
                <a:tc>
                  <a:txBody>
                    <a:bodyPr/>
                    <a:lstStyle/>
                    <a:p>
                      <a:r>
                        <a:rPr lang="en-US" dirty="0" smtClean="0"/>
                        <a:t>0.04</a:t>
                      </a:r>
                      <a:endParaRPr lang="en-US" dirty="0"/>
                    </a:p>
                  </a:txBody>
                  <a:tcPr/>
                </a:tc>
                <a:tc>
                  <a:txBody>
                    <a:bodyPr/>
                    <a:lstStyle/>
                    <a:p>
                      <a:r>
                        <a:rPr lang="en-US" dirty="0" smtClean="0"/>
                        <a:t>0.03</a:t>
                      </a:r>
                      <a:endParaRPr lang="en-US" dirty="0"/>
                    </a:p>
                  </a:txBody>
                  <a:tcPr/>
                </a:tc>
                <a:extLst>
                  <a:ext uri="{0D108BD9-81ED-4DB2-BD59-A6C34878D82A}">
                    <a16:rowId xmlns:a16="http://schemas.microsoft.com/office/drawing/2014/main" val="605779633"/>
                  </a:ext>
                </a:extLst>
              </a:tr>
            </a:tbl>
          </a:graphicData>
        </a:graphic>
      </p:graphicFrame>
      <p:sp>
        <p:nvSpPr>
          <p:cNvPr id="8" name="TextBox 7"/>
          <p:cNvSpPr txBox="1"/>
          <p:nvPr/>
        </p:nvSpPr>
        <p:spPr>
          <a:xfrm>
            <a:off x="656814" y="3302803"/>
            <a:ext cx="8004986" cy="954107"/>
          </a:xfrm>
          <a:prstGeom prst="rect">
            <a:avLst/>
          </a:prstGeom>
          <a:noFill/>
        </p:spPr>
        <p:txBody>
          <a:bodyPr wrap="square" rtlCol="0">
            <a:spAutoFit/>
          </a:bodyPr>
          <a:lstStyle/>
          <a:p>
            <a:r>
              <a:rPr lang="en-US" dirty="0"/>
              <a:t>Results when using max of entailment probabilities of synonyms of emotions (</a:t>
            </a:r>
            <a:r>
              <a:rPr lang="en-US" dirty="0" err="1"/>
              <a:t>emotion_s</a:t>
            </a:r>
            <a:r>
              <a:rPr lang="en-US" dirty="0"/>
              <a:t> prompt), </a:t>
            </a:r>
            <a:r>
              <a:rPr lang="en-US" dirty="0" smtClean="0"/>
              <a:t>wrong predictions</a:t>
            </a:r>
          </a:p>
          <a:p>
            <a:endParaRPr lang="en-US" dirty="0"/>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356870147"/>
              </p:ext>
            </p:extLst>
          </p:nvPr>
        </p:nvGraphicFramePr>
        <p:xfrm>
          <a:off x="727134" y="1930423"/>
          <a:ext cx="7452416" cy="1112520"/>
        </p:xfrm>
        <a:graphic>
          <a:graphicData uri="http://schemas.openxmlformats.org/drawingml/2006/table">
            <a:tbl>
              <a:tblPr firstRow="1" bandRow="1">
                <a:tableStyleId>{5C22544A-7EE6-4342-B048-85BDC9FD1C3A}</a:tableStyleId>
              </a:tblPr>
              <a:tblGrid>
                <a:gridCol w="931552">
                  <a:extLst>
                    <a:ext uri="{9D8B030D-6E8A-4147-A177-3AD203B41FA5}">
                      <a16:colId xmlns:a16="http://schemas.microsoft.com/office/drawing/2014/main" val="1158377809"/>
                    </a:ext>
                  </a:extLst>
                </a:gridCol>
                <a:gridCol w="931552">
                  <a:extLst>
                    <a:ext uri="{9D8B030D-6E8A-4147-A177-3AD203B41FA5}">
                      <a16:colId xmlns:a16="http://schemas.microsoft.com/office/drawing/2014/main" val="3251957053"/>
                    </a:ext>
                  </a:extLst>
                </a:gridCol>
                <a:gridCol w="931552">
                  <a:extLst>
                    <a:ext uri="{9D8B030D-6E8A-4147-A177-3AD203B41FA5}">
                      <a16:colId xmlns:a16="http://schemas.microsoft.com/office/drawing/2014/main" val="12747680"/>
                    </a:ext>
                  </a:extLst>
                </a:gridCol>
                <a:gridCol w="931552">
                  <a:extLst>
                    <a:ext uri="{9D8B030D-6E8A-4147-A177-3AD203B41FA5}">
                      <a16:colId xmlns:a16="http://schemas.microsoft.com/office/drawing/2014/main" val="3321432633"/>
                    </a:ext>
                  </a:extLst>
                </a:gridCol>
                <a:gridCol w="931552">
                  <a:extLst>
                    <a:ext uri="{9D8B030D-6E8A-4147-A177-3AD203B41FA5}">
                      <a16:colId xmlns:a16="http://schemas.microsoft.com/office/drawing/2014/main" val="911145235"/>
                    </a:ext>
                  </a:extLst>
                </a:gridCol>
                <a:gridCol w="931552">
                  <a:extLst>
                    <a:ext uri="{9D8B030D-6E8A-4147-A177-3AD203B41FA5}">
                      <a16:colId xmlns:a16="http://schemas.microsoft.com/office/drawing/2014/main" val="922573849"/>
                    </a:ext>
                  </a:extLst>
                </a:gridCol>
                <a:gridCol w="931552">
                  <a:extLst>
                    <a:ext uri="{9D8B030D-6E8A-4147-A177-3AD203B41FA5}">
                      <a16:colId xmlns:a16="http://schemas.microsoft.com/office/drawing/2014/main" val="796169941"/>
                    </a:ext>
                  </a:extLst>
                </a:gridCol>
                <a:gridCol w="931552">
                  <a:extLst>
                    <a:ext uri="{9D8B030D-6E8A-4147-A177-3AD203B41FA5}">
                      <a16:colId xmlns:a16="http://schemas.microsoft.com/office/drawing/2014/main" val="1819432946"/>
                    </a:ext>
                  </a:extLst>
                </a:gridCol>
              </a:tblGrid>
              <a:tr h="37084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2590546017"/>
                  </a:ext>
                </a:extLst>
              </a:tr>
              <a:tr h="370840">
                <a:tc>
                  <a:txBody>
                    <a:bodyPr/>
                    <a:lstStyle/>
                    <a:p>
                      <a:r>
                        <a:rPr lang="en-US" dirty="0" smtClean="0"/>
                        <a:t>average</a:t>
                      </a:r>
                      <a:endParaRPr lang="en-US" dirty="0"/>
                    </a:p>
                  </a:txBody>
                  <a:tcPr/>
                </a:tc>
                <a:tc>
                  <a:txBody>
                    <a:bodyPr/>
                    <a:lstStyle/>
                    <a:p>
                      <a:r>
                        <a:rPr lang="en-US" dirty="0" smtClean="0"/>
                        <a:t>0.97</a:t>
                      </a:r>
                      <a:endParaRPr lang="en-US" dirty="0"/>
                    </a:p>
                  </a:txBody>
                  <a:tcPr/>
                </a:tc>
                <a:tc>
                  <a:txBody>
                    <a:bodyPr/>
                    <a:lstStyle/>
                    <a:p>
                      <a:r>
                        <a:rPr lang="en-US" dirty="0" smtClean="0"/>
                        <a:t>0.97</a:t>
                      </a:r>
                      <a:endParaRPr lang="en-US" dirty="0"/>
                    </a:p>
                  </a:txBody>
                  <a:tcPr/>
                </a:tc>
                <a:tc>
                  <a:txBody>
                    <a:bodyPr/>
                    <a:lstStyle/>
                    <a:p>
                      <a:r>
                        <a:rPr lang="en-US" dirty="0" smtClean="0"/>
                        <a:t>0.97</a:t>
                      </a:r>
                      <a:endParaRPr lang="en-US" dirty="0"/>
                    </a:p>
                  </a:txBody>
                  <a:tcPr/>
                </a:tc>
                <a:tc>
                  <a:txBody>
                    <a:bodyPr/>
                    <a:lstStyle/>
                    <a:p>
                      <a:r>
                        <a:rPr lang="en-US" dirty="0" smtClean="0"/>
                        <a:t>0.96</a:t>
                      </a:r>
                      <a:endParaRPr lang="en-US" dirty="0"/>
                    </a:p>
                  </a:txBody>
                  <a:tcPr/>
                </a:tc>
                <a:tc>
                  <a:txBody>
                    <a:bodyPr/>
                    <a:lstStyle/>
                    <a:p>
                      <a:r>
                        <a:rPr lang="en-US" dirty="0" smtClean="0"/>
                        <a:t>0.95</a:t>
                      </a:r>
                      <a:endParaRPr lang="en-US" dirty="0"/>
                    </a:p>
                  </a:txBody>
                  <a:tcPr/>
                </a:tc>
                <a:tc>
                  <a:txBody>
                    <a:bodyPr/>
                    <a:lstStyle/>
                    <a:p>
                      <a:r>
                        <a:rPr lang="en-US" dirty="0" smtClean="0"/>
                        <a:t>0.97</a:t>
                      </a:r>
                      <a:endParaRPr lang="en-US" dirty="0"/>
                    </a:p>
                  </a:txBody>
                  <a:tcPr/>
                </a:tc>
                <a:tc>
                  <a:txBody>
                    <a:bodyPr/>
                    <a:lstStyle/>
                    <a:p>
                      <a:r>
                        <a:rPr lang="en-US" dirty="0" smtClean="0"/>
                        <a:t>0.97</a:t>
                      </a:r>
                      <a:endParaRPr lang="en-US" dirty="0"/>
                    </a:p>
                  </a:txBody>
                  <a:tcPr/>
                </a:tc>
                <a:extLst>
                  <a:ext uri="{0D108BD9-81ED-4DB2-BD59-A6C34878D82A}">
                    <a16:rowId xmlns:a16="http://schemas.microsoft.com/office/drawing/2014/main" val="2500135215"/>
                  </a:ext>
                </a:extLst>
              </a:tr>
              <a:tr h="370840">
                <a:tc>
                  <a:txBody>
                    <a:bodyPr/>
                    <a:lstStyle/>
                    <a:p>
                      <a:r>
                        <a:rPr lang="en-US" dirty="0" smtClean="0"/>
                        <a:t>variance</a:t>
                      </a:r>
                      <a:endParaRPr lang="en-US" dirty="0"/>
                    </a:p>
                  </a:txBody>
                  <a:tcPr/>
                </a:tc>
                <a:tc>
                  <a:txBody>
                    <a:bodyPr/>
                    <a:lstStyle/>
                    <a:p>
                      <a:r>
                        <a:rPr lang="en-US" dirty="0" smtClean="0"/>
                        <a:t>0.0019</a:t>
                      </a:r>
                      <a:endParaRPr lang="en-US" dirty="0"/>
                    </a:p>
                  </a:txBody>
                  <a:tcPr/>
                </a:tc>
                <a:tc>
                  <a:txBody>
                    <a:bodyPr/>
                    <a:lstStyle/>
                    <a:p>
                      <a:r>
                        <a:rPr lang="en-US" dirty="0" smtClean="0"/>
                        <a:t>0.003</a:t>
                      </a:r>
                      <a:endParaRPr lang="en-US" dirty="0"/>
                    </a:p>
                  </a:txBody>
                  <a:tcPr/>
                </a:tc>
                <a:tc>
                  <a:txBody>
                    <a:bodyPr/>
                    <a:lstStyle/>
                    <a:p>
                      <a:r>
                        <a:rPr lang="en-US" dirty="0" smtClean="0"/>
                        <a:t>0.0017</a:t>
                      </a:r>
                      <a:endParaRPr lang="en-US" dirty="0"/>
                    </a:p>
                  </a:txBody>
                  <a:tcPr/>
                </a:tc>
                <a:tc>
                  <a:txBody>
                    <a:bodyPr/>
                    <a:lstStyle/>
                    <a:p>
                      <a:r>
                        <a:rPr lang="en-US" dirty="0" smtClean="0"/>
                        <a:t>0.004</a:t>
                      </a:r>
                      <a:endParaRPr lang="en-US" dirty="0"/>
                    </a:p>
                  </a:txBody>
                  <a:tcPr/>
                </a:tc>
                <a:tc>
                  <a:txBody>
                    <a:bodyPr/>
                    <a:lstStyle/>
                    <a:p>
                      <a:r>
                        <a:rPr lang="en-US" dirty="0" smtClean="0"/>
                        <a:t>0.0028</a:t>
                      </a:r>
                      <a:endParaRPr lang="en-US" dirty="0"/>
                    </a:p>
                  </a:txBody>
                  <a:tcPr/>
                </a:tc>
                <a:tc>
                  <a:txBody>
                    <a:bodyPr/>
                    <a:lstStyle/>
                    <a:p>
                      <a:r>
                        <a:rPr lang="en-US" dirty="0" smtClean="0"/>
                        <a:t>0.0009</a:t>
                      </a:r>
                      <a:endParaRPr lang="en-US" dirty="0"/>
                    </a:p>
                  </a:txBody>
                  <a:tcPr/>
                </a:tc>
                <a:tc>
                  <a:txBody>
                    <a:bodyPr/>
                    <a:lstStyle/>
                    <a:p>
                      <a:r>
                        <a:rPr lang="en-US" dirty="0" smtClean="0"/>
                        <a:t>0.006</a:t>
                      </a:r>
                      <a:endParaRPr lang="en-US" dirty="0"/>
                    </a:p>
                  </a:txBody>
                  <a:tcPr/>
                </a:tc>
                <a:extLst>
                  <a:ext uri="{0D108BD9-81ED-4DB2-BD59-A6C34878D82A}">
                    <a16:rowId xmlns:a16="http://schemas.microsoft.com/office/drawing/2014/main" val="3466541312"/>
                  </a:ext>
                </a:extLst>
              </a:tr>
            </a:tbl>
          </a:graphicData>
        </a:graphic>
      </p:graphicFrame>
    </p:spTree>
    <p:extLst>
      <p:ext uri="{BB962C8B-B14F-4D97-AF65-F5344CB8AC3E}">
        <p14:creationId xmlns:p14="http://schemas.microsoft.com/office/powerpoint/2010/main" val="6007692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and variance of entailment probabilities (</a:t>
            </a:r>
            <a:r>
              <a:rPr lang="en-US" b="1" dirty="0" err="1"/>
              <a:t>Isear</a:t>
            </a:r>
            <a:r>
              <a:rPr lang="en-US" b="1" dirty="0"/>
              <a:t> dataset)</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11</a:t>
            </a:fld>
            <a:endParaRPr lang="ja" altLang="en-US"/>
          </a:p>
        </p:txBody>
      </p:sp>
      <p:sp>
        <p:nvSpPr>
          <p:cNvPr id="5" name="Rectangle 4"/>
          <p:cNvSpPr/>
          <p:nvPr/>
        </p:nvSpPr>
        <p:spPr>
          <a:xfrm>
            <a:off x="631371" y="769599"/>
            <a:ext cx="7678058" cy="954107"/>
          </a:xfrm>
          <a:prstGeom prst="rect">
            <a:avLst/>
          </a:prstGeom>
        </p:spPr>
        <p:txBody>
          <a:bodyPr wrap="square">
            <a:spAutoFit/>
          </a:bodyPr>
          <a:lstStyle/>
          <a:p>
            <a:r>
              <a:rPr lang="en-US" dirty="0"/>
              <a:t>Results when </a:t>
            </a:r>
            <a:r>
              <a:rPr lang="en-US" dirty="0" smtClean="0"/>
              <a:t>using average </a:t>
            </a:r>
            <a:r>
              <a:rPr lang="en-US" dirty="0"/>
              <a:t>of entailment </a:t>
            </a:r>
            <a:r>
              <a:rPr lang="en-US" dirty="0" smtClean="0"/>
              <a:t>probabilities </a:t>
            </a:r>
            <a:r>
              <a:rPr lang="en-US" dirty="0"/>
              <a:t>of synonyms of emotions (</a:t>
            </a:r>
            <a:r>
              <a:rPr lang="en-US" dirty="0" err="1"/>
              <a:t>emotion_s</a:t>
            </a:r>
            <a:r>
              <a:rPr lang="en-US" dirty="0"/>
              <a:t> prompt), </a:t>
            </a:r>
            <a:r>
              <a:rPr lang="en-US" dirty="0" smtClean="0"/>
              <a:t>true predictions</a:t>
            </a:r>
          </a:p>
          <a:p>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841470254"/>
              </p:ext>
            </p:extLst>
          </p:nvPr>
        </p:nvGraphicFramePr>
        <p:xfrm>
          <a:off x="689426" y="3490778"/>
          <a:ext cx="7257144" cy="1254618"/>
        </p:xfrm>
        <a:graphic>
          <a:graphicData uri="http://schemas.openxmlformats.org/drawingml/2006/table">
            <a:tbl>
              <a:tblPr firstRow="1" bandRow="1">
                <a:tableStyleId>{5C22544A-7EE6-4342-B048-85BDC9FD1C3A}</a:tableStyleId>
              </a:tblPr>
              <a:tblGrid>
                <a:gridCol w="907143">
                  <a:extLst>
                    <a:ext uri="{9D8B030D-6E8A-4147-A177-3AD203B41FA5}">
                      <a16:colId xmlns:a16="http://schemas.microsoft.com/office/drawing/2014/main" val="3775036732"/>
                    </a:ext>
                  </a:extLst>
                </a:gridCol>
                <a:gridCol w="907143">
                  <a:extLst>
                    <a:ext uri="{9D8B030D-6E8A-4147-A177-3AD203B41FA5}">
                      <a16:colId xmlns:a16="http://schemas.microsoft.com/office/drawing/2014/main" val="2590431331"/>
                    </a:ext>
                  </a:extLst>
                </a:gridCol>
                <a:gridCol w="907143">
                  <a:extLst>
                    <a:ext uri="{9D8B030D-6E8A-4147-A177-3AD203B41FA5}">
                      <a16:colId xmlns:a16="http://schemas.microsoft.com/office/drawing/2014/main" val="2062075553"/>
                    </a:ext>
                  </a:extLst>
                </a:gridCol>
                <a:gridCol w="907143">
                  <a:extLst>
                    <a:ext uri="{9D8B030D-6E8A-4147-A177-3AD203B41FA5}">
                      <a16:colId xmlns:a16="http://schemas.microsoft.com/office/drawing/2014/main" val="2091532195"/>
                    </a:ext>
                  </a:extLst>
                </a:gridCol>
                <a:gridCol w="907143">
                  <a:extLst>
                    <a:ext uri="{9D8B030D-6E8A-4147-A177-3AD203B41FA5}">
                      <a16:colId xmlns:a16="http://schemas.microsoft.com/office/drawing/2014/main" val="3548640812"/>
                    </a:ext>
                  </a:extLst>
                </a:gridCol>
                <a:gridCol w="907143">
                  <a:extLst>
                    <a:ext uri="{9D8B030D-6E8A-4147-A177-3AD203B41FA5}">
                      <a16:colId xmlns:a16="http://schemas.microsoft.com/office/drawing/2014/main" val="2612355159"/>
                    </a:ext>
                  </a:extLst>
                </a:gridCol>
                <a:gridCol w="907143">
                  <a:extLst>
                    <a:ext uri="{9D8B030D-6E8A-4147-A177-3AD203B41FA5}">
                      <a16:colId xmlns:a16="http://schemas.microsoft.com/office/drawing/2014/main" val="1498659243"/>
                    </a:ext>
                  </a:extLst>
                </a:gridCol>
                <a:gridCol w="907143">
                  <a:extLst>
                    <a:ext uri="{9D8B030D-6E8A-4147-A177-3AD203B41FA5}">
                      <a16:colId xmlns:a16="http://schemas.microsoft.com/office/drawing/2014/main" val="1418246493"/>
                    </a:ext>
                  </a:extLst>
                </a:gridCol>
              </a:tblGrid>
              <a:tr h="512938">
                <a:tc>
                  <a:txBody>
                    <a:bodyPr/>
                    <a:lstStyle/>
                    <a:p>
                      <a:r>
                        <a:rPr lang="en-US" dirty="0" smtClean="0"/>
                        <a:t>Emotion </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1509737283"/>
                  </a:ext>
                </a:extLst>
              </a:tr>
              <a:tr h="370840">
                <a:tc>
                  <a:txBody>
                    <a:bodyPr/>
                    <a:lstStyle/>
                    <a:p>
                      <a:r>
                        <a:rPr lang="en-US" dirty="0" smtClean="0"/>
                        <a:t>average</a:t>
                      </a:r>
                      <a:endParaRPr lang="en-US" dirty="0"/>
                    </a:p>
                  </a:txBody>
                  <a:tcPr/>
                </a:tc>
                <a:tc>
                  <a:txBody>
                    <a:bodyPr/>
                    <a:lstStyle/>
                    <a:p>
                      <a:r>
                        <a:rPr lang="en-US" dirty="0" smtClean="0"/>
                        <a:t>0.71</a:t>
                      </a:r>
                      <a:endParaRPr lang="en-US" dirty="0"/>
                    </a:p>
                  </a:txBody>
                  <a:tcPr/>
                </a:tc>
                <a:tc>
                  <a:txBody>
                    <a:bodyPr/>
                    <a:lstStyle/>
                    <a:p>
                      <a:r>
                        <a:rPr lang="en-US" dirty="0" smtClean="0"/>
                        <a:t>0.62</a:t>
                      </a:r>
                      <a:endParaRPr lang="en-US" dirty="0"/>
                    </a:p>
                  </a:txBody>
                  <a:tcPr/>
                </a:tc>
                <a:tc>
                  <a:txBody>
                    <a:bodyPr/>
                    <a:lstStyle/>
                    <a:p>
                      <a:r>
                        <a:rPr lang="en-US" dirty="0" smtClean="0"/>
                        <a:t>0.68</a:t>
                      </a:r>
                      <a:endParaRPr lang="en-US" dirty="0"/>
                    </a:p>
                  </a:txBody>
                  <a:tcPr/>
                </a:tc>
                <a:tc>
                  <a:txBody>
                    <a:bodyPr/>
                    <a:lstStyle/>
                    <a:p>
                      <a:r>
                        <a:rPr lang="en-US" dirty="0" smtClean="0"/>
                        <a:t>0.75</a:t>
                      </a:r>
                      <a:endParaRPr lang="en-US" dirty="0"/>
                    </a:p>
                  </a:txBody>
                  <a:tcPr/>
                </a:tc>
                <a:tc>
                  <a:txBody>
                    <a:bodyPr/>
                    <a:lstStyle/>
                    <a:p>
                      <a:r>
                        <a:rPr lang="en-US" dirty="0" smtClean="0"/>
                        <a:t>0.35</a:t>
                      </a:r>
                      <a:endParaRPr lang="en-US" dirty="0"/>
                    </a:p>
                  </a:txBody>
                  <a:tcPr/>
                </a:tc>
                <a:tc>
                  <a:txBody>
                    <a:bodyPr/>
                    <a:lstStyle/>
                    <a:p>
                      <a:r>
                        <a:rPr lang="en-US" dirty="0" smtClean="0"/>
                        <a:t>0.6</a:t>
                      </a:r>
                      <a:endParaRPr lang="en-US" dirty="0"/>
                    </a:p>
                  </a:txBody>
                  <a:tcPr/>
                </a:tc>
                <a:tc>
                  <a:txBody>
                    <a:bodyPr/>
                    <a:lstStyle/>
                    <a:p>
                      <a:r>
                        <a:rPr lang="en-US" dirty="0" smtClean="0"/>
                        <a:t>0.45</a:t>
                      </a:r>
                      <a:endParaRPr lang="en-US" dirty="0"/>
                    </a:p>
                  </a:txBody>
                  <a:tcPr/>
                </a:tc>
                <a:extLst>
                  <a:ext uri="{0D108BD9-81ED-4DB2-BD59-A6C34878D82A}">
                    <a16:rowId xmlns:a16="http://schemas.microsoft.com/office/drawing/2014/main" val="1716522402"/>
                  </a:ext>
                </a:extLst>
              </a:tr>
              <a:tr h="370840">
                <a:tc>
                  <a:txBody>
                    <a:bodyPr/>
                    <a:lstStyle/>
                    <a:p>
                      <a:r>
                        <a:rPr lang="en-US" dirty="0" smtClean="0"/>
                        <a:t>variance</a:t>
                      </a:r>
                      <a:endParaRPr lang="en-US" dirty="0"/>
                    </a:p>
                  </a:txBody>
                  <a:tcPr/>
                </a:tc>
                <a:tc>
                  <a:txBody>
                    <a:bodyPr/>
                    <a:lstStyle/>
                    <a:p>
                      <a:r>
                        <a:rPr lang="en-US" dirty="0" smtClean="0"/>
                        <a:t>0.03</a:t>
                      </a:r>
                      <a:endParaRPr lang="en-US" dirty="0"/>
                    </a:p>
                  </a:txBody>
                  <a:tcPr/>
                </a:tc>
                <a:tc>
                  <a:txBody>
                    <a:bodyPr/>
                    <a:lstStyle/>
                    <a:p>
                      <a:r>
                        <a:rPr lang="en-US" dirty="0" smtClean="0"/>
                        <a:t>0.05</a:t>
                      </a:r>
                      <a:endParaRPr lang="en-US" dirty="0"/>
                    </a:p>
                  </a:txBody>
                  <a:tcPr/>
                </a:tc>
                <a:tc>
                  <a:txBody>
                    <a:bodyPr/>
                    <a:lstStyle/>
                    <a:p>
                      <a:r>
                        <a:rPr lang="en-US" dirty="0" smtClean="0"/>
                        <a:t>0.04</a:t>
                      </a:r>
                      <a:endParaRPr lang="en-US" dirty="0"/>
                    </a:p>
                  </a:txBody>
                  <a:tcPr/>
                </a:tc>
                <a:tc>
                  <a:txBody>
                    <a:bodyPr/>
                    <a:lstStyle/>
                    <a:p>
                      <a:r>
                        <a:rPr lang="en-US" dirty="0" smtClean="0"/>
                        <a:t>0.02</a:t>
                      </a:r>
                      <a:endParaRPr lang="en-US" dirty="0"/>
                    </a:p>
                  </a:txBody>
                  <a:tcPr/>
                </a:tc>
                <a:tc>
                  <a:txBody>
                    <a:bodyPr/>
                    <a:lstStyle/>
                    <a:p>
                      <a:r>
                        <a:rPr lang="en-US" dirty="0" smtClean="0"/>
                        <a:t>0.04</a:t>
                      </a:r>
                      <a:endParaRPr lang="en-US" dirty="0"/>
                    </a:p>
                  </a:txBody>
                  <a:tcPr/>
                </a:tc>
                <a:tc>
                  <a:txBody>
                    <a:bodyPr/>
                    <a:lstStyle/>
                    <a:p>
                      <a:r>
                        <a:rPr lang="en-US" dirty="0" smtClean="0"/>
                        <a:t>0.05</a:t>
                      </a:r>
                      <a:endParaRPr lang="en-US" dirty="0"/>
                    </a:p>
                  </a:txBody>
                  <a:tcPr/>
                </a:tc>
                <a:tc>
                  <a:txBody>
                    <a:bodyPr/>
                    <a:lstStyle/>
                    <a:p>
                      <a:r>
                        <a:rPr lang="en-US" dirty="0" smtClean="0"/>
                        <a:t>0.06</a:t>
                      </a:r>
                      <a:endParaRPr lang="en-US" dirty="0"/>
                    </a:p>
                  </a:txBody>
                  <a:tcPr/>
                </a:tc>
                <a:extLst>
                  <a:ext uri="{0D108BD9-81ED-4DB2-BD59-A6C34878D82A}">
                    <a16:rowId xmlns:a16="http://schemas.microsoft.com/office/drawing/2014/main" val="349666815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67740260"/>
              </p:ext>
            </p:extLst>
          </p:nvPr>
        </p:nvGraphicFramePr>
        <p:xfrm>
          <a:off x="689426" y="1382506"/>
          <a:ext cx="7257144" cy="1254618"/>
        </p:xfrm>
        <a:graphic>
          <a:graphicData uri="http://schemas.openxmlformats.org/drawingml/2006/table">
            <a:tbl>
              <a:tblPr firstRow="1" bandRow="1">
                <a:tableStyleId>{5C22544A-7EE6-4342-B048-85BDC9FD1C3A}</a:tableStyleId>
              </a:tblPr>
              <a:tblGrid>
                <a:gridCol w="907143">
                  <a:extLst>
                    <a:ext uri="{9D8B030D-6E8A-4147-A177-3AD203B41FA5}">
                      <a16:colId xmlns:a16="http://schemas.microsoft.com/office/drawing/2014/main" val="307346793"/>
                    </a:ext>
                  </a:extLst>
                </a:gridCol>
                <a:gridCol w="907143">
                  <a:extLst>
                    <a:ext uri="{9D8B030D-6E8A-4147-A177-3AD203B41FA5}">
                      <a16:colId xmlns:a16="http://schemas.microsoft.com/office/drawing/2014/main" val="26574917"/>
                    </a:ext>
                  </a:extLst>
                </a:gridCol>
                <a:gridCol w="907143">
                  <a:extLst>
                    <a:ext uri="{9D8B030D-6E8A-4147-A177-3AD203B41FA5}">
                      <a16:colId xmlns:a16="http://schemas.microsoft.com/office/drawing/2014/main" val="3414869458"/>
                    </a:ext>
                  </a:extLst>
                </a:gridCol>
                <a:gridCol w="907143">
                  <a:extLst>
                    <a:ext uri="{9D8B030D-6E8A-4147-A177-3AD203B41FA5}">
                      <a16:colId xmlns:a16="http://schemas.microsoft.com/office/drawing/2014/main" val="1304788953"/>
                    </a:ext>
                  </a:extLst>
                </a:gridCol>
                <a:gridCol w="907143">
                  <a:extLst>
                    <a:ext uri="{9D8B030D-6E8A-4147-A177-3AD203B41FA5}">
                      <a16:colId xmlns:a16="http://schemas.microsoft.com/office/drawing/2014/main" val="1713140238"/>
                    </a:ext>
                  </a:extLst>
                </a:gridCol>
                <a:gridCol w="907143">
                  <a:extLst>
                    <a:ext uri="{9D8B030D-6E8A-4147-A177-3AD203B41FA5}">
                      <a16:colId xmlns:a16="http://schemas.microsoft.com/office/drawing/2014/main" val="68093905"/>
                    </a:ext>
                  </a:extLst>
                </a:gridCol>
                <a:gridCol w="907143">
                  <a:extLst>
                    <a:ext uri="{9D8B030D-6E8A-4147-A177-3AD203B41FA5}">
                      <a16:colId xmlns:a16="http://schemas.microsoft.com/office/drawing/2014/main" val="3490350951"/>
                    </a:ext>
                  </a:extLst>
                </a:gridCol>
                <a:gridCol w="907143">
                  <a:extLst>
                    <a:ext uri="{9D8B030D-6E8A-4147-A177-3AD203B41FA5}">
                      <a16:colId xmlns:a16="http://schemas.microsoft.com/office/drawing/2014/main" val="820209625"/>
                    </a:ext>
                  </a:extLst>
                </a:gridCol>
              </a:tblGrid>
              <a:tr h="512938">
                <a:tc>
                  <a:txBody>
                    <a:bodyPr/>
                    <a:lstStyle/>
                    <a:p>
                      <a:r>
                        <a:rPr lang="en-US" dirty="0" smtClean="0"/>
                        <a:t>Emotion </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4065742496"/>
                  </a:ext>
                </a:extLst>
              </a:tr>
              <a:tr h="370840">
                <a:tc>
                  <a:txBody>
                    <a:bodyPr/>
                    <a:lstStyle/>
                    <a:p>
                      <a:r>
                        <a:rPr lang="en-US" dirty="0" smtClean="0"/>
                        <a:t>average</a:t>
                      </a:r>
                      <a:endParaRPr lang="en-US" dirty="0"/>
                    </a:p>
                  </a:txBody>
                  <a:tcPr/>
                </a:tc>
                <a:tc>
                  <a:txBody>
                    <a:bodyPr/>
                    <a:lstStyle/>
                    <a:p>
                      <a:r>
                        <a:rPr lang="en-US" dirty="0" smtClean="0"/>
                        <a:t>0.87</a:t>
                      </a:r>
                      <a:endParaRPr lang="en-US" dirty="0"/>
                    </a:p>
                  </a:txBody>
                  <a:tcPr/>
                </a:tc>
                <a:tc>
                  <a:txBody>
                    <a:bodyPr/>
                    <a:lstStyle/>
                    <a:p>
                      <a:r>
                        <a:rPr lang="en-US" dirty="0" smtClean="0"/>
                        <a:t>0.9</a:t>
                      </a:r>
                      <a:endParaRPr lang="en-US" dirty="0"/>
                    </a:p>
                  </a:txBody>
                  <a:tcPr/>
                </a:tc>
                <a:tc>
                  <a:txBody>
                    <a:bodyPr/>
                    <a:lstStyle/>
                    <a:p>
                      <a:r>
                        <a:rPr lang="en-US" dirty="0" smtClean="0"/>
                        <a:t>0.9</a:t>
                      </a:r>
                      <a:endParaRPr lang="en-US" dirty="0"/>
                    </a:p>
                  </a:txBody>
                  <a:tcPr/>
                </a:tc>
                <a:tc>
                  <a:txBody>
                    <a:bodyPr/>
                    <a:lstStyle/>
                    <a:p>
                      <a:r>
                        <a:rPr lang="en-US" dirty="0" smtClean="0"/>
                        <a:t>0.86</a:t>
                      </a:r>
                      <a:endParaRPr lang="en-US" dirty="0"/>
                    </a:p>
                  </a:txBody>
                  <a:tcPr/>
                </a:tc>
                <a:tc>
                  <a:txBody>
                    <a:bodyPr/>
                    <a:lstStyle/>
                    <a:p>
                      <a:r>
                        <a:rPr lang="en-US" dirty="0" smtClean="0"/>
                        <a:t>0.83</a:t>
                      </a:r>
                      <a:endParaRPr lang="en-US" dirty="0"/>
                    </a:p>
                  </a:txBody>
                  <a:tcPr/>
                </a:tc>
                <a:tc>
                  <a:txBody>
                    <a:bodyPr/>
                    <a:lstStyle/>
                    <a:p>
                      <a:r>
                        <a:rPr lang="en-US" dirty="0" smtClean="0"/>
                        <a:t>0.88</a:t>
                      </a:r>
                      <a:endParaRPr lang="en-US" dirty="0"/>
                    </a:p>
                  </a:txBody>
                  <a:tcPr/>
                </a:tc>
                <a:tc>
                  <a:txBody>
                    <a:bodyPr/>
                    <a:lstStyle/>
                    <a:p>
                      <a:r>
                        <a:rPr lang="en-US" dirty="0" smtClean="0"/>
                        <a:t>0.91</a:t>
                      </a:r>
                      <a:endParaRPr lang="en-US" dirty="0"/>
                    </a:p>
                  </a:txBody>
                  <a:tcPr/>
                </a:tc>
                <a:extLst>
                  <a:ext uri="{0D108BD9-81ED-4DB2-BD59-A6C34878D82A}">
                    <a16:rowId xmlns:a16="http://schemas.microsoft.com/office/drawing/2014/main" val="2479107727"/>
                  </a:ext>
                </a:extLst>
              </a:tr>
              <a:tr h="370840">
                <a:tc>
                  <a:txBody>
                    <a:bodyPr/>
                    <a:lstStyle/>
                    <a:p>
                      <a:r>
                        <a:rPr lang="en-US" dirty="0" smtClean="0"/>
                        <a:t>variance</a:t>
                      </a:r>
                      <a:endParaRPr lang="en-US" dirty="0"/>
                    </a:p>
                  </a:txBody>
                  <a:tcPr/>
                </a:tc>
                <a:tc>
                  <a:txBody>
                    <a:bodyPr/>
                    <a:lstStyle/>
                    <a:p>
                      <a:r>
                        <a:rPr lang="en-US" dirty="0" smtClean="0"/>
                        <a:t>0.0008</a:t>
                      </a:r>
                      <a:endParaRPr lang="en-US" dirty="0"/>
                    </a:p>
                  </a:txBody>
                  <a:tcPr/>
                </a:tc>
                <a:tc>
                  <a:txBody>
                    <a:bodyPr/>
                    <a:lstStyle/>
                    <a:p>
                      <a:r>
                        <a:rPr lang="en-US" dirty="0" smtClean="0"/>
                        <a:t>0.01</a:t>
                      </a:r>
                      <a:endParaRPr lang="en-US" dirty="0"/>
                    </a:p>
                  </a:txBody>
                  <a:tcPr/>
                </a:tc>
                <a:tc>
                  <a:txBody>
                    <a:bodyPr/>
                    <a:lstStyle/>
                    <a:p>
                      <a:r>
                        <a:rPr lang="en-US" dirty="0" smtClean="0"/>
                        <a:t>0.01</a:t>
                      </a:r>
                      <a:endParaRPr lang="en-US" dirty="0"/>
                    </a:p>
                  </a:txBody>
                  <a:tcPr/>
                </a:tc>
                <a:tc>
                  <a:txBody>
                    <a:bodyPr/>
                    <a:lstStyle/>
                    <a:p>
                      <a:r>
                        <a:rPr lang="en-US" dirty="0" smtClean="0"/>
                        <a:t>0.01</a:t>
                      </a:r>
                      <a:endParaRPr lang="en-US" dirty="0"/>
                    </a:p>
                  </a:txBody>
                  <a:tcPr/>
                </a:tc>
                <a:tc>
                  <a:txBody>
                    <a:bodyPr/>
                    <a:lstStyle/>
                    <a:p>
                      <a:r>
                        <a:rPr lang="en-US" dirty="0" smtClean="0"/>
                        <a:t>0.012</a:t>
                      </a:r>
                      <a:endParaRPr lang="en-US" dirty="0"/>
                    </a:p>
                  </a:txBody>
                  <a:tcPr/>
                </a:tc>
                <a:tc>
                  <a:txBody>
                    <a:bodyPr/>
                    <a:lstStyle/>
                    <a:p>
                      <a:r>
                        <a:rPr lang="en-US" dirty="0" smtClean="0"/>
                        <a:t>0.008</a:t>
                      </a:r>
                      <a:endParaRPr lang="en-US" dirty="0"/>
                    </a:p>
                  </a:txBody>
                  <a:tcPr/>
                </a:tc>
                <a:tc>
                  <a:txBody>
                    <a:bodyPr/>
                    <a:lstStyle/>
                    <a:p>
                      <a:r>
                        <a:rPr lang="en-US" dirty="0" smtClean="0"/>
                        <a:t>0.1</a:t>
                      </a:r>
                      <a:endParaRPr lang="en-US" dirty="0"/>
                    </a:p>
                  </a:txBody>
                  <a:tcPr/>
                </a:tc>
                <a:extLst>
                  <a:ext uri="{0D108BD9-81ED-4DB2-BD59-A6C34878D82A}">
                    <a16:rowId xmlns:a16="http://schemas.microsoft.com/office/drawing/2014/main" val="2673680277"/>
                  </a:ext>
                </a:extLst>
              </a:tr>
            </a:tbl>
          </a:graphicData>
        </a:graphic>
      </p:graphicFrame>
      <p:sp>
        <p:nvSpPr>
          <p:cNvPr id="8" name="Rectangle 7"/>
          <p:cNvSpPr/>
          <p:nvPr/>
        </p:nvSpPr>
        <p:spPr>
          <a:xfrm>
            <a:off x="631371" y="2907316"/>
            <a:ext cx="7688857" cy="523220"/>
          </a:xfrm>
          <a:prstGeom prst="rect">
            <a:avLst/>
          </a:prstGeom>
        </p:spPr>
        <p:txBody>
          <a:bodyPr wrap="square">
            <a:spAutoFit/>
          </a:bodyPr>
          <a:lstStyle/>
          <a:p>
            <a:r>
              <a:rPr lang="en-US" dirty="0"/>
              <a:t>Results when using average of entailment probabilities of synonyms of emotions (</a:t>
            </a:r>
            <a:r>
              <a:rPr lang="en-US" dirty="0" err="1"/>
              <a:t>emotion_s</a:t>
            </a:r>
            <a:r>
              <a:rPr lang="en-US" dirty="0"/>
              <a:t> prompt), </a:t>
            </a:r>
            <a:r>
              <a:rPr lang="en-US" dirty="0" smtClean="0"/>
              <a:t>wrong </a:t>
            </a:r>
            <a:r>
              <a:rPr lang="en-US" dirty="0"/>
              <a:t>predictions</a:t>
            </a:r>
          </a:p>
        </p:txBody>
      </p:sp>
    </p:spTree>
    <p:extLst>
      <p:ext uri="{BB962C8B-B14F-4D97-AF65-F5344CB8AC3E}">
        <p14:creationId xmlns:p14="http://schemas.microsoft.com/office/powerpoint/2010/main" val="4917872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Comparing the average and variance for true and wrong predictions</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12</a:t>
            </a:fld>
            <a:endParaRPr lang="ja" altLang="en-US"/>
          </a:p>
        </p:txBody>
      </p:sp>
      <p:sp>
        <p:nvSpPr>
          <p:cNvPr id="6" name="TextBox 5"/>
          <p:cNvSpPr txBox="1"/>
          <p:nvPr/>
        </p:nvSpPr>
        <p:spPr>
          <a:xfrm>
            <a:off x="446049" y="944137"/>
            <a:ext cx="8058614" cy="1815882"/>
          </a:xfrm>
          <a:prstGeom prst="rect">
            <a:avLst/>
          </a:prstGeom>
          <a:noFill/>
        </p:spPr>
        <p:txBody>
          <a:bodyPr wrap="square" rtlCol="0">
            <a:spAutoFit/>
          </a:bodyPr>
          <a:lstStyle/>
          <a:p>
            <a:r>
              <a:rPr lang="en-US" dirty="0" smtClean="0"/>
              <a:t>The range of average of entailment probabilities of the true emotion is higher for true predictions.</a:t>
            </a:r>
          </a:p>
          <a:p>
            <a:endParaRPr lang="en-US" dirty="0"/>
          </a:p>
          <a:p>
            <a:r>
              <a:rPr lang="en-US" dirty="0" smtClean="0"/>
              <a:t>The range of variance of entailment probabilities of the true emotion is lower for wrong prediction.</a:t>
            </a:r>
          </a:p>
          <a:p>
            <a:endParaRPr lang="en-US" dirty="0"/>
          </a:p>
          <a:p>
            <a:endParaRPr lang="en-US" dirty="0" smtClean="0"/>
          </a:p>
          <a:p>
            <a:endParaRPr lang="en-US" dirty="0" smtClean="0"/>
          </a:p>
          <a:p>
            <a:endParaRPr lang="en-US" dirty="0"/>
          </a:p>
          <a:p>
            <a:r>
              <a:rPr lang="en-US" dirty="0" smtClean="0"/>
              <a:t> </a:t>
            </a:r>
            <a:endParaRPr lang="en-US" dirty="0"/>
          </a:p>
        </p:txBody>
      </p:sp>
    </p:spTree>
    <p:extLst>
      <p:ext uri="{BB962C8B-B14F-4D97-AF65-F5344CB8AC3E}">
        <p14:creationId xmlns:p14="http://schemas.microsoft.com/office/powerpoint/2010/main" val="12286884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and variance of entailment probabilities </a:t>
            </a:r>
            <a:r>
              <a:rPr lang="en-US" b="1" dirty="0" smtClean="0"/>
              <a:t>(Tec </a:t>
            </a:r>
            <a:r>
              <a:rPr lang="en-US" b="1" dirty="0"/>
              <a:t>dataset)</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13</a:t>
            </a:fld>
            <a:endParaRPr lang="ja" altLang="en-US"/>
          </a:p>
        </p:txBody>
      </p:sp>
      <p:sp>
        <p:nvSpPr>
          <p:cNvPr id="5" name="Rectangle 4"/>
          <p:cNvSpPr/>
          <p:nvPr/>
        </p:nvSpPr>
        <p:spPr>
          <a:xfrm>
            <a:off x="525965" y="1003854"/>
            <a:ext cx="8092069" cy="523220"/>
          </a:xfrm>
          <a:prstGeom prst="rect">
            <a:avLst/>
          </a:prstGeom>
        </p:spPr>
        <p:txBody>
          <a:bodyPr wrap="square">
            <a:spAutoFit/>
          </a:bodyPr>
          <a:lstStyle/>
          <a:p>
            <a:r>
              <a:rPr lang="en-US" dirty="0"/>
              <a:t>Results when using max of entailment probabilities of synonyms of emotions (</a:t>
            </a:r>
            <a:r>
              <a:rPr lang="en-US" dirty="0" err="1"/>
              <a:t>emo_s</a:t>
            </a:r>
            <a:r>
              <a:rPr lang="en-US" dirty="0"/>
              <a:t> prompt), </a:t>
            </a:r>
            <a:r>
              <a:rPr lang="en-US" dirty="0" smtClean="0"/>
              <a:t>true </a:t>
            </a:r>
            <a:r>
              <a:rPr lang="en-US" dirty="0"/>
              <a:t>predictions</a:t>
            </a:r>
          </a:p>
        </p:txBody>
      </p:sp>
      <p:graphicFrame>
        <p:nvGraphicFramePr>
          <p:cNvPr id="6" name="Table 5"/>
          <p:cNvGraphicFramePr>
            <a:graphicFrameLocks noGrp="1"/>
          </p:cNvGraphicFramePr>
          <p:nvPr>
            <p:extLst>
              <p:ext uri="{D42A27DB-BD31-4B8C-83A1-F6EECF244321}">
                <p14:modId xmlns:p14="http://schemas.microsoft.com/office/powerpoint/2010/main" val="2745804178"/>
              </p:ext>
            </p:extLst>
          </p:nvPr>
        </p:nvGraphicFramePr>
        <p:xfrm>
          <a:off x="525964" y="3614763"/>
          <a:ext cx="8092070" cy="1112520"/>
        </p:xfrm>
        <a:graphic>
          <a:graphicData uri="http://schemas.openxmlformats.org/drawingml/2006/table">
            <a:tbl>
              <a:tblPr firstRow="1" bandRow="1">
                <a:tableStyleId>{5C22544A-7EE6-4342-B048-85BDC9FD1C3A}</a:tableStyleId>
              </a:tblPr>
              <a:tblGrid>
                <a:gridCol w="1156010">
                  <a:extLst>
                    <a:ext uri="{9D8B030D-6E8A-4147-A177-3AD203B41FA5}">
                      <a16:colId xmlns:a16="http://schemas.microsoft.com/office/drawing/2014/main" val="229355439"/>
                    </a:ext>
                  </a:extLst>
                </a:gridCol>
                <a:gridCol w="1156010">
                  <a:extLst>
                    <a:ext uri="{9D8B030D-6E8A-4147-A177-3AD203B41FA5}">
                      <a16:colId xmlns:a16="http://schemas.microsoft.com/office/drawing/2014/main" val="2563335199"/>
                    </a:ext>
                  </a:extLst>
                </a:gridCol>
                <a:gridCol w="1156010">
                  <a:extLst>
                    <a:ext uri="{9D8B030D-6E8A-4147-A177-3AD203B41FA5}">
                      <a16:colId xmlns:a16="http://schemas.microsoft.com/office/drawing/2014/main" val="4050578638"/>
                    </a:ext>
                  </a:extLst>
                </a:gridCol>
                <a:gridCol w="1156010">
                  <a:extLst>
                    <a:ext uri="{9D8B030D-6E8A-4147-A177-3AD203B41FA5}">
                      <a16:colId xmlns:a16="http://schemas.microsoft.com/office/drawing/2014/main" val="344101686"/>
                    </a:ext>
                  </a:extLst>
                </a:gridCol>
                <a:gridCol w="1156010">
                  <a:extLst>
                    <a:ext uri="{9D8B030D-6E8A-4147-A177-3AD203B41FA5}">
                      <a16:colId xmlns:a16="http://schemas.microsoft.com/office/drawing/2014/main" val="771580053"/>
                    </a:ext>
                  </a:extLst>
                </a:gridCol>
                <a:gridCol w="1156010">
                  <a:extLst>
                    <a:ext uri="{9D8B030D-6E8A-4147-A177-3AD203B41FA5}">
                      <a16:colId xmlns:a16="http://schemas.microsoft.com/office/drawing/2014/main" val="1925265771"/>
                    </a:ext>
                  </a:extLst>
                </a:gridCol>
                <a:gridCol w="1156010">
                  <a:extLst>
                    <a:ext uri="{9D8B030D-6E8A-4147-A177-3AD203B41FA5}">
                      <a16:colId xmlns:a16="http://schemas.microsoft.com/office/drawing/2014/main" val="1042147882"/>
                    </a:ext>
                  </a:extLst>
                </a:gridCol>
              </a:tblGrid>
              <a:tr h="37084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 </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339403055"/>
                  </a:ext>
                </a:extLst>
              </a:tr>
              <a:tr h="370840">
                <a:tc>
                  <a:txBody>
                    <a:bodyPr/>
                    <a:lstStyle/>
                    <a:p>
                      <a:r>
                        <a:rPr lang="en-US" dirty="0" smtClean="0"/>
                        <a:t>Average</a:t>
                      </a:r>
                      <a:endParaRPr lang="en-US" dirty="0"/>
                    </a:p>
                  </a:txBody>
                  <a:tcPr/>
                </a:tc>
                <a:tc>
                  <a:txBody>
                    <a:bodyPr/>
                    <a:lstStyle/>
                    <a:p>
                      <a:r>
                        <a:rPr lang="en-US" dirty="0" smtClean="0"/>
                        <a:t>0.61</a:t>
                      </a:r>
                      <a:endParaRPr lang="en-US" dirty="0"/>
                    </a:p>
                  </a:txBody>
                  <a:tcPr/>
                </a:tc>
                <a:tc>
                  <a:txBody>
                    <a:bodyPr/>
                    <a:lstStyle/>
                    <a:p>
                      <a:r>
                        <a:rPr lang="en-US" dirty="0" smtClean="0"/>
                        <a:t>0.54</a:t>
                      </a:r>
                      <a:endParaRPr lang="en-US" dirty="0"/>
                    </a:p>
                  </a:txBody>
                  <a:tcPr/>
                </a:tc>
                <a:tc>
                  <a:txBody>
                    <a:bodyPr/>
                    <a:lstStyle/>
                    <a:p>
                      <a:r>
                        <a:rPr lang="en-US" dirty="0" smtClean="0"/>
                        <a:t>0.4</a:t>
                      </a:r>
                      <a:endParaRPr lang="en-US" dirty="0"/>
                    </a:p>
                  </a:txBody>
                  <a:tcPr/>
                </a:tc>
                <a:tc>
                  <a:txBody>
                    <a:bodyPr/>
                    <a:lstStyle/>
                    <a:p>
                      <a:r>
                        <a:rPr lang="en-US" dirty="0" smtClean="0"/>
                        <a:t>0.3</a:t>
                      </a:r>
                      <a:endParaRPr lang="en-US" dirty="0"/>
                    </a:p>
                  </a:txBody>
                  <a:tcPr/>
                </a:tc>
                <a:tc>
                  <a:txBody>
                    <a:bodyPr/>
                    <a:lstStyle/>
                    <a:p>
                      <a:r>
                        <a:rPr lang="en-US" dirty="0" smtClean="0"/>
                        <a:t>0.49</a:t>
                      </a:r>
                      <a:endParaRPr lang="en-US" dirty="0"/>
                    </a:p>
                  </a:txBody>
                  <a:tcPr/>
                </a:tc>
                <a:tc>
                  <a:txBody>
                    <a:bodyPr/>
                    <a:lstStyle/>
                    <a:p>
                      <a:r>
                        <a:rPr lang="en-US" dirty="0" smtClean="0"/>
                        <a:t>0.6</a:t>
                      </a:r>
                      <a:endParaRPr lang="en-US" dirty="0"/>
                    </a:p>
                  </a:txBody>
                  <a:tcPr/>
                </a:tc>
                <a:extLst>
                  <a:ext uri="{0D108BD9-81ED-4DB2-BD59-A6C34878D82A}">
                    <a16:rowId xmlns:a16="http://schemas.microsoft.com/office/drawing/2014/main" val="3166059575"/>
                  </a:ext>
                </a:extLst>
              </a:tr>
              <a:tr h="370840">
                <a:tc>
                  <a:txBody>
                    <a:bodyPr/>
                    <a:lstStyle/>
                    <a:p>
                      <a:r>
                        <a:rPr lang="en-US" dirty="0" smtClean="0"/>
                        <a:t>variance</a:t>
                      </a:r>
                      <a:endParaRPr lang="en-US" dirty="0"/>
                    </a:p>
                  </a:txBody>
                  <a:tcPr/>
                </a:tc>
                <a:tc>
                  <a:txBody>
                    <a:bodyPr/>
                    <a:lstStyle/>
                    <a:p>
                      <a:r>
                        <a:rPr lang="en-US" dirty="0" smtClean="0"/>
                        <a:t>0.1</a:t>
                      </a:r>
                      <a:endParaRPr lang="en-US" dirty="0"/>
                    </a:p>
                  </a:txBody>
                  <a:tcPr/>
                </a:tc>
                <a:tc>
                  <a:txBody>
                    <a:bodyPr/>
                    <a:lstStyle/>
                    <a:p>
                      <a:r>
                        <a:rPr lang="en-US" dirty="0" smtClean="0"/>
                        <a:t>0.1</a:t>
                      </a:r>
                      <a:endParaRPr lang="en-US" dirty="0"/>
                    </a:p>
                  </a:txBody>
                  <a:tcPr/>
                </a:tc>
                <a:tc>
                  <a:txBody>
                    <a:bodyPr/>
                    <a:lstStyle/>
                    <a:p>
                      <a:r>
                        <a:rPr lang="en-US" dirty="0" smtClean="0"/>
                        <a:t>0.09</a:t>
                      </a:r>
                      <a:endParaRPr lang="en-US" dirty="0"/>
                    </a:p>
                  </a:txBody>
                  <a:tcPr/>
                </a:tc>
                <a:tc>
                  <a:txBody>
                    <a:bodyPr/>
                    <a:lstStyle/>
                    <a:p>
                      <a:r>
                        <a:rPr lang="en-US" dirty="0" smtClean="0"/>
                        <a:t>0.08</a:t>
                      </a:r>
                      <a:endParaRPr lang="en-US" dirty="0"/>
                    </a:p>
                  </a:txBody>
                  <a:tcPr/>
                </a:tc>
                <a:tc>
                  <a:txBody>
                    <a:bodyPr/>
                    <a:lstStyle/>
                    <a:p>
                      <a:r>
                        <a:rPr lang="en-US" dirty="0" smtClean="0"/>
                        <a:t>0.09</a:t>
                      </a:r>
                      <a:endParaRPr lang="en-US" dirty="0"/>
                    </a:p>
                  </a:txBody>
                  <a:tcPr/>
                </a:tc>
                <a:tc>
                  <a:txBody>
                    <a:bodyPr/>
                    <a:lstStyle/>
                    <a:p>
                      <a:r>
                        <a:rPr lang="en-US" dirty="0" smtClean="0"/>
                        <a:t>0.06</a:t>
                      </a:r>
                      <a:endParaRPr lang="en-US" dirty="0"/>
                    </a:p>
                  </a:txBody>
                  <a:tcPr/>
                </a:tc>
                <a:extLst>
                  <a:ext uri="{0D108BD9-81ED-4DB2-BD59-A6C34878D82A}">
                    <a16:rowId xmlns:a16="http://schemas.microsoft.com/office/drawing/2014/main" val="2799411994"/>
                  </a:ext>
                </a:extLst>
              </a:tr>
            </a:tbl>
          </a:graphicData>
        </a:graphic>
      </p:graphicFrame>
      <p:sp>
        <p:nvSpPr>
          <p:cNvPr id="7" name="TextBox 6"/>
          <p:cNvSpPr txBox="1"/>
          <p:nvPr/>
        </p:nvSpPr>
        <p:spPr>
          <a:xfrm>
            <a:off x="525965" y="3091543"/>
            <a:ext cx="7986664" cy="523220"/>
          </a:xfrm>
          <a:prstGeom prst="rect">
            <a:avLst/>
          </a:prstGeom>
          <a:noFill/>
        </p:spPr>
        <p:txBody>
          <a:bodyPr wrap="square" rtlCol="0">
            <a:spAutoFit/>
          </a:bodyPr>
          <a:lstStyle/>
          <a:p>
            <a:r>
              <a:rPr lang="en-US" dirty="0"/>
              <a:t>Results when using max of </a:t>
            </a:r>
            <a:r>
              <a:rPr lang="en-US" dirty="0" smtClean="0"/>
              <a:t>entailment </a:t>
            </a:r>
            <a:r>
              <a:rPr lang="en-US" dirty="0"/>
              <a:t>probabilities  of synonyms of emotions (</a:t>
            </a:r>
            <a:r>
              <a:rPr lang="en-US" dirty="0" err="1"/>
              <a:t>emo_s</a:t>
            </a:r>
            <a:r>
              <a:rPr lang="en-US" dirty="0"/>
              <a:t> prompt), </a:t>
            </a:r>
            <a:r>
              <a:rPr lang="en-US" dirty="0" smtClean="0"/>
              <a:t>wrong predictions</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069709897"/>
              </p:ext>
            </p:extLst>
          </p:nvPr>
        </p:nvGraphicFramePr>
        <p:xfrm>
          <a:off x="525964" y="1328928"/>
          <a:ext cx="8092070" cy="1535456"/>
        </p:xfrm>
        <a:graphic>
          <a:graphicData uri="http://schemas.openxmlformats.org/drawingml/2006/table">
            <a:tbl>
              <a:tblPr firstRow="1" bandRow="1">
                <a:tableStyleId>{5C22544A-7EE6-4342-B048-85BDC9FD1C3A}</a:tableStyleId>
              </a:tblPr>
              <a:tblGrid>
                <a:gridCol w="1156010">
                  <a:extLst>
                    <a:ext uri="{9D8B030D-6E8A-4147-A177-3AD203B41FA5}">
                      <a16:colId xmlns:a16="http://schemas.microsoft.com/office/drawing/2014/main" val="2796172237"/>
                    </a:ext>
                  </a:extLst>
                </a:gridCol>
                <a:gridCol w="1156010">
                  <a:extLst>
                    <a:ext uri="{9D8B030D-6E8A-4147-A177-3AD203B41FA5}">
                      <a16:colId xmlns:a16="http://schemas.microsoft.com/office/drawing/2014/main" val="252712680"/>
                    </a:ext>
                  </a:extLst>
                </a:gridCol>
                <a:gridCol w="1156010">
                  <a:extLst>
                    <a:ext uri="{9D8B030D-6E8A-4147-A177-3AD203B41FA5}">
                      <a16:colId xmlns:a16="http://schemas.microsoft.com/office/drawing/2014/main" val="1584921264"/>
                    </a:ext>
                  </a:extLst>
                </a:gridCol>
                <a:gridCol w="1156010">
                  <a:extLst>
                    <a:ext uri="{9D8B030D-6E8A-4147-A177-3AD203B41FA5}">
                      <a16:colId xmlns:a16="http://schemas.microsoft.com/office/drawing/2014/main" val="2780893418"/>
                    </a:ext>
                  </a:extLst>
                </a:gridCol>
                <a:gridCol w="1156010">
                  <a:extLst>
                    <a:ext uri="{9D8B030D-6E8A-4147-A177-3AD203B41FA5}">
                      <a16:colId xmlns:a16="http://schemas.microsoft.com/office/drawing/2014/main" val="3800133490"/>
                    </a:ext>
                  </a:extLst>
                </a:gridCol>
                <a:gridCol w="1156010">
                  <a:extLst>
                    <a:ext uri="{9D8B030D-6E8A-4147-A177-3AD203B41FA5}">
                      <a16:colId xmlns:a16="http://schemas.microsoft.com/office/drawing/2014/main" val="2044069010"/>
                    </a:ext>
                  </a:extLst>
                </a:gridCol>
                <a:gridCol w="1156010">
                  <a:extLst>
                    <a:ext uri="{9D8B030D-6E8A-4147-A177-3AD203B41FA5}">
                      <a16:colId xmlns:a16="http://schemas.microsoft.com/office/drawing/2014/main" val="2884231163"/>
                    </a:ext>
                  </a:extLst>
                </a:gridCol>
              </a:tblGrid>
              <a:tr h="469900">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 </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3470508389"/>
                  </a:ext>
                </a:extLst>
              </a:tr>
              <a:tr h="707097">
                <a:tc>
                  <a:txBody>
                    <a:bodyPr/>
                    <a:lstStyle/>
                    <a:p>
                      <a:r>
                        <a:rPr lang="en-US" dirty="0" smtClean="0"/>
                        <a:t>Average</a:t>
                      </a:r>
                      <a:endParaRPr lang="en-US" dirty="0"/>
                    </a:p>
                  </a:txBody>
                  <a:tcPr/>
                </a:tc>
                <a:tc>
                  <a:txBody>
                    <a:bodyPr/>
                    <a:lstStyle/>
                    <a:p>
                      <a:r>
                        <a:rPr lang="en-US" dirty="0" smtClean="0"/>
                        <a:t>0.86</a:t>
                      </a:r>
                      <a:endParaRPr lang="en-US" dirty="0"/>
                    </a:p>
                  </a:txBody>
                  <a:tcPr/>
                </a:tc>
                <a:tc>
                  <a:txBody>
                    <a:bodyPr/>
                    <a:lstStyle/>
                    <a:p>
                      <a:r>
                        <a:rPr lang="en-US" dirty="0" smtClean="0"/>
                        <a:t>0.71</a:t>
                      </a:r>
                      <a:endParaRPr lang="en-US" dirty="0"/>
                    </a:p>
                  </a:txBody>
                  <a:tcPr/>
                </a:tc>
                <a:tc>
                  <a:txBody>
                    <a:bodyPr/>
                    <a:lstStyle/>
                    <a:p>
                      <a:r>
                        <a:rPr lang="en-US" dirty="0" smtClean="0"/>
                        <a:t>0.81</a:t>
                      </a:r>
                      <a:endParaRPr lang="en-US" dirty="0"/>
                    </a:p>
                  </a:txBody>
                  <a:tcPr/>
                </a:tc>
                <a:tc>
                  <a:txBody>
                    <a:bodyPr/>
                    <a:lstStyle/>
                    <a:p>
                      <a:r>
                        <a:rPr lang="en-US" dirty="0" smtClean="0"/>
                        <a:t>0.79</a:t>
                      </a:r>
                      <a:endParaRPr lang="en-US" dirty="0"/>
                    </a:p>
                  </a:txBody>
                  <a:tcPr/>
                </a:tc>
                <a:tc>
                  <a:txBody>
                    <a:bodyPr/>
                    <a:lstStyle/>
                    <a:p>
                      <a:r>
                        <a:rPr lang="en-US" dirty="0" smtClean="0"/>
                        <a:t>0.82</a:t>
                      </a:r>
                      <a:endParaRPr lang="en-US" dirty="0"/>
                    </a:p>
                  </a:txBody>
                  <a:tcPr/>
                </a:tc>
                <a:tc>
                  <a:txBody>
                    <a:bodyPr/>
                    <a:lstStyle/>
                    <a:p>
                      <a:r>
                        <a:rPr lang="en-US" dirty="0" smtClean="0"/>
                        <a:t>0.75</a:t>
                      </a:r>
                      <a:endParaRPr lang="en-US" dirty="0"/>
                    </a:p>
                  </a:txBody>
                  <a:tcPr/>
                </a:tc>
                <a:extLst>
                  <a:ext uri="{0D108BD9-81ED-4DB2-BD59-A6C34878D82A}">
                    <a16:rowId xmlns:a16="http://schemas.microsoft.com/office/drawing/2014/main" val="1905796117"/>
                  </a:ext>
                </a:extLst>
              </a:tr>
              <a:tr h="358459">
                <a:tc>
                  <a:txBody>
                    <a:bodyPr/>
                    <a:lstStyle/>
                    <a:p>
                      <a:r>
                        <a:rPr lang="en-US" dirty="0" smtClean="0"/>
                        <a:t>variance</a:t>
                      </a:r>
                      <a:endParaRPr lang="en-US" dirty="0"/>
                    </a:p>
                  </a:txBody>
                  <a:tcPr/>
                </a:tc>
                <a:tc>
                  <a:txBody>
                    <a:bodyPr/>
                    <a:lstStyle/>
                    <a:p>
                      <a:r>
                        <a:rPr lang="en-US" dirty="0" smtClean="0"/>
                        <a:t>0.03</a:t>
                      </a:r>
                      <a:endParaRPr lang="en-US" dirty="0"/>
                    </a:p>
                  </a:txBody>
                  <a:tcPr/>
                </a:tc>
                <a:tc>
                  <a:txBody>
                    <a:bodyPr/>
                    <a:lstStyle/>
                    <a:p>
                      <a:r>
                        <a:rPr lang="en-US" dirty="0" smtClean="0"/>
                        <a:t>0.03</a:t>
                      </a:r>
                      <a:endParaRPr lang="en-US" dirty="0"/>
                    </a:p>
                  </a:txBody>
                  <a:tcPr/>
                </a:tc>
                <a:tc>
                  <a:txBody>
                    <a:bodyPr/>
                    <a:lstStyle/>
                    <a:p>
                      <a:r>
                        <a:rPr lang="en-US" dirty="0" smtClean="0"/>
                        <a:t>0.04</a:t>
                      </a:r>
                      <a:endParaRPr lang="en-US" dirty="0"/>
                    </a:p>
                  </a:txBody>
                  <a:tcPr/>
                </a:tc>
                <a:tc>
                  <a:txBody>
                    <a:bodyPr/>
                    <a:lstStyle/>
                    <a:p>
                      <a:r>
                        <a:rPr lang="en-US" dirty="0" smtClean="0"/>
                        <a:t>0.05</a:t>
                      </a:r>
                      <a:endParaRPr lang="en-US" dirty="0"/>
                    </a:p>
                  </a:txBody>
                  <a:tcPr/>
                </a:tc>
                <a:tc>
                  <a:txBody>
                    <a:bodyPr/>
                    <a:lstStyle/>
                    <a:p>
                      <a:r>
                        <a:rPr lang="en-US" dirty="0" smtClean="0"/>
                        <a:t>0.04</a:t>
                      </a:r>
                      <a:endParaRPr lang="en-US" dirty="0"/>
                    </a:p>
                  </a:txBody>
                  <a:tcPr/>
                </a:tc>
                <a:tc>
                  <a:txBody>
                    <a:bodyPr/>
                    <a:lstStyle/>
                    <a:p>
                      <a:r>
                        <a:rPr lang="en-US" dirty="0" smtClean="0"/>
                        <a:t>0.05</a:t>
                      </a:r>
                      <a:endParaRPr lang="en-US" dirty="0"/>
                    </a:p>
                  </a:txBody>
                  <a:tcPr/>
                </a:tc>
                <a:extLst>
                  <a:ext uri="{0D108BD9-81ED-4DB2-BD59-A6C34878D82A}">
                    <a16:rowId xmlns:a16="http://schemas.microsoft.com/office/drawing/2014/main" val="3494457837"/>
                  </a:ext>
                </a:extLst>
              </a:tr>
            </a:tbl>
          </a:graphicData>
        </a:graphic>
      </p:graphicFrame>
    </p:spTree>
    <p:extLst>
      <p:ext uri="{BB962C8B-B14F-4D97-AF65-F5344CB8AC3E}">
        <p14:creationId xmlns:p14="http://schemas.microsoft.com/office/powerpoint/2010/main" val="19241582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14</a:t>
            </a:fld>
            <a:endParaRPr lang="ja" altLang="en-US"/>
          </a:p>
        </p:txBody>
      </p:sp>
      <p:sp>
        <p:nvSpPr>
          <p:cNvPr id="5" name="TextBox 4"/>
          <p:cNvSpPr txBox="1"/>
          <p:nvPr/>
        </p:nvSpPr>
        <p:spPr>
          <a:xfrm>
            <a:off x="1449658" y="156817"/>
            <a:ext cx="7367239" cy="307777"/>
          </a:xfrm>
          <a:prstGeom prst="rect">
            <a:avLst/>
          </a:prstGeom>
          <a:noFill/>
        </p:spPr>
        <p:txBody>
          <a:bodyPr wrap="square" rtlCol="0">
            <a:spAutoFit/>
          </a:bodyPr>
          <a:lstStyle/>
          <a:p>
            <a:r>
              <a:rPr lang="en-US" b="1" dirty="0" smtClean="0"/>
              <a:t>Average and variance of entailment probabilities (Tec dataset)</a:t>
            </a:r>
            <a:endParaRPr lang="en-US" b="1" dirty="0"/>
          </a:p>
        </p:txBody>
      </p:sp>
      <p:sp>
        <p:nvSpPr>
          <p:cNvPr id="6" name="TextBox 5"/>
          <p:cNvSpPr txBox="1"/>
          <p:nvPr/>
        </p:nvSpPr>
        <p:spPr>
          <a:xfrm>
            <a:off x="699831" y="725372"/>
            <a:ext cx="8384695" cy="523220"/>
          </a:xfrm>
          <a:prstGeom prst="rect">
            <a:avLst/>
          </a:prstGeom>
          <a:noFill/>
        </p:spPr>
        <p:txBody>
          <a:bodyPr wrap="square" rtlCol="0">
            <a:spAutoFit/>
          </a:bodyPr>
          <a:lstStyle/>
          <a:p>
            <a:r>
              <a:rPr lang="en-US" dirty="0"/>
              <a:t>Results when </a:t>
            </a:r>
            <a:r>
              <a:rPr lang="en-US" dirty="0" smtClean="0"/>
              <a:t>using average </a:t>
            </a:r>
            <a:r>
              <a:rPr lang="en-US" dirty="0"/>
              <a:t>of entailment probabilities of synonyms of emotions (</a:t>
            </a:r>
            <a:r>
              <a:rPr lang="en-US" dirty="0" err="1" smtClean="0"/>
              <a:t>emotion_s</a:t>
            </a:r>
            <a:r>
              <a:rPr lang="en-US" dirty="0" smtClean="0"/>
              <a:t> </a:t>
            </a:r>
            <a:r>
              <a:rPr lang="en-US" dirty="0"/>
              <a:t>prompt), </a:t>
            </a:r>
            <a:r>
              <a:rPr lang="en-US" dirty="0" smtClean="0"/>
              <a:t>true </a:t>
            </a:r>
            <a:r>
              <a:rPr lang="en-US" dirty="0"/>
              <a:t>predictions</a:t>
            </a:r>
          </a:p>
        </p:txBody>
      </p:sp>
      <p:graphicFrame>
        <p:nvGraphicFramePr>
          <p:cNvPr id="7" name="Table 6"/>
          <p:cNvGraphicFramePr>
            <a:graphicFrameLocks noGrp="1"/>
          </p:cNvGraphicFramePr>
          <p:nvPr>
            <p:extLst>
              <p:ext uri="{D42A27DB-BD31-4B8C-83A1-F6EECF244321}">
                <p14:modId xmlns:p14="http://schemas.microsoft.com/office/powerpoint/2010/main" val="1092468421"/>
              </p:ext>
            </p:extLst>
          </p:nvPr>
        </p:nvGraphicFramePr>
        <p:xfrm>
          <a:off x="699832" y="3380827"/>
          <a:ext cx="7961968" cy="1102143"/>
        </p:xfrm>
        <a:graphic>
          <a:graphicData uri="http://schemas.openxmlformats.org/drawingml/2006/table">
            <a:tbl>
              <a:tblPr firstRow="1" bandRow="1">
                <a:tableStyleId>{5C22544A-7EE6-4342-B048-85BDC9FD1C3A}</a:tableStyleId>
              </a:tblPr>
              <a:tblGrid>
                <a:gridCol w="1137424">
                  <a:extLst>
                    <a:ext uri="{9D8B030D-6E8A-4147-A177-3AD203B41FA5}">
                      <a16:colId xmlns:a16="http://schemas.microsoft.com/office/drawing/2014/main" val="427369863"/>
                    </a:ext>
                  </a:extLst>
                </a:gridCol>
                <a:gridCol w="1137424">
                  <a:extLst>
                    <a:ext uri="{9D8B030D-6E8A-4147-A177-3AD203B41FA5}">
                      <a16:colId xmlns:a16="http://schemas.microsoft.com/office/drawing/2014/main" val="2121946075"/>
                    </a:ext>
                  </a:extLst>
                </a:gridCol>
                <a:gridCol w="1137424">
                  <a:extLst>
                    <a:ext uri="{9D8B030D-6E8A-4147-A177-3AD203B41FA5}">
                      <a16:colId xmlns:a16="http://schemas.microsoft.com/office/drawing/2014/main" val="2351408877"/>
                    </a:ext>
                  </a:extLst>
                </a:gridCol>
                <a:gridCol w="1137424">
                  <a:extLst>
                    <a:ext uri="{9D8B030D-6E8A-4147-A177-3AD203B41FA5}">
                      <a16:colId xmlns:a16="http://schemas.microsoft.com/office/drawing/2014/main" val="808632961"/>
                    </a:ext>
                  </a:extLst>
                </a:gridCol>
                <a:gridCol w="1137424">
                  <a:extLst>
                    <a:ext uri="{9D8B030D-6E8A-4147-A177-3AD203B41FA5}">
                      <a16:colId xmlns:a16="http://schemas.microsoft.com/office/drawing/2014/main" val="1365748420"/>
                    </a:ext>
                  </a:extLst>
                </a:gridCol>
                <a:gridCol w="1137424">
                  <a:extLst>
                    <a:ext uri="{9D8B030D-6E8A-4147-A177-3AD203B41FA5}">
                      <a16:colId xmlns:a16="http://schemas.microsoft.com/office/drawing/2014/main" val="3901356575"/>
                    </a:ext>
                  </a:extLst>
                </a:gridCol>
                <a:gridCol w="1137424">
                  <a:extLst>
                    <a:ext uri="{9D8B030D-6E8A-4147-A177-3AD203B41FA5}">
                      <a16:colId xmlns:a16="http://schemas.microsoft.com/office/drawing/2014/main" val="966027205"/>
                    </a:ext>
                  </a:extLst>
                </a:gridCol>
              </a:tblGrid>
              <a:tr h="360463">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2566105008"/>
                  </a:ext>
                </a:extLst>
              </a:tr>
              <a:tr h="370840">
                <a:tc>
                  <a:txBody>
                    <a:bodyPr/>
                    <a:lstStyle/>
                    <a:p>
                      <a:r>
                        <a:rPr lang="en-US" dirty="0" smtClean="0"/>
                        <a:t>Average</a:t>
                      </a:r>
                      <a:endParaRPr lang="en-US" dirty="0"/>
                    </a:p>
                  </a:txBody>
                  <a:tcPr/>
                </a:tc>
                <a:tc>
                  <a:txBody>
                    <a:bodyPr/>
                    <a:lstStyle/>
                    <a:p>
                      <a:r>
                        <a:rPr lang="en-US" dirty="0" smtClean="0"/>
                        <a:t>0.47</a:t>
                      </a:r>
                      <a:endParaRPr lang="en-US" dirty="0"/>
                    </a:p>
                  </a:txBody>
                  <a:tcPr/>
                </a:tc>
                <a:tc>
                  <a:txBody>
                    <a:bodyPr/>
                    <a:lstStyle/>
                    <a:p>
                      <a:r>
                        <a:rPr lang="en-US" dirty="0" smtClean="0"/>
                        <a:t>0.52</a:t>
                      </a:r>
                      <a:endParaRPr lang="en-US" dirty="0"/>
                    </a:p>
                  </a:txBody>
                  <a:tcPr/>
                </a:tc>
                <a:tc>
                  <a:txBody>
                    <a:bodyPr/>
                    <a:lstStyle/>
                    <a:p>
                      <a:r>
                        <a:rPr lang="en-US" dirty="0" smtClean="0"/>
                        <a:t>0.31</a:t>
                      </a:r>
                      <a:endParaRPr lang="en-US" dirty="0"/>
                    </a:p>
                  </a:txBody>
                  <a:tcPr/>
                </a:tc>
                <a:tc>
                  <a:txBody>
                    <a:bodyPr/>
                    <a:lstStyle/>
                    <a:p>
                      <a:r>
                        <a:rPr lang="en-US" dirty="0" smtClean="0"/>
                        <a:t>0.23</a:t>
                      </a:r>
                      <a:endParaRPr lang="en-US" dirty="0"/>
                    </a:p>
                  </a:txBody>
                  <a:tcPr/>
                </a:tc>
                <a:tc>
                  <a:txBody>
                    <a:bodyPr/>
                    <a:lstStyle/>
                    <a:p>
                      <a:r>
                        <a:rPr lang="en-US" dirty="0" smtClean="0"/>
                        <a:t>0.39</a:t>
                      </a:r>
                      <a:endParaRPr lang="en-US" dirty="0"/>
                    </a:p>
                  </a:txBody>
                  <a:tcPr/>
                </a:tc>
                <a:tc>
                  <a:txBody>
                    <a:bodyPr/>
                    <a:lstStyle/>
                    <a:p>
                      <a:r>
                        <a:rPr lang="en-US" dirty="0" smtClean="0"/>
                        <a:t>0.57</a:t>
                      </a:r>
                      <a:endParaRPr lang="en-US" dirty="0"/>
                    </a:p>
                  </a:txBody>
                  <a:tcPr/>
                </a:tc>
                <a:extLst>
                  <a:ext uri="{0D108BD9-81ED-4DB2-BD59-A6C34878D82A}">
                    <a16:rowId xmlns:a16="http://schemas.microsoft.com/office/drawing/2014/main" val="1323346493"/>
                  </a:ext>
                </a:extLst>
              </a:tr>
              <a:tr h="370840">
                <a:tc>
                  <a:txBody>
                    <a:bodyPr/>
                    <a:lstStyle/>
                    <a:p>
                      <a:r>
                        <a:rPr lang="en-US" dirty="0" smtClean="0"/>
                        <a:t>variance</a:t>
                      </a:r>
                      <a:endParaRPr lang="en-US" dirty="0"/>
                    </a:p>
                  </a:txBody>
                  <a:tcPr/>
                </a:tc>
                <a:tc>
                  <a:txBody>
                    <a:bodyPr/>
                    <a:lstStyle/>
                    <a:p>
                      <a:r>
                        <a:rPr lang="en-US" dirty="0" smtClean="0"/>
                        <a:t>0.09</a:t>
                      </a:r>
                      <a:endParaRPr lang="en-US" dirty="0"/>
                    </a:p>
                  </a:txBody>
                  <a:tcPr/>
                </a:tc>
                <a:tc>
                  <a:txBody>
                    <a:bodyPr/>
                    <a:lstStyle/>
                    <a:p>
                      <a:r>
                        <a:rPr lang="en-US" dirty="0" smtClean="0"/>
                        <a:t>0.09</a:t>
                      </a:r>
                      <a:endParaRPr lang="en-US" dirty="0"/>
                    </a:p>
                  </a:txBody>
                  <a:tcPr/>
                </a:tc>
                <a:tc>
                  <a:txBody>
                    <a:bodyPr/>
                    <a:lstStyle/>
                    <a:p>
                      <a:r>
                        <a:rPr lang="en-US" dirty="0" smtClean="0"/>
                        <a:t>0.07</a:t>
                      </a:r>
                      <a:endParaRPr lang="en-US" dirty="0"/>
                    </a:p>
                  </a:txBody>
                  <a:tcPr/>
                </a:tc>
                <a:tc>
                  <a:txBody>
                    <a:bodyPr/>
                    <a:lstStyle/>
                    <a:p>
                      <a:r>
                        <a:rPr lang="en-US" dirty="0" smtClean="0"/>
                        <a:t>0.04</a:t>
                      </a:r>
                      <a:endParaRPr lang="en-US" dirty="0"/>
                    </a:p>
                  </a:txBody>
                  <a:tcPr/>
                </a:tc>
                <a:tc>
                  <a:txBody>
                    <a:bodyPr/>
                    <a:lstStyle/>
                    <a:p>
                      <a:r>
                        <a:rPr lang="en-US" dirty="0" smtClean="0"/>
                        <a:t>0.07</a:t>
                      </a:r>
                      <a:endParaRPr lang="en-US" dirty="0"/>
                    </a:p>
                  </a:txBody>
                  <a:tcPr/>
                </a:tc>
                <a:tc>
                  <a:txBody>
                    <a:bodyPr/>
                    <a:lstStyle/>
                    <a:p>
                      <a:r>
                        <a:rPr lang="en-US" dirty="0" smtClean="0"/>
                        <a:t>0.04</a:t>
                      </a:r>
                      <a:endParaRPr lang="en-US" dirty="0"/>
                    </a:p>
                  </a:txBody>
                  <a:tcPr/>
                </a:tc>
                <a:extLst>
                  <a:ext uri="{0D108BD9-81ED-4DB2-BD59-A6C34878D82A}">
                    <a16:rowId xmlns:a16="http://schemas.microsoft.com/office/drawing/2014/main" val="1087791759"/>
                  </a:ext>
                </a:extLst>
              </a:tr>
            </a:tbl>
          </a:graphicData>
        </a:graphic>
      </p:graphicFrame>
      <p:sp>
        <p:nvSpPr>
          <p:cNvPr id="8" name="TextBox 7"/>
          <p:cNvSpPr txBox="1"/>
          <p:nvPr/>
        </p:nvSpPr>
        <p:spPr>
          <a:xfrm>
            <a:off x="624468" y="2935640"/>
            <a:ext cx="8519532" cy="738664"/>
          </a:xfrm>
          <a:prstGeom prst="rect">
            <a:avLst/>
          </a:prstGeom>
          <a:noFill/>
        </p:spPr>
        <p:txBody>
          <a:bodyPr wrap="square" rtlCol="0">
            <a:spAutoFit/>
          </a:bodyPr>
          <a:lstStyle/>
          <a:p>
            <a:r>
              <a:rPr lang="en-US" dirty="0"/>
              <a:t>Results when using </a:t>
            </a:r>
            <a:r>
              <a:rPr lang="en-US" dirty="0" smtClean="0"/>
              <a:t>average </a:t>
            </a:r>
            <a:r>
              <a:rPr lang="en-US" dirty="0"/>
              <a:t>of entailment probabilities of synonyms of emotions (</a:t>
            </a:r>
            <a:r>
              <a:rPr lang="en-US" dirty="0" err="1" smtClean="0"/>
              <a:t>emotion_s</a:t>
            </a:r>
            <a:r>
              <a:rPr lang="en-US" dirty="0" smtClean="0"/>
              <a:t> </a:t>
            </a:r>
            <a:r>
              <a:rPr lang="en-US" dirty="0"/>
              <a:t>prompt), </a:t>
            </a:r>
            <a:r>
              <a:rPr lang="en-US" dirty="0" smtClean="0"/>
              <a:t>wrong </a:t>
            </a:r>
            <a:r>
              <a:rPr lang="en-US" dirty="0"/>
              <a:t>predictions</a:t>
            </a:r>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94984271"/>
              </p:ext>
            </p:extLst>
          </p:nvPr>
        </p:nvGraphicFramePr>
        <p:xfrm>
          <a:off x="699832" y="1381527"/>
          <a:ext cx="7961968" cy="1320830"/>
        </p:xfrm>
        <a:graphic>
          <a:graphicData uri="http://schemas.openxmlformats.org/drawingml/2006/table">
            <a:tbl>
              <a:tblPr firstRow="1" bandRow="1">
                <a:tableStyleId>{5C22544A-7EE6-4342-B048-85BDC9FD1C3A}</a:tableStyleId>
              </a:tblPr>
              <a:tblGrid>
                <a:gridCol w="1137424">
                  <a:extLst>
                    <a:ext uri="{9D8B030D-6E8A-4147-A177-3AD203B41FA5}">
                      <a16:colId xmlns:a16="http://schemas.microsoft.com/office/drawing/2014/main" val="427369863"/>
                    </a:ext>
                  </a:extLst>
                </a:gridCol>
                <a:gridCol w="1137424">
                  <a:extLst>
                    <a:ext uri="{9D8B030D-6E8A-4147-A177-3AD203B41FA5}">
                      <a16:colId xmlns:a16="http://schemas.microsoft.com/office/drawing/2014/main" val="2121946075"/>
                    </a:ext>
                  </a:extLst>
                </a:gridCol>
                <a:gridCol w="1137424">
                  <a:extLst>
                    <a:ext uri="{9D8B030D-6E8A-4147-A177-3AD203B41FA5}">
                      <a16:colId xmlns:a16="http://schemas.microsoft.com/office/drawing/2014/main" val="2351408877"/>
                    </a:ext>
                  </a:extLst>
                </a:gridCol>
                <a:gridCol w="1137424">
                  <a:extLst>
                    <a:ext uri="{9D8B030D-6E8A-4147-A177-3AD203B41FA5}">
                      <a16:colId xmlns:a16="http://schemas.microsoft.com/office/drawing/2014/main" val="808632961"/>
                    </a:ext>
                  </a:extLst>
                </a:gridCol>
                <a:gridCol w="1137424">
                  <a:extLst>
                    <a:ext uri="{9D8B030D-6E8A-4147-A177-3AD203B41FA5}">
                      <a16:colId xmlns:a16="http://schemas.microsoft.com/office/drawing/2014/main" val="1365748420"/>
                    </a:ext>
                  </a:extLst>
                </a:gridCol>
                <a:gridCol w="1137424">
                  <a:extLst>
                    <a:ext uri="{9D8B030D-6E8A-4147-A177-3AD203B41FA5}">
                      <a16:colId xmlns:a16="http://schemas.microsoft.com/office/drawing/2014/main" val="3901356575"/>
                    </a:ext>
                  </a:extLst>
                </a:gridCol>
                <a:gridCol w="1137424">
                  <a:extLst>
                    <a:ext uri="{9D8B030D-6E8A-4147-A177-3AD203B41FA5}">
                      <a16:colId xmlns:a16="http://schemas.microsoft.com/office/drawing/2014/main" val="966027205"/>
                    </a:ext>
                  </a:extLst>
                </a:gridCol>
              </a:tblGrid>
              <a:tr h="346429">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2566105008"/>
                  </a:ext>
                </a:extLst>
              </a:tr>
              <a:tr h="646607">
                <a:tc>
                  <a:txBody>
                    <a:bodyPr/>
                    <a:lstStyle/>
                    <a:p>
                      <a:r>
                        <a:rPr lang="en-US" dirty="0" smtClean="0"/>
                        <a:t>Average</a:t>
                      </a:r>
                      <a:endParaRPr lang="en-US" dirty="0"/>
                    </a:p>
                  </a:txBody>
                  <a:tcPr/>
                </a:tc>
                <a:tc>
                  <a:txBody>
                    <a:bodyPr/>
                    <a:lstStyle/>
                    <a:p>
                      <a:r>
                        <a:rPr lang="en-US" dirty="0" smtClean="0"/>
                        <a:t>0.84</a:t>
                      </a:r>
                      <a:endParaRPr lang="en-US" dirty="0"/>
                    </a:p>
                  </a:txBody>
                  <a:tcPr/>
                </a:tc>
                <a:tc>
                  <a:txBody>
                    <a:bodyPr/>
                    <a:lstStyle/>
                    <a:p>
                      <a:r>
                        <a:rPr lang="en-US" dirty="0" smtClean="0"/>
                        <a:t>0.86</a:t>
                      </a:r>
                      <a:endParaRPr lang="en-US" dirty="0"/>
                    </a:p>
                  </a:txBody>
                  <a:tcPr/>
                </a:tc>
                <a:tc>
                  <a:txBody>
                    <a:bodyPr/>
                    <a:lstStyle/>
                    <a:p>
                      <a:r>
                        <a:rPr lang="en-US" dirty="0" smtClean="0"/>
                        <a:t>0.61</a:t>
                      </a:r>
                      <a:endParaRPr lang="en-US" dirty="0"/>
                    </a:p>
                  </a:txBody>
                  <a:tcPr/>
                </a:tc>
                <a:tc>
                  <a:txBody>
                    <a:bodyPr/>
                    <a:lstStyle/>
                    <a:p>
                      <a:r>
                        <a:rPr lang="en-US" dirty="0" smtClean="0"/>
                        <a:t>0.75</a:t>
                      </a:r>
                      <a:endParaRPr lang="en-US" dirty="0"/>
                    </a:p>
                  </a:txBody>
                  <a:tcPr/>
                </a:tc>
                <a:tc>
                  <a:txBody>
                    <a:bodyPr/>
                    <a:lstStyle/>
                    <a:p>
                      <a:r>
                        <a:rPr lang="en-US" dirty="0" smtClean="0"/>
                        <a:t>0.79</a:t>
                      </a:r>
                      <a:endParaRPr lang="en-US" dirty="0"/>
                    </a:p>
                  </a:txBody>
                  <a:tcPr/>
                </a:tc>
                <a:tc>
                  <a:txBody>
                    <a:bodyPr/>
                    <a:lstStyle/>
                    <a:p>
                      <a:r>
                        <a:rPr lang="en-US" dirty="0" smtClean="0"/>
                        <a:t>0.77</a:t>
                      </a:r>
                      <a:endParaRPr lang="en-US" dirty="0"/>
                    </a:p>
                  </a:txBody>
                  <a:tcPr/>
                </a:tc>
                <a:extLst>
                  <a:ext uri="{0D108BD9-81ED-4DB2-BD59-A6C34878D82A}">
                    <a16:rowId xmlns:a16="http://schemas.microsoft.com/office/drawing/2014/main" val="1323346493"/>
                  </a:ext>
                </a:extLst>
              </a:tr>
              <a:tr h="327794">
                <a:tc>
                  <a:txBody>
                    <a:bodyPr/>
                    <a:lstStyle/>
                    <a:p>
                      <a:r>
                        <a:rPr lang="en-US" dirty="0" smtClean="0"/>
                        <a:t>variance</a:t>
                      </a:r>
                      <a:endParaRPr lang="en-US" dirty="0"/>
                    </a:p>
                  </a:txBody>
                  <a:tcPr/>
                </a:tc>
                <a:tc>
                  <a:txBody>
                    <a:bodyPr/>
                    <a:lstStyle/>
                    <a:p>
                      <a:r>
                        <a:rPr lang="en-US" dirty="0" smtClean="0"/>
                        <a:t>0.03</a:t>
                      </a:r>
                      <a:endParaRPr lang="en-US" dirty="0"/>
                    </a:p>
                  </a:txBody>
                  <a:tcPr/>
                </a:tc>
                <a:tc>
                  <a:txBody>
                    <a:bodyPr/>
                    <a:lstStyle/>
                    <a:p>
                      <a:r>
                        <a:rPr lang="en-US" dirty="0" smtClean="0"/>
                        <a:t>0.02</a:t>
                      </a:r>
                      <a:endParaRPr lang="en-US" dirty="0"/>
                    </a:p>
                  </a:txBody>
                  <a:tcPr/>
                </a:tc>
                <a:tc>
                  <a:txBody>
                    <a:bodyPr/>
                    <a:lstStyle/>
                    <a:p>
                      <a:r>
                        <a:rPr lang="en-US" dirty="0" smtClean="0"/>
                        <a:t>0.06</a:t>
                      </a:r>
                      <a:endParaRPr lang="en-US" dirty="0"/>
                    </a:p>
                  </a:txBody>
                  <a:tcPr/>
                </a:tc>
                <a:tc>
                  <a:txBody>
                    <a:bodyPr/>
                    <a:lstStyle/>
                    <a:p>
                      <a:r>
                        <a:rPr lang="en-US" dirty="0" smtClean="0"/>
                        <a:t>0.03</a:t>
                      </a:r>
                      <a:endParaRPr lang="en-US" dirty="0"/>
                    </a:p>
                  </a:txBody>
                  <a:tcPr/>
                </a:tc>
                <a:tc>
                  <a:txBody>
                    <a:bodyPr/>
                    <a:lstStyle/>
                    <a:p>
                      <a:r>
                        <a:rPr lang="en-US" dirty="0" smtClean="0"/>
                        <a:t>0.02</a:t>
                      </a:r>
                      <a:endParaRPr lang="en-US" dirty="0"/>
                    </a:p>
                  </a:txBody>
                  <a:tcPr/>
                </a:tc>
                <a:tc>
                  <a:txBody>
                    <a:bodyPr/>
                    <a:lstStyle/>
                    <a:p>
                      <a:r>
                        <a:rPr lang="en-US" dirty="0" smtClean="0"/>
                        <a:t>0.03</a:t>
                      </a:r>
                      <a:endParaRPr lang="en-US" dirty="0"/>
                    </a:p>
                  </a:txBody>
                  <a:tcPr/>
                </a:tc>
                <a:extLst>
                  <a:ext uri="{0D108BD9-81ED-4DB2-BD59-A6C34878D82A}">
                    <a16:rowId xmlns:a16="http://schemas.microsoft.com/office/drawing/2014/main" val="1087791759"/>
                  </a:ext>
                </a:extLst>
              </a:tr>
            </a:tbl>
          </a:graphicData>
        </a:graphic>
      </p:graphicFrame>
    </p:spTree>
    <p:extLst>
      <p:ext uri="{BB962C8B-B14F-4D97-AF65-F5344CB8AC3E}">
        <p14:creationId xmlns:p14="http://schemas.microsoft.com/office/powerpoint/2010/main" val="26120141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The entailment probability for some sample sentences</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15</a:t>
            </a:fld>
            <a:endParaRPr lang="ja" altLang="en-US"/>
          </a:p>
        </p:txBody>
      </p:sp>
      <p:sp>
        <p:nvSpPr>
          <p:cNvPr id="6" name="TextBox 5"/>
          <p:cNvSpPr txBox="1"/>
          <p:nvPr/>
        </p:nvSpPr>
        <p:spPr>
          <a:xfrm>
            <a:off x="185057" y="572700"/>
            <a:ext cx="8580598" cy="6555641"/>
          </a:xfrm>
          <a:prstGeom prst="rect">
            <a:avLst/>
          </a:prstGeom>
          <a:noFill/>
        </p:spPr>
        <p:txBody>
          <a:bodyPr wrap="square" rtlCol="0">
            <a:spAutoFit/>
          </a:bodyPr>
          <a:lstStyle/>
          <a:p>
            <a:r>
              <a:rPr lang="en-US" dirty="0"/>
              <a:t>The entailment probability for some sample sentences that the predicted label is wrong.</a:t>
            </a:r>
          </a:p>
          <a:p>
            <a:endParaRPr lang="en-US" dirty="0" smtClean="0"/>
          </a:p>
          <a:p>
            <a:r>
              <a:rPr lang="en-US" dirty="0" smtClean="0"/>
              <a:t>Maximum of entailment probabilities of synonyms (using emotion-s prompt)</a:t>
            </a:r>
          </a:p>
          <a:p>
            <a:endParaRPr lang="en-US" dirty="0" smtClean="0"/>
          </a:p>
          <a:p>
            <a:pPr rtl="1">
              <a:lnSpc>
                <a:spcPct val="150000"/>
              </a:lnSpc>
            </a:pPr>
            <a:r>
              <a:rPr lang="en-US" dirty="0" smtClean="0"/>
              <a:t>In a cottage in a large forest, I was alone for a while in the dark. (from </a:t>
            </a:r>
            <a:r>
              <a:rPr lang="en-US" dirty="0" err="1" smtClean="0"/>
              <a:t>Isear</a:t>
            </a:r>
            <a:r>
              <a:rPr lang="en-US" dirty="0" smtClean="0"/>
              <a:t> dataset)</a:t>
            </a:r>
          </a:p>
          <a:p>
            <a:pPr rtl="1">
              <a:lnSpc>
                <a:spcPct val="150000"/>
              </a:lnSpc>
            </a:pPr>
            <a:r>
              <a:rPr lang="en-US" dirty="0" smtClean="0"/>
              <a:t>True label: fear, entailment probability: 0.92      predicted label: sadness, </a:t>
            </a:r>
            <a:r>
              <a:rPr lang="en-US" dirty="0"/>
              <a:t>entailment probability:</a:t>
            </a:r>
            <a:r>
              <a:rPr lang="en-US" dirty="0" smtClean="0"/>
              <a:t> 0.98</a:t>
            </a:r>
          </a:p>
          <a:p>
            <a:endParaRPr lang="en-US" dirty="0"/>
          </a:p>
          <a:p>
            <a:endParaRPr lang="en-US" dirty="0" smtClean="0"/>
          </a:p>
          <a:p>
            <a:pPr>
              <a:lnSpc>
                <a:spcPct val="150000"/>
              </a:lnSpc>
            </a:pPr>
            <a:r>
              <a:rPr lang="en-US" dirty="0" smtClean="0"/>
              <a:t>I lied, to be precise I cancelled a meeting with a good friend. (from </a:t>
            </a:r>
            <a:r>
              <a:rPr lang="en-US" dirty="0" err="1" smtClean="0"/>
              <a:t>Isear</a:t>
            </a:r>
            <a:r>
              <a:rPr lang="en-US" dirty="0" smtClean="0"/>
              <a:t> dataset) </a:t>
            </a:r>
          </a:p>
          <a:p>
            <a:pPr>
              <a:lnSpc>
                <a:spcPct val="150000"/>
              </a:lnSpc>
            </a:pPr>
            <a:r>
              <a:rPr lang="en-US" dirty="0" smtClean="0"/>
              <a:t>True label: shame, </a:t>
            </a:r>
            <a:r>
              <a:rPr lang="en-US" dirty="0"/>
              <a:t>entailment probability: </a:t>
            </a:r>
            <a:r>
              <a:rPr lang="en-US" dirty="0" smtClean="0"/>
              <a:t>0.82    predicted label: guilt, </a:t>
            </a:r>
            <a:r>
              <a:rPr lang="en-US" dirty="0"/>
              <a:t>entailment probability: </a:t>
            </a:r>
            <a:r>
              <a:rPr lang="en-US" dirty="0" smtClean="0"/>
              <a:t>0.96</a:t>
            </a:r>
          </a:p>
          <a:p>
            <a:endParaRPr lang="en-US" dirty="0" smtClean="0"/>
          </a:p>
          <a:p>
            <a:endParaRPr lang="en-US" dirty="0"/>
          </a:p>
          <a:p>
            <a:r>
              <a:rPr lang="en-US" dirty="0" smtClean="0"/>
              <a:t>Maximum </a:t>
            </a:r>
            <a:r>
              <a:rPr lang="en-US" dirty="0"/>
              <a:t>of entailment probabilities of synonyms (using </a:t>
            </a:r>
            <a:r>
              <a:rPr lang="en-US" dirty="0" smtClean="0"/>
              <a:t>emo-s </a:t>
            </a:r>
            <a:r>
              <a:rPr lang="en-US" dirty="0"/>
              <a:t>prompt</a:t>
            </a:r>
            <a:r>
              <a:rPr lang="en-US" dirty="0" smtClean="0"/>
              <a:t>)</a:t>
            </a:r>
          </a:p>
          <a:p>
            <a:endParaRPr lang="en-US" dirty="0" smtClean="0"/>
          </a:p>
          <a:p>
            <a:r>
              <a:rPr lang="en-US" dirty="0"/>
              <a:t> I received my parcel trashed. It proves it was teared from backside and thing was removed. </a:t>
            </a:r>
            <a:r>
              <a:rPr lang="en-US" dirty="0" err="1"/>
              <a:t>cheapservice</a:t>
            </a:r>
            <a:r>
              <a:rPr lang="en-US" dirty="0"/>
              <a:t> </a:t>
            </a:r>
            <a:r>
              <a:rPr lang="en-US" dirty="0" smtClean="0"/>
              <a:t>(from Tec dataset)</a:t>
            </a:r>
          </a:p>
          <a:p>
            <a:endParaRPr lang="en-US" dirty="0" smtClean="0"/>
          </a:p>
          <a:p>
            <a:r>
              <a:rPr lang="en-US" dirty="0" smtClean="0"/>
              <a:t>True label: anger, </a:t>
            </a:r>
            <a:r>
              <a:rPr lang="en-US" dirty="0"/>
              <a:t>entailment probability: </a:t>
            </a:r>
            <a:r>
              <a:rPr lang="en-US" dirty="0" smtClean="0"/>
              <a:t>0.82           predicted label: surprise, </a:t>
            </a:r>
            <a:r>
              <a:rPr lang="en-US" dirty="0"/>
              <a:t>entailment probability: </a:t>
            </a:r>
            <a:r>
              <a:rPr lang="en-US" dirty="0" smtClean="0"/>
              <a:t>0.94</a:t>
            </a:r>
            <a:endParaRPr lang="en-US" dirty="0"/>
          </a:p>
          <a:p>
            <a:endParaRPr lang="en-US" dirty="0" smtClean="0"/>
          </a:p>
          <a:p>
            <a:endParaRPr lang="en-US" dirty="0"/>
          </a:p>
          <a:p>
            <a:endParaRPr lang="en-US" dirty="0" smtClean="0"/>
          </a:p>
          <a:p>
            <a:endParaRPr lang="en-US" dirty="0"/>
          </a:p>
          <a:p>
            <a:endParaRPr lang="en-US" dirty="0"/>
          </a:p>
          <a:p>
            <a:endParaRPr lang="en-US" dirty="0"/>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19608671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The entailment probability for some sample sentences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16</a:t>
            </a:fld>
            <a:endParaRPr lang="ja" altLang="en-US"/>
          </a:p>
        </p:txBody>
      </p:sp>
      <p:sp>
        <p:nvSpPr>
          <p:cNvPr id="5" name="TextBox 4"/>
          <p:cNvSpPr txBox="1"/>
          <p:nvPr/>
        </p:nvSpPr>
        <p:spPr>
          <a:xfrm>
            <a:off x="311700" y="624821"/>
            <a:ext cx="8750524" cy="3754874"/>
          </a:xfrm>
          <a:prstGeom prst="rect">
            <a:avLst/>
          </a:prstGeom>
          <a:noFill/>
        </p:spPr>
        <p:txBody>
          <a:bodyPr wrap="square" rtlCol="0">
            <a:spAutoFit/>
          </a:bodyPr>
          <a:lstStyle/>
          <a:p>
            <a:endParaRPr lang="en-US" dirty="0"/>
          </a:p>
          <a:p>
            <a:r>
              <a:rPr lang="en-US" dirty="0" smtClean="0"/>
              <a:t>When using average of entailment probabilities of synonyms (using emotion-s prompt)</a:t>
            </a:r>
          </a:p>
          <a:p>
            <a:endParaRPr lang="en-US" dirty="0" smtClean="0"/>
          </a:p>
          <a:p>
            <a:pPr>
              <a:lnSpc>
                <a:spcPct val="150000"/>
              </a:lnSpc>
            </a:pPr>
            <a:r>
              <a:rPr lang="en-US" dirty="0" smtClean="0"/>
              <a:t>When my partner was attacked and lost three teeth. (from </a:t>
            </a:r>
            <a:r>
              <a:rPr lang="en-US" dirty="0" err="1" smtClean="0"/>
              <a:t>Isear</a:t>
            </a:r>
            <a:r>
              <a:rPr lang="en-US" dirty="0" smtClean="0"/>
              <a:t> dataset)</a:t>
            </a:r>
          </a:p>
          <a:p>
            <a:pPr>
              <a:lnSpc>
                <a:spcPct val="150000"/>
              </a:lnSpc>
            </a:pPr>
            <a:r>
              <a:rPr lang="en-US" dirty="0" smtClean="0"/>
              <a:t>True Label: anger, entailment probability: 0.8468,          predicted label: fear: </a:t>
            </a:r>
            <a:r>
              <a:rPr lang="en-US" dirty="0"/>
              <a:t>entailment probability: 0.9034</a:t>
            </a:r>
            <a:endParaRPr lang="en-US" dirty="0" smtClean="0"/>
          </a:p>
          <a:p>
            <a:endParaRPr lang="en-US" dirty="0" smtClean="0"/>
          </a:p>
          <a:p>
            <a:pPr>
              <a:lnSpc>
                <a:spcPct val="150000"/>
              </a:lnSpc>
            </a:pPr>
            <a:r>
              <a:rPr lang="en-US" dirty="0" smtClean="0"/>
              <a:t>When </a:t>
            </a:r>
            <a:r>
              <a:rPr lang="en-US" dirty="0"/>
              <a:t>I saw the list of books to read for an </a:t>
            </a:r>
            <a:r>
              <a:rPr lang="en-US" dirty="0" err="1" smtClean="0"/>
              <a:t>accouting</a:t>
            </a:r>
            <a:r>
              <a:rPr lang="en-US" dirty="0" smtClean="0"/>
              <a:t> </a:t>
            </a:r>
            <a:r>
              <a:rPr lang="en-US" dirty="0"/>
              <a:t>course, I thought " Oh God how will I ever </a:t>
            </a:r>
            <a:r>
              <a:rPr lang="en-US" dirty="0" smtClean="0"/>
              <a:t>manage </a:t>
            </a:r>
            <a:r>
              <a:rPr lang="en-US" dirty="0"/>
              <a:t>it! </a:t>
            </a:r>
            <a:r>
              <a:rPr lang="en-US" dirty="0" smtClean="0"/>
              <a:t>“</a:t>
            </a:r>
          </a:p>
          <a:p>
            <a:pPr>
              <a:lnSpc>
                <a:spcPct val="150000"/>
              </a:lnSpc>
            </a:pPr>
            <a:r>
              <a:rPr lang="en-US" dirty="0" smtClean="0"/>
              <a:t>True Label: Sadness</a:t>
            </a:r>
            <a:r>
              <a:rPr lang="en-US" dirty="0"/>
              <a:t>: entailment probability: 0.76           </a:t>
            </a:r>
            <a:r>
              <a:rPr lang="en-US" dirty="0" smtClean="0"/>
              <a:t>predicted label: fear : </a:t>
            </a:r>
            <a:r>
              <a:rPr lang="en-US" dirty="0"/>
              <a:t>entailment probability: 0.95</a:t>
            </a:r>
          </a:p>
          <a:p>
            <a:endParaRPr lang="en-US" dirty="0" smtClean="0"/>
          </a:p>
          <a:p>
            <a:endParaRPr lang="en-US" dirty="0" smtClean="0"/>
          </a:p>
          <a:p>
            <a:r>
              <a:rPr lang="en-US" dirty="0" smtClean="0"/>
              <a:t>I </a:t>
            </a:r>
            <a:r>
              <a:rPr lang="en-US" dirty="0"/>
              <a:t>just absolutely lost my mind. . </a:t>
            </a:r>
            <a:r>
              <a:rPr lang="en-US" dirty="0" smtClean="0"/>
              <a:t>(            (from Tec dataset)</a:t>
            </a:r>
          </a:p>
          <a:p>
            <a:endParaRPr lang="en-US" dirty="0"/>
          </a:p>
          <a:p>
            <a:r>
              <a:rPr lang="en-US" dirty="0" smtClean="0"/>
              <a:t>True Label</a:t>
            </a:r>
            <a:r>
              <a:rPr lang="en-US" dirty="0"/>
              <a:t>: </a:t>
            </a:r>
            <a:r>
              <a:rPr lang="en-US" dirty="0" smtClean="0"/>
              <a:t>anger</a:t>
            </a:r>
            <a:r>
              <a:rPr lang="en-US" dirty="0"/>
              <a:t>: entailment probability: 0.95               </a:t>
            </a:r>
            <a:r>
              <a:rPr lang="en-US" dirty="0" smtClean="0"/>
              <a:t>predicted label: surprise</a:t>
            </a:r>
            <a:r>
              <a:rPr lang="en-US" dirty="0"/>
              <a:t>: entailment probability: </a:t>
            </a:r>
            <a:r>
              <a:rPr lang="en-US" dirty="0" smtClean="0"/>
              <a:t>0.98</a:t>
            </a:r>
            <a:endParaRPr lang="en-US" dirty="0"/>
          </a:p>
          <a:p>
            <a:endParaRPr lang="en-US" dirty="0" smtClean="0"/>
          </a:p>
          <a:p>
            <a:endParaRPr lang="en-US" dirty="0" smtClean="0"/>
          </a:p>
        </p:txBody>
      </p:sp>
      <p:sp>
        <p:nvSpPr>
          <p:cNvPr id="6" name="TextBox 5"/>
          <p:cNvSpPr txBox="1"/>
          <p:nvPr/>
        </p:nvSpPr>
        <p:spPr>
          <a:xfrm>
            <a:off x="311700" y="4250035"/>
            <a:ext cx="7248293" cy="523220"/>
          </a:xfrm>
          <a:prstGeom prst="rect">
            <a:avLst/>
          </a:prstGeom>
          <a:noFill/>
        </p:spPr>
        <p:txBody>
          <a:bodyPr wrap="square" rtlCol="0">
            <a:spAutoFit/>
          </a:bodyPr>
          <a:lstStyle/>
          <a:p>
            <a:endParaRPr lang="en-US" dirty="0" smtClean="0"/>
          </a:p>
          <a:p>
            <a:r>
              <a:rPr lang="en-US" dirty="0"/>
              <a:t>T</a:t>
            </a:r>
            <a:r>
              <a:rPr lang="en-US" dirty="0" smtClean="0"/>
              <a:t>he entailment probability of the true and predicted label are close to each other.</a:t>
            </a:r>
            <a:endParaRPr lang="en-US" dirty="0"/>
          </a:p>
        </p:txBody>
      </p:sp>
    </p:spTree>
    <p:extLst>
      <p:ext uri="{BB962C8B-B14F-4D97-AF65-F5344CB8AC3E}">
        <p14:creationId xmlns:p14="http://schemas.microsoft.com/office/powerpoint/2010/main" val="18604428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The entailment probability for some sample sentences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17</a:t>
            </a:fld>
            <a:endParaRPr lang="ja" altLang="en-US"/>
          </a:p>
        </p:txBody>
      </p:sp>
      <p:sp>
        <p:nvSpPr>
          <p:cNvPr id="5" name="TextBox 4"/>
          <p:cNvSpPr txBox="1"/>
          <p:nvPr/>
        </p:nvSpPr>
        <p:spPr>
          <a:xfrm>
            <a:off x="208156" y="639607"/>
            <a:ext cx="8727737" cy="7417415"/>
          </a:xfrm>
          <a:prstGeom prst="rect">
            <a:avLst/>
          </a:prstGeom>
          <a:noFill/>
        </p:spPr>
        <p:txBody>
          <a:bodyPr wrap="square" rtlCol="0">
            <a:spAutoFit/>
          </a:bodyPr>
          <a:lstStyle/>
          <a:p>
            <a:endParaRPr lang="en-US" dirty="0" smtClean="0"/>
          </a:p>
          <a:p>
            <a:r>
              <a:rPr lang="en-US" dirty="0"/>
              <a:t>The entailment probability for some sample sentences that the predicted label is </a:t>
            </a:r>
            <a:r>
              <a:rPr lang="en-US" dirty="0" smtClean="0"/>
              <a:t>true.</a:t>
            </a:r>
          </a:p>
          <a:p>
            <a:endParaRPr lang="en-US" dirty="0"/>
          </a:p>
          <a:p>
            <a:r>
              <a:rPr lang="en-US" dirty="0" smtClean="0"/>
              <a:t>When using max of entailment probabilities</a:t>
            </a:r>
          </a:p>
          <a:p>
            <a:endParaRPr lang="en-US" dirty="0"/>
          </a:p>
          <a:p>
            <a:pPr rtl="1">
              <a:lnSpc>
                <a:spcPct val="150000"/>
              </a:lnSpc>
            </a:pPr>
            <a:r>
              <a:rPr lang="en-US" dirty="0" smtClean="0"/>
              <a:t>Every </a:t>
            </a:r>
            <a:r>
              <a:rPr lang="en-US" dirty="0"/>
              <a:t>time I imagine that someone I love or I could contact a serious illness, even death</a:t>
            </a:r>
            <a:r>
              <a:rPr lang="en-US" dirty="0" smtClean="0"/>
              <a:t>. (from </a:t>
            </a:r>
            <a:r>
              <a:rPr lang="en-US" dirty="0" err="1" smtClean="0"/>
              <a:t>Isear</a:t>
            </a:r>
            <a:r>
              <a:rPr lang="en-US" dirty="0" smtClean="0"/>
              <a:t> dataset)</a:t>
            </a:r>
          </a:p>
          <a:p>
            <a:pPr rtl="1">
              <a:lnSpc>
                <a:spcPct val="150000"/>
              </a:lnSpc>
            </a:pPr>
            <a:r>
              <a:rPr lang="en-US" dirty="0" smtClean="0"/>
              <a:t>(</a:t>
            </a:r>
            <a:r>
              <a:rPr lang="en-US" dirty="0" err="1" smtClean="0"/>
              <a:t>emotion_s</a:t>
            </a:r>
            <a:r>
              <a:rPr lang="en-US" dirty="0" smtClean="0"/>
              <a:t> prompt)</a:t>
            </a:r>
          </a:p>
          <a:p>
            <a:pPr rtl="1">
              <a:lnSpc>
                <a:spcPct val="150000"/>
              </a:lnSpc>
            </a:pPr>
            <a:r>
              <a:rPr lang="en-US" dirty="0" smtClean="0"/>
              <a:t>Predicted label and true label: fear  Entailment probability: 0.95</a:t>
            </a:r>
          </a:p>
          <a:p>
            <a:pPr>
              <a:lnSpc>
                <a:spcPct val="150000"/>
              </a:lnSpc>
            </a:pPr>
            <a:endParaRPr lang="en-US" dirty="0" smtClean="0"/>
          </a:p>
          <a:p>
            <a:pPr>
              <a:lnSpc>
                <a:spcPct val="150000"/>
              </a:lnSpc>
            </a:pPr>
            <a:r>
              <a:rPr lang="en-US" dirty="0" smtClean="0"/>
              <a:t>Be </a:t>
            </a:r>
            <a:r>
              <a:rPr lang="en-US" dirty="0"/>
              <a:t>the greatest dancer of your life! practice daily positive habits. fun freedom </a:t>
            </a:r>
            <a:r>
              <a:rPr lang="en-US" dirty="0" smtClean="0"/>
              <a:t>habits (from Tec dataset)</a:t>
            </a:r>
          </a:p>
          <a:p>
            <a:pPr>
              <a:lnSpc>
                <a:spcPct val="150000"/>
              </a:lnSpc>
            </a:pPr>
            <a:r>
              <a:rPr lang="en-US" dirty="0"/>
              <a:t>Predicted label and true label</a:t>
            </a:r>
            <a:r>
              <a:rPr lang="en-US" dirty="0" smtClean="0"/>
              <a:t>: </a:t>
            </a:r>
            <a:r>
              <a:rPr lang="en-US" dirty="0"/>
              <a:t>joy </a:t>
            </a:r>
            <a:r>
              <a:rPr lang="en-US" dirty="0" smtClean="0"/>
              <a:t>  Entailment </a:t>
            </a:r>
            <a:r>
              <a:rPr lang="en-US" dirty="0"/>
              <a:t>probability: </a:t>
            </a:r>
            <a:r>
              <a:rPr lang="en-US" dirty="0" smtClean="0"/>
              <a:t>0.87 </a:t>
            </a:r>
            <a:endParaRPr lang="en-US" dirty="0"/>
          </a:p>
          <a:p>
            <a:pPr>
              <a:lnSpc>
                <a:spcPct val="150000"/>
              </a:lnSpc>
            </a:pPr>
            <a:endParaRPr lang="en-US" dirty="0" smtClean="0"/>
          </a:p>
          <a:p>
            <a:pPr>
              <a:lnSpc>
                <a:spcPct val="150000"/>
              </a:lnSpc>
            </a:pPr>
            <a:endParaRPr lang="en-US" dirty="0" smtClean="0"/>
          </a:p>
          <a:p>
            <a:pPr>
              <a:lnSpc>
                <a:spcPct val="150000"/>
              </a:lnSpc>
            </a:pPr>
            <a:endParaRPr lang="en-US" dirty="0" smtClean="0"/>
          </a:p>
          <a:p>
            <a:pPr>
              <a:lnSpc>
                <a:spcPct val="150000"/>
              </a:lnSpc>
            </a:pPr>
            <a:endParaRPr lang="en-US" dirty="0"/>
          </a:p>
          <a:p>
            <a:pPr>
              <a:lnSpc>
                <a:spcPct val="150000"/>
              </a:lnSpc>
            </a:pPr>
            <a:endParaRPr lang="en-US" dirty="0"/>
          </a:p>
          <a:p>
            <a:pPr>
              <a:lnSpc>
                <a:spcPct val="150000"/>
              </a:lnSpc>
            </a:pPr>
            <a:r>
              <a:rPr lang="en-US" dirty="0" smtClean="0"/>
              <a:t> </a:t>
            </a:r>
          </a:p>
          <a:p>
            <a:pPr>
              <a:lnSpc>
                <a:spcPct val="150000"/>
              </a:lnSpc>
            </a:pPr>
            <a:endParaRPr lang="en-US" dirty="0"/>
          </a:p>
          <a:p>
            <a:pPr>
              <a:lnSpc>
                <a:spcPct val="150000"/>
              </a:lnSpc>
            </a:pP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26493947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The entailment probability for some sample sentences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18</a:t>
            </a:fld>
            <a:endParaRPr lang="ja" altLang="en-US"/>
          </a:p>
        </p:txBody>
      </p:sp>
      <p:sp>
        <p:nvSpPr>
          <p:cNvPr id="5" name="TextBox 4"/>
          <p:cNvSpPr txBox="1"/>
          <p:nvPr/>
        </p:nvSpPr>
        <p:spPr>
          <a:xfrm>
            <a:off x="438615" y="847492"/>
            <a:ext cx="8036312" cy="4508927"/>
          </a:xfrm>
          <a:prstGeom prst="rect">
            <a:avLst/>
          </a:prstGeom>
          <a:noFill/>
        </p:spPr>
        <p:txBody>
          <a:bodyPr wrap="square" rtlCol="0">
            <a:spAutoFit/>
          </a:bodyPr>
          <a:lstStyle/>
          <a:p>
            <a:pPr rtl="1">
              <a:lnSpc>
                <a:spcPct val="150000"/>
              </a:lnSpc>
            </a:pPr>
            <a:r>
              <a:rPr lang="en-US" dirty="0" smtClean="0"/>
              <a:t>Don't </a:t>
            </a:r>
            <a:r>
              <a:rPr lang="en-US" dirty="0"/>
              <a:t>believe the lies, look me in the eyes- please don't be scared of </a:t>
            </a:r>
            <a:r>
              <a:rPr lang="en-US" dirty="0" smtClean="0"/>
              <a:t>me </a:t>
            </a:r>
            <a:r>
              <a:rPr lang="en-US" dirty="0"/>
              <a:t>(from Tec dataset, average of synonyms)</a:t>
            </a:r>
          </a:p>
          <a:p>
            <a:pPr rtl="1">
              <a:lnSpc>
                <a:spcPct val="150000"/>
              </a:lnSpc>
            </a:pPr>
            <a:r>
              <a:rPr lang="en-US" dirty="0" smtClean="0"/>
              <a:t>Predicted and true label: fear   entailment probability: 0.6</a:t>
            </a:r>
          </a:p>
          <a:p>
            <a:endParaRPr lang="en-US" dirty="0"/>
          </a:p>
          <a:p>
            <a:endParaRPr lang="en-US" dirty="0" smtClean="0"/>
          </a:p>
          <a:p>
            <a:pPr>
              <a:lnSpc>
                <a:spcPct val="150000"/>
              </a:lnSpc>
            </a:pPr>
            <a:r>
              <a:rPr lang="en-US" dirty="0"/>
              <a:t>When I pass an examination which I did not think I did well. </a:t>
            </a:r>
            <a:r>
              <a:rPr lang="en-US" dirty="0" smtClean="0"/>
              <a:t>(from </a:t>
            </a:r>
            <a:r>
              <a:rPr lang="en-US" dirty="0" err="1" smtClean="0"/>
              <a:t>Isear</a:t>
            </a:r>
            <a:r>
              <a:rPr lang="en-US" dirty="0" smtClean="0"/>
              <a:t> dataset, average of synonyms)</a:t>
            </a:r>
          </a:p>
          <a:p>
            <a:pPr>
              <a:lnSpc>
                <a:spcPct val="150000"/>
              </a:lnSpc>
            </a:pPr>
            <a:r>
              <a:rPr lang="en-US" dirty="0"/>
              <a:t>Predicted and true label</a:t>
            </a:r>
            <a:r>
              <a:rPr lang="en-US" dirty="0" smtClean="0"/>
              <a:t>: joy  entailment probability:0.8</a:t>
            </a:r>
          </a:p>
          <a:p>
            <a:endParaRPr lang="en-US" dirty="0" smtClean="0"/>
          </a:p>
          <a:p>
            <a:endParaRPr lang="en-US" dirty="0"/>
          </a:p>
          <a:p>
            <a:pPr>
              <a:lnSpc>
                <a:spcPct val="150000"/>
              </a:lnSpc>
            </a:pPr>
            <a:r>
              <a:rPr lang="en-US" dirty="0"/>
              <a:t>When excuses are necessary and I get out of doing it myself</a:t>
            </a:r>
            <a:r>
              <a:rPr lang="en-US" dirty="0" smtClean="0"/>
              <a:t>. (from </a:t>
            </a:r>
            <a:r>
              <a:rPr lang="en-US" dirty="0" err="1" smtClean="0"/>
              <a:t>Isear</a:t>
            </a:r>
            <a:r>
              <a:rPr lang="en-US" dirty="0" smtClean="0"/>
              <a:t> dataset, </a:t>
            </a:r>
            <a:r>
              <a:rPr lang="en-US" dirty="0"/>
              <a:t>average of synonyms</a:t>
            </a:r>
            <a:r>
              <a:rPr lang="en-US" dirty="0" smtClean="0"/>
              <a:t>)</a:t>
            </a:r>
          </a:p>
          <a:p>
            <a:pPr>
              <a:lnSpc>
                <a:spcPct val="150000"/>
              </a:lnSpc>
            </a:pPr>
            <a:r>
              <a:rPr lang="en-US" dirty="0" smtClean="0"/>
              <a:t>Predicted and true label: guilt  entailment probability: 0.52</a:t>
            </a:r>
          </a:p>
          <a:p>
            <a:endParaRPr lang="en-US" dirty="0"/>
          </a:p>
          <a:p>
            <a:endParaRPr lang="en-US" dirty="0" smtClean="0"/>
          </a:p>
          <a:p>
            <a:endParaRPr lang="en-US" dirty="0"/>
          </a:p>
        </p:txBody>
      </p:sp>
    </p:spTree>
    <p:extLst>
      <p:ext uri="{BB962C8B-B14F-4D97-AF65-F5344CB8AC3E}">
        <p14:creationId xmlns:p14="http://schemas.microsoft.com/office/powerpoint/2010/main" val="15994955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The problem when using max of entailment probabilities</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19</a:t>
            </a:fld>
            <a:endParaRPr lang="ja" altLang="en-US"/>
          </a:p>
        </p:txBody>
      </p:sp>
      <p:sp>
        <p:nvSpPr>
          <p:cNvPr id="5" name="TextBox 4"/>
          <p:cNvSpPr txBox="1"/>
          <p:nvPr/>
        </p:nvSpPr>
        <p:spPr>
          <a:xfrm>
            <a:off x="498087" y="654205"/>
            <a:ext cx="8192429" cy="4939814"/>
          </a:xfrm>
          <a:prstGeom prst="rect">
            <a:avLst/>
          </a:prstGeom>
          <a:noFill/>
        </p:spPr>
        <p:txBody>
          <a:bodyPr wrap="square" rtlCol="0">
            <a:spAutoFit/>
          </a:bodyPr>
          <a:lstStyle/>
          <a:p>
            <a:r>
              <a:rPr lang="en-US" dirty="0" smtClean="0"/>
              <a:t>Some synonyms of emotions that have the maximum of entailment probabilities lead to more wrong predictions compared to true predictions.</a:t>
            </a:r>
          </a:p>
          <a:p>
            <a:endParaRPr lang="en-US" dirty="0"/>
          </a:p>
          <a:p>
            <a:r>
              <a:rPr lang="en-US" dirty="0" smtClean="0"/>
              <a:t>For </a:t>
            </a:r>
            <a:r>
              <a:rPr lang="en-US" dirty="0" err="1" smtClean="0"/>
              <a:t>Isear</a:t>
            </a:r>
            <a:r>
              <a:rPr lang="en-US" dirty="0" smtClean="0"/>
              <a:t> dataset, when using emotion-s prompt:</a:t>
            </a:r>
          </a:p>
          <a:p>
            <a:endParaRPr lang="en-US" dirty="0" smtClean="0"/>
          </a:p>
          <a:p>
            <a:pPr>
              <a:lnSpc>
                <a:spcPct val="150000"/>
              </a:lnSpc>
            </a:pPr>
            <a:r>
              <a:rPr lang="en-US" dirty="0" smtClean="0"/>
              <a:t>Sadness: </a:t>
            </a:r>
            <a:r>
              <a:rPr lang="en-US" dirty="0" smtClean="0"/>
              <a:t>unhappiness </a:t>
            </a:r>
            <a:r>
              <a:rPr lang="en-US" dirty="0" smtClean="0"/>
              <a:t>, </a:t>
            </a:r>
            <a:r>
              <a:rPr lang="en-US" dirty="0"/>
              <a:t>loneliness </a:t>
            </a:r>
            <a:r>
              <a:rPr lang="en-US" dirty="0" smtClean="0"/>
              <a:t>, </a:t>
            </a:r>
            <a:r>
              <a:rPr lang="en-US" dirty="0"/>
              <a:t>depression </a:t>
            </a:r>
            <a:r>
              <a:rPr lang="en-US" dirty="0" smtClean="0"/>
              <a:t> </a:t>
            </a:r>
            <a:endParaRPr lang="en-US" dirty="0"/>
          </a:p>
          <a:p>
            <a:pPr>
              <a:lnSpc>
                <a:spcPct val="150000"/>
              </a:lnSpc>
            </a:pPr>
            <a:r>
              <a:rPr lang="en-US" dirty="0"/>
              <a:t>a</a:t>
            </a:r>
            <a:r>
              <a:rPr lang="en-US" dirty="0" smtClean="0"/>
              <a:t>nger: </a:t>
            </a:r>
            <a:r>
              <a:rPr lang="en-US" dirty="0" smtClean="0"/>
              <a:t>annoyance, rage, fury, irritation </a:t>
            </a:r>
            <a:r>
              <a:rPr lang="en-US" dirty="0" smtClean="0"/>
              <a:t>disgust</a:t>
            </a:r>
            <a:r>
              <a:rPr lang="en-US" dirty="0" smtClean="0"/>
              <a:t>: </a:t>
            </a:r>
            <a:r>
              <a:rPr lang="en-US" dirty="0"/>
              <a:t>loathing, </a:t>
            </a:r>
            <a:r>
              <a:rPr lang="en-US" dirty="0" smtClean="0"/>
              <a:t>repugnance</a:t>
            </a:r>
          </a:p>
          <a:p>
            <a:pPr>
              <a:lnSpc>
                <a:spcPct val="150000"/>
              </a:lnSpc>
            </a:pPr>
            <a:r>
              <a:rPr lang="en-US" dirty="0" smtClean="0"/>
              <a:t>Fear: horror</a:t>
            </a:r>
          </a:p>
          <a:p>
            <a:pPr>
              <a:lnSpc>
                <a:spcPct val="150000"/>
              </a:lnSpc>
            </a:pPr>
            <a:r>
              <a:rPr lang="en-US" dirty="0" smtClean="0"/>
              <a:t>Shame: </a:t>
            </a:r>
            <a:r>
              <a:rPr lang="en-US" dirty="0"/>
              <a:t>'dishonor', </a:t>
            </a:r>
            <a:r>
              <a:rPr lang="en-US" dirty="0" smtClean="0"/>
              <a:t>'discredit‘</a:t>
            </a:r>
          </a:p>
          <a:p>
            <a:pPr>
              <a:lnSpc>
                <a:spcPct val="150000"/>
              </a:lnSpc>
            </a:pPr>
            <a:r>
              <a:rPr lang="en-US" dirty="0" smtClean="0"/>
              <a:t>Guilt: </a:t>
            </a:r>
            <a:r>
              <a:rPr lang="en-US" dirty="0"/>
              <a:t>culpability, blameworthy, ' responsibility', 'misconduct', </a:t>
            </a:r>
            <a:r>
              <a:rPr lang="en-US" dirty="0" smtClean="0"/>
              <a:t>'regret‘</a:t>
            </a:r>
          </a:p>
          <a:p>
            <a:endParaRPr lang="en-US" dirty="0"/>
          </a:p>
          <a:p>
            <a:r>
              <a:rPr lang="en-US" dirty="0" smtClean="0"/>
              <a:t>When removing these synonyms, it could lead to a little improvement. </a:t>
            </a:r>
            <a:r>
              <a:rPr lang="en-US" dirty="0" smtClean="0"/>
              <a:t>(Macro average F1: 0.62 </a:t>
            </a:r>
            <a:r>
              <a:rPr lang="en-US" dirty="0" smtClean="0"/>
              <a:t>compared to 0.6)  </a:t>
            </a:r>
            <a:endParaRPr lang="en-US" dirty="0"/>
          </a:p>
          <a:p>
            <a:r>
              <a:rPr lang="en-US" dirty="0" smtClean="0"/>
              <a:t> </a:t>
            </a:r>
          </a:p>
          <a:p>
            <a:endParaRPr lang="en-US" dirty="0"/>
          </a:p>
          <a:p>
            <a:endParaRPr lang="en-US" dirty="0" smtClean="0"/>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22503199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The problem when using max of entailment probabilities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20</a:t>
            </a:fld>
            <a:endParaRPr lang="ja" altLang="en-US"/>
          </a:p>
        </p:txBody>
      </p:sp>
      <p:sp>
        <p:nvSpPr>
          <p:cNvPr id="6" name="TextBox 5"/>
          <p:cNvSpPr txBox="1"/>
          <p:nvPr/>
        </p:nvSpPr>
        <p:spPr>
          <a:xfrm>
            <a:off x="311700" y="758283"/>
            <a:ext cx="8750524" cy="3970318"/>
          </a:xfrm>
          <a:prstGeom prst="rect">
            <a:avLst/>
          </a:prstGeom>
          <a:noFill/>
        </p:spPr>
        <p:txBody>
          <a:bodyPr wrap="square" rtlCol="0">
            <a:spAutoFit/>
          </a:bodyPr>
          <a:lstStyle/>
          <a:p>
            <a:r>
              <a:rPr lang="en-US" dirty="0" smtClean="0"/>
              <a:t>For Tec dataset, When using </a:t>
            </a:r>
            <a:r>
              <a:rPr lang="en-US" dirty="0" err="1" smtClean="0"/>
              <a:t>emo_s</a:t>
            </a:r>
            <a:r>
              <a:rPr lang="en-US" dirty="0" smtClean="0"/>
              <a:t> prompt:  The synonyms of the emotions that lead to more wrong predictions than true predictions.</a:t>
            </a:r>
          </a:p>
          <a:p>
            <a:endParaRPr lang="en-US" dirty="0"/>
          </a:p>
          <a:p>
            <a:r>
              <a:rPr lang="en-US" dirty="0" smtClean="0"/>
              <a:t>Sadness: grief, loneliness, depression</a:t>
            </a:r>
          </a:p>
          <a:p>
            <a:endParaRPr lang="en-US" dirty="0"/>
          </a:p>
          <a:p>
            <a:r>
              <a:rPr lang="en-US" dirty="0" smtClean="0"/>
              <a:t>anger: </a:t>
            </a:r>
            <a:r>
              <a:rPr lang="en-US" dirty="0"/>
              <a:t>'annoyance', 'rage', 'outrage', 'fury', 'irritation'</a:t>
            </a:r>
          </a:p>
          <a:p>
            <a:endParaRPr lang="en-US" dirty="0" smtClean="0"/>
          </a:p>
          <a:p>
            <a:r>
              <a:rPr lang="en-US" dirty="0" smtClean="0"/>
              <a:t>Disgust: </a:t>
            </a:r>
            <a:r>
              <a:rPr lang="en-US" dirty="0"/>
              <a:t>'loathing', 'bitterness', 'ugliness', 'repugnance', 'revulsion'</a:t>
            </a:r>
          </a:p>
          <a:p>
            <a:endParaRPr lang="en-US" dirty="0" smtClean="0"/>
          </a:p>
          <a:p>
            <a:r>
              <a:rPr lang="en-US" dirty="0"/>
              <a:t>f</a:t>
            </a:r>
            <a:r>
              <a:rPr lang="en-US" dirty="0" smtClean="0"/>
              <a:t>ear: </a:t>
            </a:r>
            <a:r>
              <a:rPr lang="en-US" dirty="0"/>
              <a:t>horror, anxiety, terror, scare</a:t>
            </a:r>
          </a:p>
          <a:p>
            <a:endParaRPr lang="en-US" dirty="0" smtClean="0"/>
          </a:p>
          <a:p>
            <a:r>
              <a:rPr lang="en-US" dirty="0" smtClean="0"/>
              <a:t>Surprise: </a:t>
            </a:r>
            <a:r>
              <a:rPr lang="en-US" dirty="0"/>
              <a:t>astonishment, amazement, perplexity, </a:t>
            </a:r>
            <a:r>
              <a:rPr lang="en-US" dirty="0" smtClean="0"/>
              <a:t>shock</a:t>
            </a:r>
          </a:p>
          <a:p>
            <a:endParaRPr lang="en-US" dirty="0"/>
          </a:p>
          <a:p>
            <a:endParaRPr lang="en-US" dirty="0" smtClean="0"/>
          </a:p>
          <a:p>
            <a:r>
              <a:rPr lang="en-US" dirty="0" smtClean="0"/>
              <a:t>Removing these synonyms couldn’t lead to improvements. (Macro average F1: 0.36)</a:t>
            </a:r>
          </a:p>
          <a:p>
            <a:endParaRPr lang="en-US" dirty="0"/>
          </a:p>
          <a:p>
            <a:endParaRPr lang="en-US" dirty="0" smtClean="0"/>
          </a:p>
          <a:p>
            <a:endParaRPr lang="en-US" dirty="0"/>
          </a:p>
        </p:txBody>
      </p:sp>
    </p:spTree>
    <p:extLst>
      <p:ext uri="{BB962C8B-B14F-4D97-AF65-F5344CB8AC3E}">
        <p14:creationId xmlns:p14="http://schemas.microsoft.com/office/powerpoint/2010/main" val="530520863"/>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95528</TotalTime>
  <Words>1875</Words>
  <Application>Microsoft Office PowerPoint</Application>
  <PresentationFormat>On-screen Show (16:9)</PresentationFormat>
  <Paragraphs>522</Paragraphs>
  <Slides>20</Slides>
  <Notes>5</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20</vt:i4>
      </vt:variant>
    </vt:vector>
  </HeadingPairs>
  <TitlesOfParts>
    <vt:vector size="23" baseType="lpstr">
      <vt:lpstr>Arial</vt:lpstr>
      <vt:lpstr>Simple Light</vt:lpstr>
      <vt:lpstr>Simple Light</vt:lpstr>
      <vt:lpstr>Zero shot emotion classification in text (analyzing the results of using synonyms of emotions) </vt:lpstr>
      <vt:lpstr>Using synonyms of emotions (review)</vt:lpstr>
      <vt:lpstr>Using synonyms of emotions (review) </vt:lpstr>
      <vt:lpstr>Prompts of synonyms (review)</vt:lpstr>
      <vt:lpstr>Using synonyms of emotions (Isear dataset) (review)</vt:lpstr>
      <vt:lpstr>PowerPoint Presentation</vt:lpstr>
      <vt:lpstr>Using synonyms of emotions (Tec dataset)(review)</vt:lpstr>
      <vt:lpstr>The results of using synonyms regarding labels (Isear dataset)</vt:lpstr>
      <vt:lpstr>The results of using synonyms regarding labels (Tec dataset)</vt:lpstr>
      <vt:lpstr>Average and variance of entailment probabilities (Isear dataset)</vt:lpstr>
      <vt:lpstr>Average and variance of entailment probabilities (Isear dataset)</vt:lpstr>
      <vt:lpstr>Comparing the average and variance for true and wrong predictions</vt:lpstr>
      <vt:lpstr>Average and variance of entailment probabilities (Tec dataset)</vt:lpstr>
      <vt:lpstr>PowerPoint Presentation</vt:lpstr>
      <vt:lpstr>The entailment probability for some sample sentences</vt:lpstr>
      <vt:lpstr>The entailment probability for some sample sentences</vt:lpstr>
      <vt:lpstr>The entailment probability for some sample sentences</vt:lpstr>
      <vt:lpstr>The entailment probability for some sample sentences</vt:lpstr>
      <vt:lpstr>The problem when using max of entailment probabilities</vt:lpstr>
      <vt:lpstr>The problem when using max of entailment probabilities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shot emotion classification in text (using prompt)</dc:title>
  <cp:lastModifiedBy>tabejamaat</cp:lastModifiedBy>
  <cp:revision>1156</cp:revision>
  <dcterms:modified xsi:type="dcterms:W3CDTF">2025-10-01T16:12:59Z</dcterms:modified>
</cp:coreProperties>
</file>